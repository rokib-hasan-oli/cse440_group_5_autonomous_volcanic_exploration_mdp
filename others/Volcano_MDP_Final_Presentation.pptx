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  <p:embeddedFontLst>
    <p:embeddedFont>
      <p:font typeface="Roboto Mono" panose="00000009000000000000" pitchFamily="34" charset="0"/>
      <p:regular r:id="rId20"/>
    </p:embeddedFont>
    <p:embeddedFont>
      <p:font typeface="Roboto Mono" panose="00000009000000000000" pitchFamily="34" charset="-122"/>
      <p:regular r:id="rId21"/>
    </p:embeddedFont>
    <p:embeddedFont>
      <p:font typeface="Roboto Mono" panose="00000009000000000000" pitchFamily="34" charset="-120"/>
      <p:regular r:id="rId22"/>
    </p:embeddedFont>
    <p:embeddedFont>
      <p:font typeface="Space Grotesk" pitchFamily="34" charset="0"/>
      <p:regular r:id="rId23"/>
    </p:embeddedFont>
    <p:embeddedFont>
      <p:font typeface="Space Grotesk" pitchFamily="34" charset="-122"/>
      <p:regular r:id="rId24"/>
    </p:embeddedFont>
    <p:embeddedFont>
      <p:font typeface="Space Grotesk" pitchFamily="34" charset="-120"/>
      <p:regular r:id="rId25"/>
    </p:embeddedFont>
    <p:embeddedFont>
      <p:font typeface="Inter" panose="02000503000000020004" pitchFamily="34" charset="0"/>
      <p:regular r:id="rId26"/>
    </p:embeddedFont>
    <p:embeddedFont>
      <p:font typeface="Inter" panose="02000503000000020004" pitchFamily="34" charset="-122"/>
      <p:regular r:id="rId27"/>
    </p:embeddedFont>
    <p:embeddedFont>
      <p:font typeface="Inter" panose="02000503000000020004" pitchFamily="34" charset="-120"/>
      <p:regular r:id="rId28"/>
    </p:embeddedFont>
    <p:embeddedFont>
      <p:font typeface="Calibri" panose="020F0502020204030204" charset="0"/>
      <p:regular r:id="rId29"/>
      <p:bold r:id="rId30"/>
      <p:italic r:id="rId31"/>
      <p:boldItalic r:id="rId3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font" Target="fonts/font13.fntdata"/><Relationship Id="rId31" Type="http://schemas.openxmlformats.org/officeDocument/2006/relationships/font" Target="fonts/font12.fntdata"/><Relationship Id="rId30" Type="http://schemas.openxmlformats.org/officeDocument/2006/relationships/font" Target="fonts/font11.fntdata"/><Relationship Id="rId3" Type="http://schemas.openxmlformats.org/officeDocument/2006/relationships/slide" Target="slides/slide1.xml"/><Relationship Id="rId29" Type="http://schemas.openxmlformats.org/officeDocument/2006/relationships/font" Target="fonts/font10.fntdata"/><Relationship Id="rId28" Type="http://schemas.openxmlformats.org/officeDocument/2006/relationships/font" Target="fonts/font9.fntdata"/><Relationship Id="rId27" Type="http://schemas.openxmlformats.org/officeDocument/2006/relationships/font" Target="fonts/font8.fntdata"/><Relationship Id="rId26" Type="http://schemas.openxmlformats.org/officeDocument/2006/relationships/font" Target="fonts/font7.fntdata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2" Type="http://schemas.openxmlformats.org/officeDocument/2006/relationships/notesSlide" Target="../notesSlides/notesSlide5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0" Type="http://schemas.openxmlformats.org/officeDocument/2006/relationships/notesSlide" Target="../notesSlides/notesSlide8.xml"/><Relationship Id="rId3" Type="http://schemas.openxmlformats.org/officeDocument/2006/relationships/tags" Target="../tags/tag23.xml"/><Relationship Id="rId29" Type="http://schemas.openxmlformats.org/officeDocument/2006/relationships/slideLayout" Target="../slideLayouts/slideLayout1.xml"/><Relationship Id="rId28" Type="http://schemas.openxmlformats.org/officeDocument/2006/relationships/tags" Target="../tags/tag48.xml"/><Relationship Id="rId27" Type="http://schemas.openxmlformats.org/officeDocument/2006/relationships/tags" Target="../tags/tag47.xml"/><Relationship Id="rId26" Type="http://schemas.openxmlformats.org/officeDocument/2006/relationships/tags" Target="../tags/tag46.xml"/><Relationship Id="rId25" Type="http://schemas.openxmlformats.org/officeDocument/2006/relationships/tags" Target="../tags/tag45.xml"/><Relationship Id="rId24" Type="http://schemas.openxmlformats.org/officeDocument/2006/relationships/tags" Target="../tags/tag44.xml"/><Relationship Id="rId23" Type="http://schemas.openxmlformats.org/officeDocument/2006/relationships/tags" Target="../tags/tag43.xml"/><Relationship Id="rId22" Type="http://schemas.openxmlformats.org/officeDocument/2006/relationships/tags" Target="../tags/tag42.xml"/><Relationship Id="rId21" Type="http://schemas.openxmlformats.org/officeDocument/2006/relationships/tags" Target="../tags/tag41.xml"/><Relationship Id="rId20" Type="http://schemas.openxmlformats.org/officeDocument/2006/relationships/tags" Target="../tags/tag40.xml"/><Relationship Id="rId2" Type="http://schemas.openxmlformats.org/officeDocument/2006/relationships/tags" Target="../tags/tag22.xml"/><Relationship Id="rId19" Type="http://schemas.openxmlformats.org/officeDocument/2006/relationships/tags" Target="../tags/tag39.xml"/><Relationship Id="rId18" Type="http://schemas.openxmlformats.org/officeDocument/2006/relationships/tags" Target="../tags/tag38.xml"/><Relationship Id="rId17" Type="http://schemas.openxmlformats.org/officeDocument/2006/relationships/tags" Target="../tags/tag37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tags" Target="../tags/tag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38250" y="3048000"/>
            <a:ext cx="4286250" cy="4286250"/>
          </a:xfrm>
          <a:prstGeom prst="ellipse">
            <a:avLst/>
          </a:prstGeom>
          <a:solidFill>
            <a:srgbClr val="F97316">
              <a:alpha val="3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5619750" y="2667000"/>
            <a:ext cx="3619500" cy="3619500"/>
          </a:xfrm>
          <a:prstGeom prst="ellipse">
            <a:avLst/>
          </a:prstGeom>
          <a:solidFill>
            <a:srgbClr val="EF4444">
              <a:alpha val="16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571500" y="-1047750"/>
            <a:ext cx="2667000" cy="2667000"/>
          </a:xfrm>
          <a:prstGeom prst="ellipse">
            <a:avLst/>
          </a:prstGeom>
          <a:solidFill>
            <a:srgbClr val="38BDF8">
              <a:alpha val="1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5822950" y="971550"/>
            <a:ext cx="3200400" cy="3200400"/>
          </a:xfrm>
          <a:prstGeom prst="rect">
            <a:avLst/>
          </a:prstGeom>
          <a:noFill/>
        </p:spPr>
      </p:sp>
      <p:sp>
        <p:nvSpPr>
          <p:cNvPr id="6" name="Shape 4"/>
          <p:cNvSpPr/>
          <p:nvPr/>
        </p:nvSpPr>
        <p:spPr>
          <a:xfrm>
            <a:off x="5822950" y="971550"/>
            <a:ext cx="285750" cy="285750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7" name="Shape 5"/>
          <p:cNvSpPr/>
          <p:nvPr/>
        </p:nvSpPr>
        <p:spPr>
          <a:xfrm>
            <a:off x="6146800" y="97155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6470650" y="97155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6794500" y="97155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7118350" y="97155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7442200" y="97155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7766050" y="97155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8089900" y="971550"/>
            <a:ext cx="285750" cy="285750"/>
          </a:xfrm>
          <a:prstGeom prst="roundRect">
            <a:avLst/>
          </a:prstGeom>
          <a:solidFill>
            <a:srgbClr val="EAB308"/>
          </a:solidFill>
        </p:spPr>
      </p:sp>
      <p:sp>
        <p:nvSpPr>
          <p:cNvPr id="14" name="Shape 12"/>
          <p:cNvSpPr/>
          <p:nvPr/>
        </p:nvSpPr>
        <p:spPr>
          <a:xfrm>
            <a:off x="8413750" y="97155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8737600" y="97155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5822950" y="1295400"/>
            <a:ext cx="285750" cy="285750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17" name="Shape 15"/>
          <p:cNvSpPr/>
          <p:nvPr/>
        </p:nvSpPr>
        <p:spPr>
          <a:xfrm>
            <a:off x="6146800" y="129540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6470650" y="129540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6794500" y="129540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7118350" y="1295400"/>
            <a:ext cx="285750" cy="285750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21" name="Shape 19"/>
          <p:cNvSpPr/>
          <p:nvPr/>
        </p:nvSpPr>
        <p:spPr>
          <a:xfrm>
            <a:off x="7442200" y="129540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22" name="Shape 20"/>
          <p:cNvSpPr/>
          <p:nvPr/>
        </p:nvSpPr>
        <p:spPr>
          <a:xfrm>
            <a:off x="7766050" y="129540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8089900" y="129540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8413750" y="1295400"/>
            <a:ext cx="285750" cy="285750"/>
          </a:xfrm>
          <a:prstGeom prst="roundRect">
            <a:avLst/>
          </a:prstGeom>
          <a:solidFill>
            <a:srgbClr val="EF4444"/>
          </a:solidFill>
        </p:spPr>
      </p:sp>
      <p:sp>
        <p:nvSpPr>
          <p:cNvPr id="25" name="Shape 23"/>
          <p:cNvSpPr/>
          <p:nvPr/>
        </p:nvSpPr>
        <p:spPr>
          <a:xfrm>
            <a:off x="8737600" y="129540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5822950" y="1619250"/>
            <a:ext cx="285750" cy="285750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27" name="Shape 25"/>
          <p:cNvSpPr/>
          <p:nvPr/>
        </p:nvSpPr>
        <p:spPr>
          <a:xfrm>
            <a:off x="6146800" y="161925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6470650" y="1619250"/>
            <a:ext cx="285750" cy="285750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29" name="Shape 27"/>
          <p:cNvSpPr/>
          <p:nvPr/>
        </p:nvSpPr>
        <p:spPr>
          <a:xfrm>
            <a:off x="6794500" y="161925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7118350" y="161925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7442200" y="161925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7766050" y="1619250"/>
            <a:ext cx="285750" cy="285750"/>
          </a:xfrm>
          <a:prstGeom prst="roundRect">
            <a:avLst/>
          </a:prstGeom>
          <a:solidFill>
            <a:srgbClr val="EF4444"/>
          </a:solidFill>
        </p:spPr>
      </p:sp>
      <p:sp>
        <p:nvSpPr>
          <p:cNvPr id="33" name="Shape 31"/>
          <p:cNvSpPr/>
          <p:nvPr/>
        </p:nvSpPr>
        <p:spPr>
          <a:xfrm>
            <a:off x="8089900" y="161925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8413750" y="161925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8737600" y="161925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5822950" y="1943100"/>
            <a:ext cx="285750" cy="285750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37" name="Shape 35"/>
          <p:cNvSpPr/>
          <p:nvPr/>
        </p:nvSpPr>
        <p:spPr>
          <a:xfrm>
            <a:off x="6146800" y="194310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6470650" y="194310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6794500" y="194310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40" name="Shape 38"/>
          <p:cNvSpPr/>
          <p:nvPr/>
        </p:nvSpPr>
        <p:spPr>
          <a:xfrm>
            <a:off x="7118350" y="194310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41" name="Shape 39"/>
          <p:cNvSpPr/>
          <p:nvPr/>
        </p:nvSpPr>
        <p:spPr>
          <a:xfrm>
            <a:off x="7442200" y="194310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42" name="Shape 40"/>
          <p:cNvSpPr/>
          <p:nvPr/>
        </p:nvSpPr>
        <p:spPr>
          <a:xfrm>
            <a:off x="7766050" y="194310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8089900" y="1943100"/>
            <a:ext cx="285750" cy="285750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44" name="Shape 42"/>
          <p:cNvSpPr/>
          <p:nvPr/>
        </p:nvSpPr>
        <p:spPr>
          <a:xfrm>
            <a:off x="8413750" y="194310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45" name="Shape 43"/>
          <p:cNvSpPr/>
          <p:nvPr/>
        </p:nvSpPr>
        <p:spPr>
          <a:xfrm>
            <a:off x="8737600" y="194310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46" name="Shape 44"/>
          <p:cNvSpPr/>
          <p:nvPr/>
        </p:nvSpPr>
        <p:spPr>
          <a:xfrm>
            <a:off x="5822950" y="2266950"/>
            <a:ext cx="285750" cy="285750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47" name="Shape 45"/>
          <p:cNvSpPr/>
          <p:nvPr/>
        </p:nvSpPr>
        <p:spPr>
          <a:xfrm>
            <a:off x="6146800" y="2266950"/>
            <a:ext cx="285750" cy="285750"/>
          </a:xfrm>
          <a:prstGeom prst="roundRect">
            <a:avLst/>
          </a:prstGeom>
          <a:solidFill>
            <a:srgbClr val="EF4444"/>
          </a:solidFill>
        </p:spPr>
      </p:sp>
      <p:sp>
        <p:nvSpPr>
          <p:cNvPr id="48" name="Shape 46"/>
          <p:cNvSpPr/>
          <p:nvPr/>
        </p:nvSpPr>
        <p:spPr>
          <a:xfrm>
            <a:off x="6470650" y="226695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49" name="Shape 47"/>
          <p:cNvSpPr/>
          <p:nvPr/>
        </p:nvSpPr>
        <p:spPr>
          <a:xfrm>
            <a:off x="6794500" y="226695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50" name="Shape 48"/>
          <p:cNvSpPr/>
          <p:nvPr/>
        </p:nvSpPr>
        <p:spPr>
          <a:xfrm>
            <a:off x="7118350" y="226695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51" name="Shape 49"/>
          <p:cNvSpPr/>
          <p:nvPr/>
        </p:nvSpPr>
        <p:spPr>
          <a:xfrm>
            <a:off x="7442200" y="226695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52" name="Shape 50"/>
          <p:cNvSpPr/>
          <p:nvPr/>
        </p:nvSpPr>
        <p:spPr>
          <a:xfrm>
            <a:off x="7766050" y="226695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53" name="Shape 51"/>
          <p:cNvSpPr/>
          <p:nvPr/>
        </p:nvSpPr>
        <p:spPr>
          <a:xfrm>
            <a:off x="8089900" y="226695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54" name="Shape 52"/>
          <p:cNvSpPr/>
          <p:nvPr/>
        </p:nvSpPr>
        <p:spPr>
          <a:xfrm>
            <a:off x="8413750" y="226695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55" name="Shape 53"/>
          <p:cNvSpPr/>
          <p:nvPr/>
        </p:nvSpPr>
        <p:spPr>
          <a:xfrm>
            <a:off x="8737600" y="226695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56" name="Shape 54"/>
          <p:cNvSpPr/>
          <p:nvPr/>
        </p:nvSpPr>
        <p:spPr>
          <a:xfrm>
            <a:off x="5822950" y="2590800"/>
            <a:ext cx="285750" cy="285750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57" name="Shape 55"/>
          <p:cNvSpPr/>
          <p:nvPr/>
        </p:nvSpPr>
        <p:spPr>
          <a:xfrm>
            <a:off x="6146800" y="259080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58" name="Shape 56"/>
          <p:cNvSpPr/>
          <p:nvPr/>
        </p:nvSpPr>
        <p:spPr>
          <a:xfrm>
            <a:off x="6470650" y="259080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59" name="Shape 57"/>
          <p:cNvSpPr/>
          <p:nvPr/>
        </p:nvSpPr>
        <p:spPr>
          <a:xfrm>
            <a:off x="6794500" y="2590800"/>
            <a:ext cx="285750" cy="285750"/>
          </a:xfrm>
          <a:prstGeom prst="roundRect">
            <a:avLst/>
          </a:prstGeom>
          <a:solidFill>
            <a:srgbClr val="EF4444"/>
          </a:solidFill>
        </p:spPr>
      </p:sp>
      <p:sp>
        <p:nvSpPr>
          <p:cNvPr id="60" name="Shape 58"/>
          <p:cNvSpPr/>
          <p:nvPr/>
        </p:nvSpPr>
        <p:spPr>
          <a:xfrm>
            <a:off x="7118350" y="259080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61" name="Shape 59"/>
          <p:cNvSpPr/>
          <p:nvPr/>
        </p:nvSpPr>
        <p:spPr>
          <a:xfrm>
            <a:off x="7442200" y="259080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62" name="Shape 60"/>
          <p:cNvSpPr/>
          <p:nvPr/>
        </p:nvSpPr>
        <p:spPr>
          <a:xfrm>
            <a:off x="7766050" y="2590800"/>
            <a:ext cx="285750" cy="285750"/>
          </a:xfrm>
          <a:prstGeom prst="roundRect">
            <a:avLst/>
          </a:prstGeom>
          <a:solidFill>
            <a:srgbClr val="EAB308"/>
          </a:solidFill>
        </p:spPr>
      </p:sp>
      <p:sp>
        <p:nvSpPr>
          <p:cNvPr id="63" name="Shape 61"/>
          <p:cNvSpPr/>
          <p:nvPr/>
        </p:nvSpPr>
        <p:spPr>
          <a:xfrm>
            <a:off x="8089900" y="259080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64" name="Shape 62"/>
          <p:cNvSpPr/>
          <p:nvPr/>
        </p:nvSpPr>
        <p:spPr>
          <a:xfrm>
            <a:off x="8413750" y="259080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65" name="Shape 63"/>
          <p:cNvSpPr/>
          <p:nvPr/>
        </p:nvSpPr>
        <p:spPr>
          <a:xfrm>
            <a:off x="8737600" y="259080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66" name="Shape 64"/>
          <p:cNvSpPr/>
          <p:nvPr/>
        </p:nvSpPr>
        <p:spPr>
          <a:xfrm>
            <a:off x="5822950" y="2914650"/>
            <a:ext cx="285750" cy="285750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67" name="Shape 65"/>
          <p:cNvSpPr/>
          <p:nvPr/>
        </p:nvSpPr>
        <p:spPr>
          <a:xfrm>
            <a:off x="6146800" y="291465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68" name="Shape 66"/>
          <p:cNvSpPr/>
          <p:nvPr/>
        </p:nvSpPr>
        <p:spPr>
          <a:xfrm>
            <a:off x="6470650" y="2914650"/>
            <a:ext cx="285750" cy="285750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69" name="Shape 67"/>
          <p:cNvSpPr/>
          <p:nvPr/>
        </p:nvSpPr>
        <p:spPr>
          <a:xfrm>
            <a:off x="6794500" y="291465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70" name="Shape 68"/>
          <p:cNvSpPr/>
          <p:nvPr/>
        </p:nvSpPr>
        <p:spPr>
          <a:xfrm>
            <a:off x="7118350" y="291465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71" name="Shape 69"/>
          <p:cNvSpPr/>
          <p:nvPr/>
        </p:nvSpPr>
        <p:spPr>
          <a:xfrm>
            <a:off x="7442200" y="291465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72" name="Shape 70"/>
          <p:cNvSpPr/>
          <p:nvPr/>
        </p:nvSpPr>
        <p:spPr>
          <a:xfrm>
            <a:off x="7766050" y="291465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73" name="Shape 71"/>
          <p:cNvSpPr/>
          <p:nvPr/>
        </p:nvSpPr>
        <p:spPr>
          <a:xfrm>
            <a:off x="8089900" y="2914650"/>
            <a:ext cx="285750" cy="285750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74" name="Shape 72"/>
          <p:cNvSpPr/>
          <p:nvPr/>
        </p:nvSpPr>
        <p:spPr>
          <a:xfrm>
            <a:off x="8413750" y="291465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75" name="Shape 73"/>
          <p:cNvSpPr/>
          <p:nvPr/>
        </p:nvSpPr>
        <p:spPr>
          <a:xfrm>
            <a:off x="8737600" y="291465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76" name="Shape 74"/>
          <p:cNvSpPr/>
          <p:nvPr/>
        </p:nvSpPr>
        <p:spPr>
          <a:xfrm>
            <a:off x="5822950" y="3238500"/>
            <a:ext cx="285750" cy="285750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77" name="Shape 75"/>
          <p:cNvSpPr/>
          <p:nvPr/>
        </p:nvSpPr>
        <p:spPr>
          <a:xfrm>
            <a:off x="6146800" y="323850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78" name="Shape 76"/>
          <p:cNvSpPr/>
          <p:nvPr/>
        </p:nvSpPr>
        <p:spPr>
          <a:xfrm>
            <a:off x="6470650" y="323850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79" name="Shape 77"/>
          <p:cNvSpPr/>
          <p:nvPr/>
        </p:nvSpPr>
        <p:spPr>
          <a:xfrm>
            <a:off x="6794500" y="323850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80" name="Shape 78"/>
          <p:cNvSpPr/>
          <p:nvPr/>
        </p:nvSpPr>
        <p:spPr>
          <a:xfrm>
            <a:off x="7118350" y="323850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81" name="Shape 79"/>
          <p:cNvSpPr/>
          <p:nvPr/>
        </p:nvSpPr>
        <p:spPr>
          <a:xfrm>
            <a:off x="7442200" y="323850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82" name="Shape 80"/>
          <p:cNvSpPr/>
          <p:nvPr/>
        </p:nvSpPr>
        <p:spPr>
          <a:xfrm>
            <a:off x="7766050" y="323850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83" name="Shape 81"/>
          <p:cNvSpPr/>
          <p:nvPr/>
        </p:nvSpPr>
        <p:spPr>
          <a:xfrm>
            <a:off x="8089900" y="323850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84" name="Shape 82"/>
          <p:cNvSpPr/>
          <p:nvPr/>
        </p:nvSpPr>
        <p:spPr>
          <a:xfrm>
            <a:off x="8413750" y="3238500"/>
            <a:ext cx="285750" cy="285750"/>
          </a:xfrm>
          <a:prstGeom prst="roundRect">
            <a:avLst/>
          </a:prstGeom>
          <a:solidFill>
            <a:srgbClr val="EF4444"/>
          </a:solidFill>
        </p:spPr>
      </p:sp>
      <p:sp>
        <p:nvSpPr>
          <p:cNvPr id="85" name="Shape 83"/>
          <p:cNvSpPr/>
          <p:nvPr/>
        </p:nvSpPr>
        <p:spPr>
          <a:xfrm>
            <a:off x="8737600" y="323850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86" name="Shape 84"/>
          <p:cNvSpPr/>
          <p:nvPr/>
        </p:nvSpPr>
        <p:spPr>
          <a:xfrm>
            <a:off x="5822950" y="3562350"/>
            <a:ext cx="285750" cy="285750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87" name="Shape 85"/>
          <p:cNvSpPr/>
          <p:nvPr/>
        </p:nvSpPr>
        <p:spPr>
          <a:xfrm>
            <a:off x="6146800" y="356235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88" name="Shape 86"/>
          <p:cNvSpPr/>
          <p:nvPr/>
        </p:nvSpPr>
        <p:spPr>
          <a:xfrm>
            <a:off x="6470650" y="3562350"/>
            <a:ext cx="285750" cy="285750"/>
          </a:xfrm>
          <a:prstGeom prst="roundRect">
            <a:avLst/>
          </a:prstGeom>
          <a:solidFill>
            <a:srgbClr val="EAB308"/>
          </a:solidFill>
        </p:spPr>
      </p:sp>
      <p:sp>
        <p:nvSpPr>
          <p:cNvPr id="89" name="Shape 87"/>
          <p:cNvSpPr/>
          <p:nvPr/>
        </p:nvSpPr>
        <p:spPr>
          <a:xfrm>
            <a:off x="6794500" y="356235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90" name="Shape 88"/>
          <p:cNvSpPr/>
          <p:nvPr/>
        </p:nvSpPr>
        <p:spPr>
          <a:xfrm>
            <a:off x="7118350" y="356235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91" name="Shape 89"/>
          <p:cNvSpPr/>
          <p:nvPr/>
        </p:nvSpPr>
        <p:spPr>
          <a:xfrm>
            <a:off x="7442200" y="3562350"/>
            <a:ext cx="285750" cy="285750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92" name="Shape 90"/>
          <p:cNvSpPr/>
          <p:nvPr/>
        </p:nvSpPr>
        <p:spPr>
          <a:xfrm>
            <a:off x="7766050" y="356235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93" name="Shape 91"/>
          <p:cNvSpPr/>
          <p:nvPr/>
        </p:nvSpPr>
        <p:spPr>
          <a:xfrm>
            <a:off x="8089900" y="356235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94" name="Shape 92"/>
          <p:cNvSpPr/>
          <p:nvPr/>
        </p:nvSpPr>
        <p:spPr>
          <a:xfrm>
            <a:off x="8413750" y="356235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95" name="Shape 93"/>
          <p:cNvSpPr/>
          <p:nvPr/>
        </p:nvSpPr>
        <p:spPr>
          <a:xfrm>
            <a:off x="8737600" y="3562350"/>
            <a:ext cx="285750" cy="28575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96" name="Shape 94"/>
          <p:cNvSpPr/>
          <p:nvPr/>
        </p:nvSpPr>
        <p:spPr>
          <a:xfrm>
            <a:off x="5822950" y="3886200"/>
            <a:ext cx="285750" cy="285750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97" name="Shape 95"/>
          <p:cNvSpPr/>
          <p:nvPr/>
        </p:nvSpPr>
        <p:spPr>
          <a:xfrm>
            <a:off x="6146800" y="3886200"/>
            <a:ext cx="285750" cy="285750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98" name="Shape 96"/>
          <p:cNvSpPr/>
          <p:nvPr/>
        </p:nvSpPr>
        <p:spPr>
          <a:xfrm>
            <a:off x="6470650" y="3886200"/>
            <a:ext cx="285750" cy="285750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99" name="Shape 97"/>
          <p:cNvSpPr/>
          <p:nvPr/>
        </p:nvSpPr>
        <p:spPr>
          <a:xfrm>
            <a:off x="6794500" y="3886200"/>
            <a:ext cx="285750" cy="285750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100" name="Shape 98"/>
          <p:cNvSpPr/>
          <p:nvPr/>
        </p:nvSpPr>
        <p:spPr>
          <a:xfrm>
            <a:off x="7118350" y="3886200"/>
            <a:ext cx="285750" cy="285750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101" name="Shape 99"/>
          <p:cNvSpPr/>
          <p:nvPr/>
        </p:nvSpPr>
        <p:spPr>
          <a:xfrm>
            <a:off x="7442200" y="3886200"/>
            <a:ext cx="285750" cy="285750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102" name="Shape 100"/>
          <p:cNvSpPr/>
          <p:nvPr/>
        </p:nvSpPr>
        <p:spPr>
          <a:xfrm>
            <a:off x="7766050" y="3886200"/>
            <a:ext cx="285750" cy="285750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103" name="Shape 101"/>
          <p:cNvSpPr/>
          <p:nvPr/>
        </p:nvSpPr>
        <p:spPr>
          <a:xfrm>
            <a:off x="8089900" y="3886200"/>
            <a:ext cx="285750" cy="285750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104" name="Shape 102"/>
          <p:cNvSpPr/>
          <p:nvPr/>
        </p:nvSpPr>
        <p:spPr>
          <a:xfrm>
            <a:off x="8413750" y="3886200"/>
            <a:ext cx="285750" cy="285750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105" name="Shape 103"/>
          <p:cNvSpPr/>
          <p:nvPr/>
        </p:nvSpPr>
        <p:spPr>
          <a:xfrm>
            <a:off x="8737600" y="3886200"/>
            <a:ext cx="285750" cy="285750"/>
          </a:xfrm>
          <a:prstGeom prst="roundRect">
            <a:avLst/>
          </a:prstGeom>
          <a:solidFill>
            <a:srgbClr val="22C55E"/>
          </a:solidFill>
        </p:spPr>
      </p:sp>
      <p:sp>
        <p:nvSpPr>
          <p:cNvPr id="106" name="Shape 104"/>
          <p:cNvSpPr/>
          <p:nvPr/>
        </p:nvSpPr>
        <p:spPr>
          <a:xfrm>
            <a:off x="8670925" y="3819525"/>
            <a:ext cx="419100" cy="419100"/>
          </a:xfrm>
          <a:prstGeom prst="ellipse">
            <a:avLst/>
          </a:prstGeom>
          <a:solidFill>
            <a:srgbClr val="22C55E">
              <a:alpha val="50000"/>
            </a:srgbClr>
          </a:solidFill>
        </p:spPr>
      </p:sp>
      <p:sp>
        <p:nvSpPr>
          <p:cNvPr id="107" name="Shape 105"/>
          <p:cNvSpPr/>
          <p:nvPr/>
        </p:nvSpPr>
        <p:spPr>
          <a:xfrm>
            <a:off x="666750" y="933450"/>
            <a:ext cx="257175" cy="38100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108" name="Text 106"/>
          <p:cNvSpPr/>
          <p:nvPr/>
        </p:nvSpPr>
        <p:spPr>
          <a:xfrm>
            <a:off x="666750" y="1066800"/>
            <a:ext cx="377666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5"/>
              </a:lnSpc>
              <a:buNone/>
            </a:pPr>
            <a:r>
              <a:rPr lang="en-US" sz="750" kern="0" spc="30" dirty="0">
                <a:solidFill>
                  <a:srgbClr val="38BDF8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CSE440 · ARTIFICIAL INTELLIGENCE  —  NORTH SOUTH UNIVERSITY</a:t>
            </a:r>
            <a:endParaRPr lang="en-US" sz="750" dirty="0"/>
          </a:p>
        </p:txBody>
      </p:sp>
      <p:sp>
        <p:nvSpPr>
          <p:cNvPr id="109" name="Text 107"/>
          <p:cNvSpPr/>
          <p:nvPr/>
        </p:nvSpPr>
        <p:spPr>
          <a:xfrm>
            <a:off x="647700" y="1295400"/>
            <a:ext cx="4729163" cy="9096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820"/>
              </a:lnSpc>
              <a:buNone/>
            </a:pPr>
            <a:r>
              <a:rPr lang="en-US" sz="5345" b="1" kern="0" spc="-107" dirty="0">
                <a:solidFill>
                  <a:srgbClr val="EEF3FA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VOLCANO </a:t>
            </a:r>
            <a:r>
              <a:rPr lang="en-US" sz="5345" b="1" kern="0" spc="-107" dirty="0">
                <a:solidFill>
                  <a:srgbClr val="F97316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MDP</a:t>
            </a:r>
            <a:endParaRPr lang="en-US" sz="5345" dirty="0"/>
          </a:p>
        </p:txBody>
      </p:sp>
      <p:sp>
        <p:nvSpPr>
          <p:cNvPr id="110" name="Text 108"/>
          <p:cNvSpPr/>
          <p:nvPr/>
        </p:nvSpPr>
        <p:spPr>
          <a:xfrm>
            <a:off x="666750" y="2238375"/>
            <a:ext cx="4095750" cy="657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45"/>
              </a:lnSpc>
              <a:buNone/>
            </a:pPr>
            <a:r>
              <a:rPr lang="en-US" sz="1175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Autonomous exploration of volcanic terrain — an intelligent agent that navigates lava, craters and gas using a Markov Decision Process.</a:t>
            </a:r>
            <a:endParaRPr lang="en-US" sz="1175" dirty="0"/>
          </a:p>
        </p:txBody>
      </p:sp>
      <p:sp>
        <p:nvSpPr>
          <p:cNvPr id="111" name="Shape 109"/>
          <p:cNvSpPr/>
          <p:nvPr/>
        </p:nvSpPr>
        <p:spPr>
          <a:xfrm>
            <a:off x="666750" y="3048000"/>
            <a:ext cx="1047750" cy="252413"/>
          </a:xfrm>
          <a:prstGeom prst="roundRect">
            <a:avLst>
              <a:gd name="adj" fmla="val 3619012"/>
            </a:avLst>
          </a:prstGeom>
          <a:solidFill>
            <a:srgbClr val="16223B"/>
          </a:solidFill>
          <a:ln w="4524">
            <a:solidFill>
              <a:srgbClr val="2A3B5E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62000" y="3145631"/>
            <a:ext cx="57150" cy="57150"/>
          </a:xfrm>
          <a:prstGeom prst="ellipse">
            <a:avLst/>
          </a:prstGeom>
          <a:solidFill>
            <a:srgbClr val="38BDF8"/>
          </a:solidFill>
        </p:spPr>
      </p:sp>
      <p:sp>
        <p:nvSpPr>
          <p:cNvPr id="113" name="Text 111"/>
          <p:cNvSpPr/>
          <p:nvPr/>
        </p:nvSpPr>
        <p:spPr>
          <a:xfrm>
            <a:off x="876300" y="3109913"/>
            <a:ext cx="7239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85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Value Iteration</a:t>
            </a:r>
            <a:endParaRPr lang="en-US" sz="785" dirty="0"/>
          </a:p>
        </p:txBody>
      </p:sp>
      <p:sp>
        <p:nvSpPr>
          <p:cNvPr id="114" name="Shape 112"/>
          <p:cNvSpPr/>
          <p:nvPr/>
        </p:nvSpPr>
        <p:spPr>
          <a:xfrm>
            <a:off x="1790700" y="3048000"/>
            <a:ext cx="1290638" cy="252413"/>
          </a:xfrm>
          <a:prstGeom prst="roundRect">
            <a:avLst>
              <a:gd name="adj" fmla="val 3619012"/>
            </a:avLst>
          </a:prstGeom>
          <a:solidFill>
            <a:srgbClr val="16223B"/>
          </a:solidFill>
          <a:ln w="4524">
            <a:solidFill>
              <a:srgbClr val="2A3B5E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885950" y="3145631"/>
            <a:ext cx="57150" cy="57150"/>
          </a:xfrm>
          <a:prstGeom prst="ellipse">
            <a:avLst/>
          </a:prstGeom>
          <a:solidFill>
            <a:srgbClr val="22C55E"/>
          </a:solidFill>
        </p:spPr>
      </p:sp>
      <p:sp>
        <p:nvSpPr>
          <p:cNvPr id="116" name="Text 114"/>
          <p:cNvSpPr/>
          <p:nvPr/>
        </p:nvSpPr>
        <p:spPr>
          <a:xfrm>
            <a:off x="2000250" y="3109913"/>
            <a:ext cx="966788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85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Autonomous Agent</a:t>
            </a:r>
            <a:endParaRPr lang="en-US" sz="785" dirty="0"/>
          </a:p>
        </p:txBody>
      </p:sp>
      <p:sp>
        <p:nvSpPr>
          <p:cNvPr id="117" name="Shape 115"/>
          <p:cNvSpPr/>
          <p:nvPr/>
        </p:nvSpPr>
        <p:spPr>
          <a:xfrm>
            <a:off x="3157538" y="3048000"/>
            <a:ext cx="1123950" cy="252413"/>
          </a:xfrm>
          <a:prstGeom prst="roundRect">
            <a:avLst>
              <a:gd name="adj" fmla="val 3619012"/>
            </a:avLst>
          </a:prstGeom>
          <a:solidFill>
            <a:srgbClr val="16223B"/>
          </a:solidFill>
          <a:ln w="4524">
            <a:solidFill>
              <a:srgbClr val="2A3B5E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252788" y="3145631"/>
            <a:ext cx="57150" cy="57150"/>
          </a:xfrm>
          <a:prstGeom prst="ellipse">
            <a:avLst/>
          </a:prstGeom>
          <a:solidFill>
            <a:srgbClr val="F97316"/>
          </a:solidFill>
        </p:spPr>
      </p:sp>
      <p:sp>
        <p:nvSpPr>
          <p:cNvPr id="119" name="Text 117"/>
          <p:cNvSpPr/>
          <p:nvPr/>
        </p:nvSpPr>
        <p:spPr>
          <a:xfrm>
            <a:off x="3367088" y="3109913"/>
            <a:ext cx="8001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85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Python · NumPy</a:t>
            </a:r>
            <a:endParaRPr lang="en-US" sz="785" dirty="0"/>
          </a:p>
        </p:txBody>
      </p:sp>
      <p:sp>
        <p:nvSpPr>
          <p:cNvPr id="120" name="Shape 118"/>
          <p:cNvSpPr/>
          <p:nvPr/>
        </p:nvSpPr>
        <p:spPr>
          <a:xfrm>
            <a:off x="666750" y="4152900"/>
            <a:ext cx="4095750" cy="4763"/>
          </a:xfrm>
          <a:prstGeom prst="rect">
            <a:avLst/>
          </a:prstGeom>
          <a:solidFill>
            <a:srgbClr val="2A3B5E"/>
          </a:solidFill>
        </p:spPr>
      </p:sp>
      <p:sp>
        <p:nvSpPr>
          <p:cNvPr id="121" name="Text 119"/>
          <p:cNvSpPr/>
          <p:nvPr/>
        </p:nvSpPr>
        <p:spPr>
          <a:xfrm>
            <a:off x="666750" y="4286250"/>
            <a:ext cx="1714500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0"/>
              </a:lnSpc>
              <a:buNone/>
            </a:pPr>
            <a:r>
              <a:rPr lang="en-US" sz="715" kern="0" spc="14" dirty="0">
                <a:solidFill>
                  <a:srgbClr val="F97316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GROUP · CSE440_PROJECT_GROUP5</a:t>
            </a:r>
            <a:endParaRPr lang="en-US" sz="715" dirty="0"/>
          </a:p>
        </p:txBody>
      </p:sp>
      <p:sp>
        <p:nvSpPr>
          <p:cNvPr id="122" name="Text 120"/>
          <p:cNvSpPr/>
          <p:nvPr/>
        </p:nvSpPr>
        <p:spPr>
          <a:xfrm>
            <a:off x="666750" y="4457700"/>
            <a:ext cx="4286250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5"/>
              </a:lnSpc>
              <a:buNone/>
            </a:pPr>
            <a:r>
              <a:rPr lang="en-US" sz="785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Md. Yousuf   ·   MD. Rokib Hasan Oli   ·   Safayat Ibrahim   ·   Tashfia Adiba Zaman Nizhum</a:t>
            </a:r>
            <a:endParaRPr lang="en-US" sz="78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86500" y="-1333500"/>
            <a:ext cx="3714750" cy="3714750"/>
          </a:xfrm>
          <a:prstGeom prst="ellipse">
            <a:avLst/>
          </a:prstGeom>
          <a:solidFill>
            <a:srgbClr val="EF4444">
              <a:alpha val="1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428750" y="3143250"/>
            <a:ext cx="3429000" cy="3429000"/>
          </a:xfrm>
          <a:prstGeom prst="ellipse">
            <a:avLst/>
          </a:prstGeom>
          <a:solidFill>
            <a:srgbClr val="F97316">
              <a:alpha val="12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666750" y="933450"/>
            <a:ext cx="190500" cy="28575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5" name="Text 3"/>
          <p:cNvSpPr/>
          <p:nvPr/>
        </p:nvSpPr>
        <p:spPr>
          <a:xfrm>
            <a:off x="666750" y="1057275"/>
            <a:ext cx="1219200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0"/>
              </a:lnSpc>
              <a:buNone/>
            </a:pPr>
            <a:r>
              <a:rPr lang="en-US" sz="715" kern="0" spc="28" dirty="0">
                <a:solidFill>
                  <a:srgbClr val="38BDF8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02  ·  THE CHALLENGE</a:t>
            </a:r>
            <a:endParaRPr lang="en-US" sz="715" dirty="0"/>
          </a:p>
        </p:txBody>
      </p:sp>
      <p:sp>
        <p:nvSpPr>
          <p:cNvPr id="6" name="Text 4"/>
          <p:cNvSpPr/>
          <p:nvPr/>
        </p:nvSpPr>
        <p:spPr>
          <a:xfrm>
            <a:off x="628650" y="1190625"/>
            <a:ext cx="1804988" cy="7048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35"/>
              </a:lnSpc>
              <a:buNone/>
            </a:pPr>
            <a:r>
              <a:rPr lang="en-US" sz="2635" b="1" dirty="0">
                <a:solidFill>
                  <a:srgbClr val="EEF3FA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</a:t>
            </a:r>
            <a:endParaRPr lang="en-US" sz="2635" dirty="0"/>
          </a:p>
          <a:p>
            <a:pPr marL="0" indent="0" algn="l">
              <a:lnSpc>
                <a:spcPts val="2635"/>
              </a:lnSpc>
              <a:buNone/>
            </a:pPr>
            <a:r>
              <a:rPr lang="en-US" sz="2635" b="1" dirty="0">
                <a:solidFill>
                  <a:srgbClr val="EEF3FA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Statement</a:t>
            </a:r>
            <a:endParaRPr lang="en-US" sz="2635" dirty="0"/>
          </a:p>
        </p:txBody>
      </p:sp>
      <p:sp>
        <p:nvSpPr>
          <p:cNvPr id="7" name="Text 5"/>
          <p:cNvSpPr/>
          <p:nvPr/>
        </p:nvSpPr>
        <p:spPr>
          <a:xfrm>
            <a:off x="666750" y="2238375"/>
            <a:ext cx="2762250" cy="800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5"/>
              </a:lnSpc>
              <a:buNone/>
            </a:pPr>
            <a:r>
              <a:rPr lang="en-US" sz="1000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 robot is deployed on an active volcano to collect scientific data and reach a goal location — while staying alive in a hostile, unpredictable world.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71900" y="933450"/>
            <a:ext cx="2495550" cy="1457325"/>
          </a:xfrm>
          <a:prstGeom prst="roundRect">
            <a:avLst>
              <a:gd name="adj" fmla="val 12549"/>
            </a:avLst>
          </a:prstGeom>
          <a:solidFill>
            <a:srgbClr val="16223B"/>
          </a:solidFill>
          <a:ln w="4524">
            <a:solidFill>
              <a:srgbClr val="2A3B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24300" y="1095375"/>
            <a:ext cx="285750" cy="285750"/>
          </a:xfrm>
          <a:prstGeom prst="roundRect">
            <a:avLst>
              <a:gd name="adj" fmla="val 51200"/>
            </a:avLst>
          </a:prstGeom>
          <a:solidFill>
            <a:srgbClr val="EF4444">
              <a:alpha val="16000"/>
            </a:srgbClr>
          </a:solidFill>
          <a:ln w="4524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05262" y="1181100"/>
            <a:ext cx="123825" cy="114300"/>
          </a:xfrm>
          <a:prstGeom prst="triangle">
            <a:avLst/>
          </a:prstGeom>
          <a:solidFill>
            <a:srgbClr val="EF4444"/>
          </a:solidFill>
        </p:spPr>
      </p:sp>
      <p:sp>
        <p:nvSpPr>
          <p:cNvPr id="11" name="Text 9"/>
          <p:cNvSpPr/>
          <p:nvPr/>
        </p:nvSpPr>
        <p:spPr>
          <a:xfrm>
            <a:off x="3924300" y="1495425"/>
            <a:ext cx="1166813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1000" dirty="0">
                <a:solidFill>
                  <a:srgbClr val="EEF3FA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Dangerous Terrain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24300" y="1724025"/>
            <a:ext cx="2190750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0"/>
              </a:lnSpc>
              <a:buNone/>
            </a:pPr>
            <a:r>
              <a:rPr lang="en-US" sz="750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Craters, lava zones and toxic gas pockets can destroy the robot in a single wrong move.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400800" y="933450"/>
            <a:ext cx="2495550" cy="1457325"/>
          </a:xfrm>
          <a:prstGeom prst="roundRect">
            <a:avLst>
              <a:gd name="adj" fmla="val 12549"/>
            </a:avLst>
          </a:prstGeom>
          <a:solidFill>
            <a:srgbClr val="16223B"/>
          </a:solidFill>
          <a:ln w="4524">
            <a:solidFill>
              <a:srgbClr val="2A3B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53200" y="1095375"/>
            <a:ext cx="285750" cy="285750"/>
          </a:xfrm>
          <a:prstGeom prst="roundRect">
            <a:avLst>
              <a:gd name="adj" fmla="val 51200"/>
            </a:avLst>
          </a:prstGeom>
          <a:solidFill>
            <a:srgbClr val="38BDF8">
              <a:alpha val="16000"/>
            </a:srgbClr>
          </a:solidFill>
          <a:ln w="4524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1171575"/>
            <a:ext cx="133350" cy="133350"/>
          </a:xfrm>
          <a:prstGeom prst="ellipse">
            <a:avLst/>
          </a:prstGeom>
          <a:noFill/>
          <a:ln w="18097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3200" y="1495425"/>
            <a:ext cx="1157288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1000" dirty="0">
                <a:solidFill>
                  <a:srgbClr val="EEF3FA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Human Control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53200" y="1724025"/>
            <a:ext cx="2190750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0"/>
              </a:lnSpc>
              <a:buNone/>
            </a:pPr>
            <a:r>
              <a:rPr lang="en-US" sz="750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No step-by-step guidance — the agent must discover its own safe route on its own.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771900" y="2514600"/>
            <a:ext cx="2495550" cy="1457325"/>
          </a:xfrm>
          <a:prstGeom prst="roundRect">
            <a:avLst>
              <a:gd name="adj" fmla="val 12549"/>
            </a:avLst>
          </a:prstGeom>
          <a:solidFill>
            <a:srgbClr val="16223B"/>
          </a:solidFill>
          <a:ln w="4524">
            <a:solidFill>
              <a:srgbClr val="2A3B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24300" y="2676525"/>
            <a:ext cx="285750" cy="285750"/>
          </a:xfrm>
          <a:prstGeom prst="roundRect">
            <a:avLst>
              <a:gd name="adj" fmla="val 51200"/>
            </a:avLst>
          </a:prstGeom>
          <a:solidFill>
            <a:srgbClr val="F97316">
              <a:alpha val="16000"/>
            </a:srgbClr>
          </a:solidFill>
          <a:ln w="4524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90975" y="2800350"/>
            <a:ext cx="42863" cy="42863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21" name="Shape 19"/>
          <p:cNvSpPr/>
          <p:nvPr/>
        </p:nvSpPr>
        <p:spPr>
          <a:xfrm>
            <a:off x="4052888" y="2800350"/>
            <a:ext cx="42863" cy="42863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22" name="Shape 20"/>
          <p:cNvSpPr/>
          <p:nvPr/>
        </p:nvSpPr>
        <p:spPr>
          <a:xfrm>
            <a:off x="4114800" y="2800350"/>
            <a:ext cx="42863" cy="42863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23" name="Text 21"/>
          <p:cNvSpPr/>
          <p:nvPr/>
        </p:nvSpPr>
        <p:spPr>
          <a:xfrm>
            <a:off x="3924300" y="3076575"/>
            <a:ext cx="1343025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1000" dirty="0">
                <a:solidFill>
                  <a:srgbClr val="EEF3FA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Sequential Decisions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24300" y="3305175"/>
            <a:ext cx="2190750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0"/>
              </a:lnSpc>
              <a:buNone/>
            </a:pPr>
            <a:r>
              <a:rPr lang="en-US" sz="750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Every move changes what comes next and the reward the robot ends up receiving.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400800" y="2514600"/>
            <a:ext cx="2495550" cy="1457325"/>
          </a:xfrm>
          <a:prstGeom prst="roundRect">
            <a:avLst>
              <a:gd name="adj" fmla="val 12549"/>
            </a:avLst>
          </a:prstGeom>
          <a:solidFill>
            <a:srgbClr val="16223B"/>
          </a:solidFill>
          <a:ln w="4524">
            <a:solidFill>
              <a:srgbClr val="2A3B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53200" y="2676525"/>
            <a:ext cx="285750" cy="285750"/>
          </a:xfrm>
          <a:prstGeom prst="roundRect">
            <a:avLst>
              <a:gd name="adj" fmla="val 51200"/>
            </a:avLst>
          </a:prstGeom>
          <a:solidFill>
            <a:srgbClr val="22C55E">
              <a:alpha val="16000"/>
            </a:srgbClr>
          </a:solidFill>
          <a:ln w="4524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24638" y="2747963"/>
            <a:ext cx="142875" cy="142875"/>
          </a:xfrm>
          <a:prstGeom prst="star5">
            <a:avLst/>
          </a:prstGeom>
          <a:solidFill>
            <a:srgbClr val="22C55E"/>
          </a:solidFill>
        </p:spPr>
      </p:sp>
      <p:sp>
        <p:nvSpPr>
          <p:cNvPr id="28" name="Text 26"/>
          <p:cNvSpPr/>
          <p:nvPr/>
        </p:nvSpPr>
        <p:spPr>
          <a:xfrm>
            <a:off x="6553200" y="3076575"/>
            <a:ext cx="1357313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1000" dirty="0">
                <a:solidFill>
                  <a:srgbClr val="EEF3FA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Needs a Smart Policy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53200" y="3305175"/>
            <a:ext cx="2190750" cy="295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0"/>
              </a:lnSpc>
              <a:buNone/>
            </a:pPr>
            <a:r>
              <a:rPr lang="en-US" sz="750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It must learn the best action at every location to maximise long-term mission success.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38250" y="-1143000"/>
            <a:ext cx="3048000" cy="3048000"/>
          </a:xfrm>
          <a:prstGeom prst="ellipse">
            <a:avLst/>
          </a:prstGeom>
          <a:solidFill>
            <a:srgbClr val="38BDF8">
              <a:alpha val="1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667500" y="2952750"/>
            <a:ext cx="3429000" cy="3429000"/>
          </a:xfrm>
          <a:prstGeom prst="ellipse">
            <a:avLst/>
          </a:prstGeom>
          <a:solidFill>
            <a:srgbClr val="F97316">
              <a:alpha val="12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666750" y="933450"/>
            <a:ext cx="190500" cy="28575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5" name="Text 3"/>
          <p:cNvSpPr/>
          <p:nvPr/>
        </p:nvSpPr>
        <p:spPr>
          <a:xfrm>
            <a:off x="666750" y="1057275"/>
            <a:ext cx="1219200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0"/>
              </a:lnSpc>
              <a:buNone/>
            </a:pPr>
            <a:r>
              <a:rPr lang="en-US" sz="715" kern="0" spc="28" dirty="0">
                <a:solidFill>
                  <a:srgbClr val="38BDF8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03  ·  PROJECT GOALS</a:t>
            </a:r>
            <a:endParaRPr lang="en-US" sz="715" dirty="0"/>
          </a:p>
        </p:txBody>
      </p:sp>
      <p:sp>
        <p:nvSpPr>
          <p:cNvPr id="6" name="Text 4"/>
          <p:cNvSpPr/>
          <p:nvPr/>
        </p:nvSpPr>
        <p:spPr>
          <a:xfrm>
            <a:off x="628650" y="1276350"/>
            <a:ext cx="1795463" cy="4476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5"/>
              </a:lnSpc>
              <a:buNone/>
            </a:pPr>
            <a:r>
              <a:rPr lang="en-US" sz="2635" b="1" dirty="0">
                <a:solidFill>
                  <a:srgbClr val="EEF3FA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Objectives</a:t>
            </a:r>
            <a:endParaRPr lang="en-US" sz="2635" dirty="0"/>
          </a:p>
        </p:txBody>
      </p:sp>
      <p:sp>
        <p:nvSpPr>
          <p:cNvPr id="7" name="Shape 5"/>
          <p:cNvSpPr/>
          <p:nvPr/>
        </p:nvSpPr>
        <p:spPr>
          <a:xfrm>
            <a:off x="628650" y="2047875"/>
            <a:ext cx="219075" cy="28575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8" name="Text 6"/>
          <p:cNvSpPr/>
          <p:nvPr/>
        </p:nvSpPr>
        <p:spPr>
          <a:xfrm>
            <a:off x="628650" y="2152650"/>
            <a:ext cx="285750" cy="3286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5"/>
              </a:lnSpc>
              <a:buNone/>
            </a:pPr>
            <a:r>
              <a:rPr lang="en-US" sz="1925" b="1" dirty="0">
                <a:solidFill>
                  <a:srgbClr val="F97316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925" dirty="0"/>
          </a:p>
        </p:txBody>
      </p:sp>
      <p:sp>
        <p:nvSpPr>
          <p:cNvPr id="9" name="Text 7"/>
          <p:cNvSpPr/>
          <p:nvPr/>
        </p:nvSpPr>
        <p:spPr>
          <a:xfrm>
            <a:off x="628650" y="2505075"/>
            <a:ext cx="2381250" cy="1476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925" b="1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Model the Environment</a:t>
            </a:r>
            <a:endParaRPr lang="en-US" sz="925" dirty="0"/>
          </a:p>
        </p:txBody>
      </p:sp>
      <p:sp>
        <p:nvSpPr>
          <p:cNvPr id="10" name="Text 8"/>
          <p:cNvSpPr/>
          <p:nvPr/>
        </p:nvSpPr>
        <p:spPr>
          <a:xfrm>
            <a:off x="628650" y="2686050"/>
            <a:ext cx="2333625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715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Represent the volcano as a 10×10 grid where every cell carries a reward value.</a:t>
            </a:r>
            <a:endParaRPr lang="en-US" sz="715" dirty="0"/>
          </a:p>
        </p:txBody>
      </p:sp>
      <p:sp>
        <p:nvSpPr>
          <p:cNvPr id="11" name="Shape 9"/>
          <p:cNvSpPr/>
          <p:nvPr/>
        </p:nvSpPr>
        <p:spPr>
          <a:xfrm>
            <a:off x="3462338" y="2047875"/>
            <a:ext cx="219075" cy="28575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12" name="Text 10"/>
          <p:cNvSpPr/>
          <p:nvPr/>
        </p:nvSpPr>
        <p:spPr>
          <a:xfrm>
            <a:off x="3462338" y="2152650"/>
            <a:ext cx="323850" cy="3286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5"/>
              </a:lnSpc>
              <a:buNone/>
            </a:pPr>
            <a:r>
              <a:rPr lang="en-US" sz="1925" b="1" dirty="0">
                <a:solidFill>
                  <a:srgbClr val="38BDF8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925" dirty="0"/>
          </a:p>
        </p:txBody>
      </p:sp>
      <p:sp>
        <p:nvSpPr>
          <p:cNvPr id="13" name="Text 11"/>
          <p:cNvSpPr/>
          <p:nvPr/>
        </p:nvSpPr>
        <p:spPr>
          <a:xfrm>
            <a:off x="3462338" y="2505075"/>
            <a:ext cx="2381250" cy="1476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925" b="1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Build an Autonomous Agent</a:t>
            </a:r>
            <a:endParaRPr lang="en-US" sz="925" dirty="0"/>
          </a:p>
        </p:txBody>
      </p:sp>
      <p:sp>
        <p:nvSpPr>
          <p:cNvPr id="14" name="Text 12"/>
          <p:cNvSpPr/>
          <p:nvPr/>
        </p:nvSpPr>
        <p:spPr>
          <a:xfrm>
            <a:off x="3462338" y="2686050"/>
            <a:ext cx="2333625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715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 robot that senses its state and chooses UP, DOWN, LEFT or RIGHT.</a:t>
            </a:r>
            <a:endParaRPr lang="en-US" sz="715" dirty="0"/>
          </a:p>
        </p:txBody>
      </p:sp>
      <p:sp>
        <p:nvSpPr>
          <p:cNvPr id="15" name="Shape 13"/>
          <p:cNvSpPr/>
          <p:nvPr/>
        </p:nvSpPr>
        <p:spPr>
          <a:xfrm>
            <a:off x="6296025" y="2047875"/>
            <a:ext cx="219075" cy="28575"/>
          </a:xfrm>
          <a:prstGeom prst="roundRect">
            <a:avLst/>
          </a:prstGeom>
          <a:solidFill>
            <a:srgbClr val="22C55E"/>
          </a:solidFill>
        </p:spPr>
      </p:sp>
      <p:sp>
        <p:nvSpPr>
          <p:cNvPr id="16" name="Text 14"/>
          <p:cNvSpPr/>
          <p:nvPr/>
        </p:nvSpPr>
        <p:spPr>
          <a:xfrm>
            <a:off x="6296025" y="2152650"/>
            <a:ext cx="323850" cy="3286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5"/>
              </a:lnSpc>
              <a:buNone/>
            </a:pPr>
            <a:r>
              <a:rPr lang="en-US" sz="1925" b="1" dirty="0">
                <a:solidFill>
                  <a:srgbClr val="22C55E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925" dirty="0"/>
          </a:p>
        </p:txBody>
      </p:sp>
      <p:sp>
        <p:nvSpPr>
          <p:cNvPr id="17" name="Text 15"/>
          <p:cNvSpPr/>
          <p:nvPr/>
        </p:nvSpPr>
        <p:spPr>
          <a:xfrm>
            <a:off x="6296025" y="2505075"/>
            <a:ext cx="2381250" cy="1476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925" b="1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Apply the MDP Framework</a:t>
            </a:r>
            <a:endParaRPr lang="en-US" sz="925" dirty="0"/>
          </a:p>
        </p:txBody>
      </p:sp>
      <p:sp>
        <p:nvSpPr>
          <p:cNvPr id="18" name="Text 16"/>
          <p:cNvSpPr/>
          <p:nvPr/>
        </p:nvSpPr>
        <p:spPr>
          <a:xfrm>
            <a:off x="6296025" y="2686050"/>
            <a:ext cx="2333625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715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Formally define states, actions, transitions and the reward signal.</a:t>
            </a:r>
            <a:endParaRPr lang="en-US" sz="715" dirty="0"/>
          </a:p>
        </p:txBody>
      </p:sp>
      <p:sp>
        <p:nvSpPr>
          <p:cNvPr id="19" name="Shape 17"/>
          <p:cNvSpPr/>
          <p:nvPr/>
        </p:nvSpPr>
        <p:spPr>
          <a:xfrm>
            <a:off x="628650" y="3333750"/>
            <a:ext cx="219075" cy="28575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20" name="Text 18"/>
          <p:cNvSpPr/>
          <p:nvPr/>
        </p:nvSpPr>
        <p:spPr>
          <a:xfrm>
            <a:off x="628650" y="3438525"/>
            <a:ext cx="333375" cy="3286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5"/>
              </a:lnSpc>
              <a:buNone/>
            </a:pPr>
            <a:r>
              <a:rPr lang="en-US" sz="1925" b="1" dirty="0">
                <a:solidFill>
                  <a:srgbClr val="F97316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925" dirty="0"/>
          </a:p>
        </p:txBody>
      </p:sp>
      <p:sp>
        <p:nvSpPr>
          <p:cNvPr id="21" name="Text 19"/>
          <p:cNvSpPr/>
          <p:nvPr/>
        </p:nvSpPr>
        <p:spPr>
          <a:xfrm>
            <a:off x="628650" y="3790950"/>
            <a:ext cx="2381250" cy="1476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925" b="1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Solve with Value Iteration</a:t>
            </a:r>
            <a:endParaRPr lang="en-US" sz="925" dirty="0"/>
          </a:p>
        </p:txBody>
      </p:sp>
      <p:sp>
        <p:nvSpPr>
          <p:cNvPr id="22" name="Text 20"/>
          <p:cNvSpPr/>
          <p:nvPr/>
        </p:nvSpPr>
        <p:spPr>
          <a:xfrm>
            <a:off x="628650" y="3971925"/>
            <a:ext cx="2333625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715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Compute the optimal policy — the best action for every single cell.</a:t>
            </a:r>
            <a:endParaRPr lang="en-US" sz="715" dirty="0"/>
          </a:p>
        </p:txBody>
      </p:sp>
      <p:sp>
        <p:nvSpPr>
          <p:cNvPr id="23" name="Shape 21"/>
          <p:cNvSpPr/>
          <p:nvPr/>
        </p:nvSpPr>
        <p:spPr>
          <a:xfrm>
            <a:off x="3462338" y="3333750"/>
            <a:ext cx="219075" cy="28575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24" name="Text 22"/>
          <p:cNvSpPr/>
          <p:nvPr/>
        </p:nvSpPr>
        <p:spPr>
          <a:xfrm>
            <a:off x="3462338" y="3438525"/>
            <a:ext cx="323850" cy="3286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5"/>
              </a:lnSpc>
              <a:buNone/>
            </a:pPr>
            <a:r>
              <a:rPr lang="en-US" sz="1925" b="1" dirty="0">
                <a:solidFill>
                  <a:srgbClr val="38BDF8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925" dirty="0"/>
          </a:p>
        </p:txBody>
      </p:sp>
      <p:sp>
        <p:nvSpPr>
          <p:cNvPr id="25" name="Text 23"/>
          <p:cNvSpPr/>
          <p:nvPr/>
        </p:nvSpPr>
        <p:spPr>
          <a:xfrm>
            <a:off x="3462338" y="3790950"/>
            <a:ext cx="2381250" cy="1476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925" b="1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Ensure Safety &amp; Efficiency</a:t>
            </a:r>
            <a:endParaRPr lang="en-US" sz="925" dirty="0"/>
          </a:p>
        </p:txBody>
      </p:sp>
      <p:sp>
        <p:nvSpPr>
          <p:cNvPr id="26" name="Text 24"/>
          <p:cNvSpPr/>
          <p:nvPr/>
        </p:nvSpPr>
        <p:spPr>
          <a:xfrm>
            <a:off x="3462338" y="3971925"/>
            <a:ext cx="2333625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715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Avoid hazards, minimise steps and maximise the cumulative reward.</a:t>
            </a:r>
            <a:endParaRPr lang="en-US" sz="715" dirty="0"/>
          </a:p>
        </p:txBody>
      </p:sp>
      <p:sp>
        <p:nvSpPr>
          <p:cNvPr id="27" name="Shape 25"/>
          <p:cNvSpPr/>
          <p:nvPr/>
        </p:nvSpPr>
        <p:spPr>
          <a:xfrm>
            <a:off x="6296025" y="3333750"/>
            <a:ext cx="219075" cy="28575"/>
          </a:xfrm>
          <a:prstGeom prst="roundRect">
            <a:avLst/>
          </a:prstGeom>
          <a:solidFill>
            <a:srgbClr val="22C55E"/>
          </a:solidFill>
        </p:spPr>
      </p:sp>
      <p:sp>
        <p:nvSpPr>
          <p:cNvPr id="28" name="Text 26"/>
          <p:cNvSpPr/>
          <p:nvPr/>
        </p:nvSpPr>
        <p:spPr>
          <a:xfrm>
            <a:off x="6296025" y="3438525"/>
            <a:ext cx="328613" cy="3286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5"/>
              </a:lnSpc>
              <a:buNone/>
            </a:pPr>
            <a:r>
              <a:rPr lang="en-US" sz="1925" b="1" dirty="0">
                <a:solidFill>
                  <a:srgbClr val="22C55E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1925" dirty="0"/>
          </a:p>
        </p:txBody>
      </p:sp>
      <p:sp>
        <p:nvSpPr>
          <p:cNvPr id="29" name="Text 27"/>
          <p:cNvSpPr/>
          <p:nvPr/>
        </p:nvSpPr>
        <p:spPr>
          <a:xfrm>
            <a:off x="6296025" y="3790950"/>
            <a:ext cx="2381250" cy="1476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925" b="1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Visualize the Results</a:t>
            </a:r>
            <a:endParaRPr lang="en-US" sz="925" dirty="0"/>
          </a:p>
        </p:txBody>
      </p:sp>
      <p:sp>
        <p:nvSpPr>
          <p:cNvPr id="30" name="Text 28"/>
          <p:cNvSpPr/>
          <p:nvPr/>
        </p:nvSpPr>
        <p:spPr>
          <a:xfrm>
            <a:off x="6296025" y="3971925"/>
            <a:ext cx="2333625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715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Render the value-function heatmap and policy arrows over the grid.</a:t>
            </a:r>
            <a:endParaRPr lang="en-US" sz="71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38250" y="2952750"/>
            <a:ext cx="3333750" cy="3333750"/>
          </a:xfrm>
          <a:prstGeom prst="ellipse">
            <a:avLst/>
          </a:prstGeom>
          <a:solidFill>
            <a:srgbClr val="F97316">
              <a:alpha val="12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762750" y="-1238250"/>
            <a:ext cx="3238500" cy="3238500"/>
          </a:xfrm>
          <a:prstGeom prst="ellipse">
            <a:avLst/>
          </a:prstGeom>
          <a:solidFill>
            <a:srgbClr val="38BDF8">
              <a:alpha val="9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666750" y="933450"/>
            <a:ext cx="190500" cy="28575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5" name="Text 3"/>
          <p:cNvSpPr/>
          <p:nvPr/>
        </p:nvSpPr>
        <p:spPr>
          <a:xfrm>
            <a:off x="666750" y="1057275"/>
            <a:ext cx="1281113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0"/>
              </a:lnSpc>
              <a:buNone/>
            </a:pPr>
            <a:r>
              <a:rPr lang="en-US" sz="715" kern="0" spc="28" dirty="0">
                <a:solidFill>
                  <a:srgbClr val="38BDF8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04  ·  THE GRID WORLD</a:t>
            </a:r>
            <a:endParaRPr lang="en-US" sz="715" dirty="0"/>
          </a:p>
        </p:txBody>
      </p:sp>
      <p:sp>
        <p:nvSpPr>
          <p:cNvPr id="6" name="Text 4"/>
          <p:cNvSpPr/>
          <p:nvPr/>
        </p:nvSpPr>
        <p:spPr>
          <a:xfrm>
            <a:off x="628650" y="1276350"/>
            <a:ext cx="2819400" cy="438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75"/>
              </a:lnSpc>
              <a:buNone/>
            </a:pPr>
            <a:r>
              <a:rPr lang="en-US" sz="2565" b="1" dirty="0">
                <a:solidFill>
                  <a:srgbClr val="EEF3FA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System Overview</a:t>
            </a:r>
            <a:endParaRPr lang="en-US" sz="2565" dirty="0"/>
          </a:p>
        </p:txBody>
      </p:sp>
      <p:sp>
        <p:nvSpPr>
          <p:cNvPr id="7" name="Shape 5"/>
          <p:cNvSpPr/>
          <p:nvPr/>
        </p:nvSpPr>
        <p:spPr>
          <a:xfrm>
            <a:off x="666750" y="1924050"/>
            <a:ext cx="2924175" cy="2924175"/>
          </a:xfrm>
          <a:prstGeom prst="rect">
            <a:avLst/>
          </a:prstGeom>
          <a:noFill/>
        </p:spPr>
      </p:sp>
      <p:sp>
        <p:nvSpPr>
          <p:cNvPr id="8" name="Shape 6"/>
          <p:cNvSpPr/>
          <p:nvPr/>
        </p:nvSpPr>
        <p:spPr>
          <a:xfrm>
            <a:off x="666750" y="1924050"/>
            <a:ext cx="266700" cy="266700"/>
          </a:xfrm>
          <a:prstGeom prst="roundRect">
            <a:avLst/>
          </a:prstGeom>
          <a:solidFill>
            <a:srgbClr val="38BDF8">
              <a:alpha val="92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666750" y="1995487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0A0F1C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10" name="Shape 8"/>
          <p:cNvSpPr/>
          <p:nvPr/>
        </p:nvSpPr>
        <p:spPr>
          <a:xfrm>
            <a:off x="962025" y="1924050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962025" y="1995487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12" name="Shape 10"/>
          <p:cNvSpPr/>
          <p:nvPr/>
        </p:nvSpPr>
        <p:spPr>
          <a:xfrm>
            <a:off x="1257300" y="1924050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1257300" y="1995487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14" name="Shape 12"/>
          <p:cNvSpPr/>
          <p:nvPr/>
        </p:nvSpPr>
        <p:spPr>
          <a:xfrm>
            <a:off x="1552575" y="1924050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1552575" y="1995487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16" name="Shape 14"/>
          <p:cNvSpPr/>
          <p:nvPr/>
        </p:nvSpPr>
        <p:spPr>
          <a:xfrm>
            <a:off x="1847850" y="1924050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1847850" y="1995487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18" name="Shape 16"/>
          <p:cNvSpPr/>
          <p:nvPr/>
        </p:nvSpPr>
        <p:spPr>
          <a:xfrm>
            <a:off x="2143125" y="1924050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9" name="Text 17"/>
          <p:cNvSpPr/>
          <p:nvPr/>
        </p:nvSpPr>
        <p:spPr>
          <a:xfrm>
            <a:off x="2143125" y="1995487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20" name="Shape 18"/>
          <p:cNvSpPr/>
          <p:nvPr/>
        </p:nvSpPr>
        <p:spPr>
          <a:xfrm>
            <a:off x="2438400" y="1924050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2438400" y="1995487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22" name="Shape 20"/>
          <p:cNvSpPr/>
          <p:nvPr/>
        </p:nvSpPr>
        <p:spPr>
          <a:xfrm>
            <a:off x="2733675" y="1924050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2733675" y="1995487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24" name="Shape 22"/>
          <p:cNvSpPr/>
          <p:nvPr/>
        </p:nvSpPr>
        <p:spPr>
          <a:xfrm>
            <a:off x="3028950" y="1924050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3028950" y="1995487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26" name="Shape 24"/>
          <p:cNvSpPr/>
          <p:nvPr/>
        </p:nvSpPr>
        <p:spPr>
          <a:xfrm>
            <a:off x="3324225" y="1924050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3324225" y="1995487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28" name="Shape 26"/>
          <p:cNvSpPr/>
          <p:nvPr/>
        </p:nvSpPr>
        <p:spPr>
          <a:xfrm>
            <a:off x="666750" y="2219325"/>
            <a:ext cx="266700" cy="266700"/>
          </a:xfrm>
          <a:prstGeom prst="roundRect">
            <a:avLst/>
          </a:prstGeom>
          <a:solidFill>
            <a:srgbClr val="38BDF8">
              <a:alpha val="92000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666750" y="2290763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0A0F1C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785" dirty="0"/>
          </a:p>
        </p:txBody>
      </p:sp>
      <p:sp>
        <p:nvSpPr>
          <p:cNvPr id="30" name="Shape 28"/>
          <p:cNvSpPr/>
          <p:nvPr/>
        </p:nvSpPr>
        <p:spPr>
          <a:xfrm>
            <a:off x="962025" y="2219325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962025" y="2290763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32" name="Shape 30"/>
          <p:cNvSpPr/>
          <p:nvPr/>
        </p:nvSpPr>
        <p:spPr>
          <a:xfrm>
            <a:off x="1257300" y="2219325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1257300" y="2290763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34" name="Shape 32"/>
          <p:cNvSpPr/>
          <p:nvPr/>
        </p:nvSpPr>
        <p:spPr>
          <a:xfrm>
            <a:off x="1552575" y="2219325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1552575" y="2290763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36" name="Shape 34"/>
          <p:cNvSpPr/>
          <p:nvPr/>
        </p:nvSpPr>
        <p:spPr>
          <a:xfrm>
            <a:off x="1847850" y="2219325"/>
            <a:ext cx="266700" cy="266700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37" name="Shape 35"/>
          <p:cNvSpPr/>
          <p:nvPr/>
        </p:nvSpPr>
        <p:spPr>
          <a:xfrm>
            <a:off x="2143125" y="2219325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38" name="Text 36"/>
          <p:cNvSpPr/>
          <p:nvPr/>
        </p:nvSpPr>
        <p:spPr>
          <a:xfrm>
            <a:off x="2143125" y="2290763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39" name="Shape 37"/>
          <p:cNvSpPr/>
          <p:nvPr/>
        </p:nvSpPr>
        <p:spPr>
          <a:xfrm>
            <a:off x="2438400" y="2219325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40" name="Text 38"/>
          <p:cNvSpPr/>
          <p:nvPr/>
        </p:nvSpPr>
        <p:spPr>
          <a:xfrm>
            <a:off x="2438400" y="2290763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41" name="Shape 39"/>
          <p:cNvSpPr/>
          <p:nvPr/>
        </p:nvSpPr>
        <p:spPr>
          <a:xfrm>
            <a:off x="2733675" y="2219325"/>
            <a:ext cx="266700" cy="266700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42" name="Shape 40"/>
          <p:cNvSpPr/>
          <p:nvPr/>
        </p:nvSpPr>
        <p:spPr>
          <a:xfrm>
            <a:off x="3028950" y="2219325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43" name="Text 41"/>
          <p:cNvSpPr/>
          <p:nvPr/>
        </p:nvSpPr>
        <p:spPr>
          <a:xfrm>
            <a:off x="3028950" y="2290763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44" name="Shape 42"/>
          <p:cNvSpPr/>
          <p:nvPr/>
        </p:nvSpPr>
        <p:spPr>
          <a:xfrm>
            <a:off x="3324225" y="2219325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45" name="Text 43"/>
          <p:cNvSpPr/>
          <p:nvPr/>
        </p:nvSpPr>
        <p:spPr>
          <a:xfrm>
            <a:off x="3324225" y="2290763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46" name="Shape 44"/>
          <p:cNvSpPr/>
          <p:nvPr/>
        </p:nvSpPr>
        <p:spPr>
          <a:xfrm>
            <a:off x="666750" y="2514600"/>
            <a:ext cx="266700" cy="266700"/>
          </a:xfrm>
          <a:prstGeom prst="roundRect">
            <a:avLst/>
          </a:prstGeom>
          <a:solidFill>
            <a:srgbClr val="38BDF8">
              <a:alpha val="92000"/>
            </a:srgbClr>
          </a:solidFill>
        </p:spPr>
      </p:sp>
      <p:sp>
        <p:nvSpPr>
          <p:cNvPr id="47" name="Text 45"/>
          <p:cNvSpPr/>
          <p:nvPr/>
        </p:nvSpPr>
        <p:spPr>
          <a:xfrm>
            <a:off x="666750" y="2586038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0A0F1C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785" dirty="0"/>
          </a:p>
        </p:txBody>
      </p:sp>
      <p:sp>
        <p:nvSpPr>
          <p:cNvPr id="48" name="Shape 46"/>
          <p:cNvSpPr/>
          <p:nvPr/>
        </p:nvSpPr>
        <p:spPr>
          <a:xfrm>
            <a:off x="962025" y="2514600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49" name="Text 47"/>
          <p:cNvSpPr/>
          <p:nvPr/>
        </p:nvSpPr>
        <p:spPr>
          <a:xfrm>
            <a:off x="962025" y="2586038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785" dirty="0"/>
          </a:p>
        </p:txBody>
      </p:sp>
      <p:sp>
        <p:nvSpPr>
          <p:cNvPr id="50" name="Shape 48"/>
          <p:cNvSpPr/>
          <p:nvPr/>
        </p:nvSpPr>
        <p:spPr>
          <a:xfrm>
            <a:off x="1257300" y="2514600"/>
            <a:ext cx="266700" cy="266700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51" name="Shape 49"/>
          <p:cNvSpPr/>
          <p:nvPr/>
        </p:nvSpPr>
        <p:spPr>
          <a:xfrm>
            <a:off x="1552575" y="2514600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52" name="Text 50"/>
          <p:cNvSpPr/>
          <p:nvPr/>
        </p:nvSpPr>
        <p:spPr>
          <a:xfrm>
            <a:off x="1552575" y="2586038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53" name="Shape 51"/>
          <p:cNvSpPr/>
          <p:nvPr/>
        </p:nvSpPr>
        <p:spPr>
          <a:xfrm>
            <a:off x="1847850" y="2514600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54" name="Text 52"/>
          <p:cNvSpPr/>
          <p:nvPr/>
        </p:nvSpPr>
        <p:spPr>
          <a:xfrm>
            <a:off x="1847850" y="2586038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55" name="Shape 53"/>
          <p:cNvSpPr/>
          <p:nvPr/>
        </p:nvSpPr>
        <p:spPr>
          <a:xfrm>
            <a:off x="2143125" y="2514600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56" name="Text 54"/>
          <p:cNvSpPr/>
          <p:nvPr/>
        </p:nvSpPr>
        <p:spPr>
          <a:xfrm>
            <a:off x="2143125" y="2586038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57" name="Shape 55"/>
          <p:cNvSpPr/>
          <p:nvPr/>
        </p:nvSpPr>
        <p:spPr>
          <a:xfrm>
            <a:off x="2438400" y="2514600"/>
            <a:ext cx="266700" cy="266700"/>
          </a:xfrm>
          <a:prstGeom prst="roundRect">
            <a:avLst/>
          </a:prstGeom>
          <a:solidFill>
            <a:srgbClr val="EF4444"/>
          </a:solidFill>
        </p:spPr>
      </p:sp>
      <p:sp>
        <p:nvSpPr>
          <p:cNvPr id="58" name="Shape 56"/>
          <p:cNvSpPr/>
          <p:nvPr/>
        </p:nvSpPr>
        <p:spPr>
          <a:xfrm>
            <a:off x="2733675" y="2514600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59" name="Text 57"/>
          <p:cNvSpPr/>
          <p:nvPr/>
        </p:nvSpPr>
        <p:spPr>
          <a:xfrm>
            <a:off x="2733675" y="2586038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60" name="Shape 58"/>
          <p:cNvSpPr/>
          <p:nvPr/>
        </p:nvSpPr>
        <p:spPr>
          <a:xfrm>
            <a:off x="3028950" y="2514600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61" name="Text 59"/>
          <p:cNvSpPr/>
          <p:nvPr/>
        </p:nvSpPr>
        <p:spPr>
          <a:xfrm>
            <a:off x="3028950" y="2586038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62" name="Shape 60"/>
          <p:cNvSpPr/>
          <p:nvPr/>
        </p:nvSpPr>
        <p:spPr>
          <a:xfrm>
            <a:off x="3324225" y="2514600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63" name="Text 61"/>
          <p:cNvSpPr/>
          <p:nvPr/>
        </p:nvSpPr>
        <p:spPr>
          <a:xfrm>
            <a:off x="3324225" y="2586038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64" name="Shape 62"/>
          <p:cNvSpPr/>
          <p:nvPr/>
        </p:nvSpPr>
        <p:spPr>
          <a:xfrm>
            <a:off x="666750" y="2809875"/>
            <a:ext cx="266700" cy="266700"/>
          </a:xfrm>
          <a:prstGeom prst="roundRect">
            <a:avLst/>
          </a:prstGeom>
          <a:solidFill>
            <a:srgbClr val="38BDF8">
              <a:alpha val="92000"/>
            </a:srgbClr>
          </a:solidFill>
        </p:spPr>
      </p:sp>
      <p:sp>
        <p:nvSpPr>
          <p:cNvPr id="65" name="Text 63"/>
          <p:cNvSpPr/>
          <p:nvPr/>
        </p:nvSpPr>
        <p:spPr>
          <a:xfrm>
            <a:off x="666750" y="2881313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0A0F1C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785" dirty="0"/>
          </a:p>
        </p:txBody>
      </p:sp>
      <p:sp>
        <p:nvSpPr>
          <p:cNvPr id="66" name="Shape 64"/>
          <p:cNvSpPr/>
          <p:nvPr/>
        </p:nvSpPr>
        <p:spPr>
          <a:xfrm>
            <a:off x="962025" y="2809875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67" name="Text 65"/>
          <p:cNvSpPr/>
          <p:nvPr/>
        </p:nvSpPr>
        <p:spPr>
          <a:xfrm>
            <a:off x="962025" y="2881313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785" dirty="0"/>
          </a:p>
        </p:txBody>
      </p:sp>
      <p:sp>
        <p:nvSpPr>
          <p:cNvPr id="68" name="Shape 66"/>
          <p:cNvSpPr/>
          <p:nvPr/>
        </p:nvSpPr>
        <p:spPr>
          <a:xfrm>
            <a:off x="1257300" y="2809875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69" name="Text 67"/>
          <p:cNvSpPr/>
          <p:nvPr/>
        </p:nvSpPr>
        <p:spPr>
          <a:xfrm>
            <a:off x="1257300" y="2881313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785" dirty="0"/>
          </a:p>
        </p:txBody>
      </p:sp>
      <p:sp>
        <p:nvSpPr>
          <p:cNvPr id="70" name="Shape 68"/>
          <p:cNvSpPr/>
          <p:nvPr/>
        </p:nvSpPr>
        <p:spPr>
          <a:xfrm>
            <a:off x="1552575" y="2809875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71" name="Text 69"/>
          <p:cNvSpPr/>
          <p:nvPr/>
        </p:nvSpPr>
        <p:spPr>
          <a:xfrm>
            <a:off x="1552575" y="2881313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72" name="Shape 70"/>
          <p:cNvSpPr/>
          <p:nvPr/>
        </p:nvSpPr>
        <p:spPr>
          <a:xfrm>
            <a:off x="1847850" y="2809875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73" name="Text 71"/>
          <p:cNvSpPr/>
          <p:nvPr/>
        </p:nvSpPr>
        <p:spPr>
          <a:xfrm>
            <a:off x="1847850" y="2881313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74" name="Shape 72"/>
          <p:cNvSpPr/>
          <p:nvPr/>
        </p:nvSpPr>
        <p:spPr>
          <a:xfrm>
            <a:off x="2143125" y="2809875"/>
            <a:ext cx="266700" cy="266700"/>
          </a:xfrm>
          <a:prstGeom prst="roundRect">
            <a:avLst/>
          </a:prstGeom>
          <a:solidFill>
            <a:srgbClr val="EAB308"/>
          </a:solidFill>
        </p:spPr>
      </p:sp>
      <p:sp>
        <p:nvSpPr>
          <p:cNvPr id="75" name="Shape 73"/>
          <p:cNvSpPr/>
          <p:nvPr/>
        </p:nvSpPr>
        <p:spPr>
          <a:xfrm>
            <a:off x="2438400" y="2809875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76" name="Text 74"/>
          <p:cNvSpPr/>
          <p:nvPr/>
        </p:nvSpPr>
        <p:spPr>
          <a:xfrm>
            <a:off x="2438400" y="2881313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77" name="Shape 75"/>
          <p:cNvSpPr/>
          <p:nvPr/>
        </p:nvSpPr>
        <p:spPr>
          <a:xfrm>
            <a:off x="2733675" y="2809875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78" name="Text 76"/>
          <p:cNvSpPr/>
          <p:nvPr/>
        </p:nvSpPr>
        <p:spPr>
          <a:xfrm>
            <a:off x="2733675" y="2881313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79" name="Shape 77"/>
          <p:cNvSpPr/>
          <p:nvPr/>
        </p:nvSpPr>
        <p:spPr>
          <a:xfrm>
            <a:off x="3028950" y="2809875"/>
            <a:ext cx="266700" cy="266700"/>
          </a:xfrm>
          <a:prstGeom prst="roundRect">
            <a:avLst/>
          </a:prstGeom>
          <a:solidFill>
            <a:srgbClr val="EF4444"/>
          </a:solidFill>
        </p:spPr>
      </p:sp>
      <p:sp>
        <p:nvSpPr>
          <p:cNvPr id="80" name="Shape 78"/>
          <p:cNvSpPr/>
          <p:nvPr/>
        </p:nvSpPr>
        <p:spPr>
          <a:xfrm>
            <a:off x="3324225" y="2809875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81" name="Text 79"/>
          <p:cNvSpPr/>
          <p:nvPr/>
        </p:nvSpPr>
        <p:spPr>
          <a:xfrm>
            <a:off x="3324225" y="2881313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82" name="Shape 80"/>
          <p:cNvSpPr/>
          <p:nvPr/>
        </p:nvSpPr>
        <p:spPr>
          <a:xfrm>
            <a:off x="666750" y="3105150"/>
            <a:ext cx="266700" cy="266700"/>
          </a:xfrm>
          <a:prstGeom prst="roundRect">
            <a:avLst/>
          </a:prstGeom>
          <a:solidFill>
            <a:srgbClr val="38BDF8">
              <a:alpha val="92000"/>
            </a:srgbClr>
          </a:solidFill>
        </p:spPr>
      </p:sp>
      <p:sp>
        <p:nvSpPr>
          <p:cNvPr id="83" name="Text 81"/>
          <p:cNvSpPr/>
          <p:nvPr/>
        </p:nvSpPr>
        <p:spPr>
          <a:xfrm>
            <a:off x="666750" y="3176588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0A0F1C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785" dirty="0"/>
          </a:p>
        </p:txBody>
      </p:sp>
      <p:sp>
        <p:nvSpPr>
          <p:cNvPr id="84" name="Shape 82"/>
          <p:cNvSpPr/>
          <p:nvPr/>
        </p:nvSpPr>
        <p:spPr>
          <a:xfrm>
            <a:off x="962025" y="3105150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85" name="Text 83"/>
          <p:cNvSpPr/>
          <p:nvPr/>
        </p:nvSpPr>
        <p:spPr>
          <a:xfrm>
            <a:off x="962025" y="3176588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785" dirty="0"/>
          </a:p>
        </p:txBody>
      </p:sp>
      <p:sp>
        <p:nvSpPr>
          <p:cNvPr id="86" name="Shape 84"/>
          <p:cNvSpPr/>
          <p:nvPr/>
        </p:nvSpPr>
        <p:spPr>
          <a:xfrm>
            <a:off x="1257300" y="3105150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87" name="Text 85"/>
          <p:cNvSpPr/>
          <p:nvPr/>
        </p:nvSpPr>
        <p:spPr>
          <a:xfrm>
            <a:off x="1257300" y="3176588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785" dirty="0"/>
          </a:p>
        </p:txBody>
      </p:sp>
      <p:sp>
        <p:nvSpPr>
          <p:cNvPr id="88" name="Shape 86"/>
          <p:cNvSpPr/>
          <p:nvPr/>
        </p:nvSpPr>
        <p:spPr>
          <a:xfrm>
            <a:off x="1552575" y="3105150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89" name="Text 87"/>
          <p:cNvSpPr/>
          <p:nvPr/>
        </p:nvSpPr>
        <p:spPr>
          <a:xfrm>
            <a:off x="1552575" y="3176588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785" dirty="0"/>
          </a:p>
        </p:txBody>
      </p:sp>
      <p:sp>
        <p:nvSpPr>
          <p:cNvPr id="90" name="Shape 88"/>
          <p:cNvSpPr/>
          <p:nvPr/>
        </p:nvSpPr>
        <p:spPr>
          <a:xfrm>
            <a:off x="1847850" y="3105150"/>
            <a:ext cx="266700" cy="266700"/>
          </a:xfrm>
          <a:prstGeom prst="roundRect">
            <a:avLst/>
          </a:prstGeom>
          <a:solidFill>
            <a:srgbClr val="EAB308"/>
          </a:solidFill>
        </p:spPr>
      </p:sp>
      <p:sp>
        <p:nvSpPr>
          <p:cNvPr id="91" name="Shape 89"/>
          <p:cNvSpPr/>
          <p:nvPr/>
        </p:nvSpPr>
        <p:spPr>
          <a:xfrm>
            <a:off x="2143125" y="3105150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92" name="Text 90"/>
          <p:cNvSpPr/>
          <p:nvPr/>
        </p:nvSpPr>
        <p:spPr>
          <a:xfrm>
            <a:off x="2143125" y="3176588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93" name="Shape 91"/>
          <p:cNvSpPr/>
          <p:nvPr/>
        </p:nvSpPr>
        <p:spPr>
          <a:xfrm>
            <a:off x="2438400" y="3105150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94" name="Text 92"/>
          <p:cNvSpPr/>
          <p:nvPr/>
        </p:nvSpPr>
        <p:spPr>
          <a:xfrm>
            <a:off x="2438400" y="3176588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95" name="Shape 93"/>
          <p:cNvSpPr/>
          <p:nvPr/>
        </p:nvSpPr>
        <p:spPr>
          <a:xfrm>
            <a:off x="2733675" y="3105150"/>
            <a:ext cx="266700" cy="266700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96" name="Shape 94"/>
          <p:cNvSpPr/>
          <p:nvPr/>
        </p:nvSpPr>
        <p:spPr>
          <a:xfrm>
            <a:off x="3028950" y="3105150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97" name="Text 95"/>
          <p:cNvSpPr/>
          <p:nvPr/>
        </p:nvSpPr>
        <p:spPr>
          <a:xfrm>
            <a:off x="3028950" y="3176588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98" name="Shape 96"/>
          <p:cNvSpPr/>
          <p:nvPr/>
        </p:nvSpPr>
        <p:spPr>
          <a:xfrm>
            <a:off x="3324225" y="3105150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99" name="Text 97"/>
          <p:cNvSpPr/>
          <p:nvPr/>
        </p:nvSpPr>
        <p:spPr>
          <a:xfrm>
            <a:off x="3324225" y="3176588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100" name="Shape 98"/>
          <p:cNvSpPr/>
          <p:nvPr/>
        </p:nvSpPr>
        <p:spPr>
          <a:xfrm>
            <a:off x="666750" y="3400425"/>
            <a:ext cx="266700" cy="266700"/>
          </a:xfrm>
          <a:prstGeom prst="roundRect">
            <a:avLst/>
          </a:prstGeom>
          <a:solidFill>
            <a:srgbClr val="38BDF8">
              <a:alpha val="92000"/>
            </a:srgbClr>
          </a:solidFill>
        </p:spPr>
      </p:sp>
      <p:sp>
        <p:nvSpPr>
          <p:cNvPr id="101" name="Text 99"/>
          <p:cNvSpPr/>
          <p:nvPr/>
        </p:nvSpPr>
        <p:spPr>
          <a:xfrm>
            <a:off x="666750" y="3471863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0A0F1C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785" dirty="0"/>
          </a:p>
        </p:txBody>
      </p:sp>
      <p:sp>
        <p:nvSpPr>
          <p:cNvPr id="102" name="Shape 100"/>
          <p:cNvSpPr/>
          <p:nvPr/>
        </p:nvSpPr>
        <p:spPr>
          <a:xfrm>
            <a:off x="962025" y="3400425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03" name="Text 101"/>
          <p:cNvSpPr/>
          <p:nvPr/>
        </p:nvSpPr>
        <p:spPr>
          <a:xfrm>
            <a:off x="962025" y="3471863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785" dirty="0"/>
          </a:p>
        </p:txBody>
      </p:sp>
      <p:sp>
        <p:nvSpPr>
          <p:cNvPr id="104" name="Shape 102"/>
          <p:cNvSpPr/>
          <p:nvPr/>
        </p:nvSpPr>
        <p:spPr>
          <a:xfrm>
            <a:off x="1257300" y="3400425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05" name="Text 103"/>
          <p:cNvSpPr/>
          <p:nvPr/>
        </p:nvSpPr>
        <p:spPr>
          <a:xfrm>
            <a:off x="1257300" y="3471863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785" dirty="0"/>
          </a:p>
        </p:txBody>
      </p:sp>
      <p:sp>
        <p:nvSpPr>
          <p:cNvPr id="106" name="Shape 104"/>
          <p:cNvSpPr/>
          <p:nvPr/>
        </p:nvSpPr>
        <p:spPr>
          <a:xfrm>
            <a:off x="1552575" y="3400425"/>
            <a:ext cx="266700" cy="266700"/>
          </a:xfrm>
          <a:prstGeom prst="roundRect">
            <a:avLst/>
          </a:prstGeom>
          <a:solidFill>
            <a:srgbClr val="EF4444"/>
          </a:solidFill>
        </p:spPr>
      </p:sp>
      <p:sp>
        <p:nvSpPr>
          <p:cNvPr id="107" name="Shape 105"/>
          <p:cNvSpPr/>
          <p:nvPr/>
        </p:nvSpPr>
        <p:spPr>
          <a:xfrm>
            <a:off x="1847850" y="3400425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08" name="Text 106"/>
          <p:cNvSpPr/>
          <p:nvPr/>
        </p:nvSpPr>
        <p:spPr>
          <a:xfrm>
            <a:off x="1847850" y="3471863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785" dirty="0"/>
          </a:p>
        </p:txBody>
      </p:sp>
      <p:sp>
        <p:nvSpPr>
          <p:cNvPr id="109" name="Shape 107"/>
          <p:cNvSpPr/>
          <p:nvPr/>
        </p:nvSpPr>
        <p:spPr>
          <a:xfrm>
            <a:off x="2143125" y="3400425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10" name="Text 108"/>
          <p:cNvSpPr/>
          <p:nvPr/>
        </p:nvSpPr>
        <p:spPr>
          <a:xfrm>
            <a:off x="2143125" y="3471863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111" name="Shape 109"/>
          <p:cNvSpPr/>
          <p:nvPr/>
        </p:nvSpPr>
        <p:spPr>
          <a:xfrm>
            <a:off x="2438400" y="3400425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12" name="Text 110"/>
          <p:cNvSpPr/>
          <p:nvPr/>
        </p:nvSpPr>
        <p:spPr>
          <a:xfrm>
            <a:off x="2438400" y="3471863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113" name="Shape 111"/>
          <p:cNvSpPr/>
          <p:nvPr/>
        </p:nvSpPr>
        <p:spPr>
          <a:xfrm>
            <a:off x="2733675" y="3400425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14" name="Text 112"/>
          <p:cNvSpPr/>
          <p:nvPr/>
        </p:nvSpPr>
        <p:spPr>
          <a:xfrm>
            <a:off x="2733675" y="3471863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115" name="Shape 113"/>
          <p:cNvSpPr/>
          <p:nvPr/>
        </p:nvSpPr>
        <p:spPr>
          <a:xfrm>
            <a:off x="3028950" y="3400425"/>
            <a:ext cx="266700" cy="266700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116" name="Shape 114"/>
          <p:cNvSpPr/>
          <p:nvPr/>
        </p:nvSpPr>
        <p:spPr>
          <a:xfrm>
            <a:off x="3324225" y="3400425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17" name="Text 115"/>
          <p:cNvSpPr/>
          <p:nvPr/>
        </p:nvSpPr>
        <p:spPr>
          <a:xfrm>
            <a:off x="3324225" y="3471863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118" name="Shape 116"/>
          <p:cNvSpPr/>
          <p:nvPr/>
        </p:nvSpPr>
        <p:spPr>
          <a:xfrm>
            <a:off x="666750" y="3695700"/>
            <a:ext cx="266700" cy="266700"/>
          </a:xfrm>
          <a:prstGeom prst="roundRect">
            <a:avLst/>
          </a:prstGeom>
          <a:solidFill>
            <a:srgbClr val="38BDF8">
              <a:alpha val="92000"/>
            </a:srgbClr>
          </a:solidFill>
        </p:spPr>
      </p:sp>
      <p:sp>
        <p:nvSpPr>
          <p:cNvPr id="119" name="Text 117"/>
          <p:cNvSpPr/>
          <p:nvPr/>
        </p:nvSpPr>
        <p:spPr>
          <a:xfrm>
            <a:off x="666750" y="3767138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0A0F1C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785" dirty="0"/>
          </a:p>
        </p:txBody>
      </p:sp>
      <p:sp>
        <p:nvSpPr>
          <p:cNvPr id="120" name="Shape 118"/>
          <p:cNvSpPr/>
          <p:nvPr/>
        </p:nvSpPr>
        <p:spPr>
          <a:xfrm>
            <a:off x="962025" y="3695700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21" name="Text 119"/>
          <p:cNvSpPr/>
          <p:nvPr/>
        </p:nvSpPr>
        <p:spPr>
          <a:xfrm>
            <a:off x="962025" y="3767138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785" dirty="0"/>
          </a:p>
        </p:txBody>
      </p:sp>
      <p:sp>
        <p:nvSpPr>
          <p:cNvPr id="122" name="Shape 120"/>
          <p:cNvSpPr/>
          <p:nvPr/>
        </p:nvSpPr>
        <p:spPr>
          <a:xfrm>
            <a:off x="1257300" y="3695700"/>
            <a:ext cx="266700" cy="266700"/>
          </a:xfrm>
          <a:prstGeom prst="roundRect">
            <a:avLst/>
          </a:prstGeom>
          <a:solidFill>
            <a:srgbClr val="EAB308"/>
          </a:solidFill>
        </p:spPr>
      </p:sp>
      <p:sp>
        <p:nvSpPr>
          <p:cNvPr id="123" name="Shape 121"/>
          <p:cNvSpPr/>
          <p:nvPr/>
        </p:nvSpPr>
        <p:spPr>
          <a:xfrm>
            <a:off x="1552575" y="3695700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24" name="Text 122"/>
          <p:cNvSpPr/>
          <p:nvPr/>
        </p:nvSpPr>
        <p:spPr>
          <a:xfrm>
            <a:off x="1552575" y="3767138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785" dirty="0"/>
          </a:p>
        </p:txBody>
      </p:sp>
      <p:sp>
        <p:nvSpPr>
          <p:cNvPr id="125" name="Shape 123"/>
          <p:cNvSpPr/>
          <p:nvPr/>
        </p:nvSpPr>
        <p:spPr>
          <a:xfrm>
            <a:off x="1847850" y="3695700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26" name="Text 124"/>
          <p:cNvSpPr/>
          <p:nvPr/>
        </p:nvSpPr>
        <p:spPr>
          <a:xfrm>
            <a:off x="1847850" y="3767138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785" dirty="0"/>
          </a:p>
        </p:txBody>
      </p:sp>
      <p:sp>
        <p:nvSpPr>
          <p:cNvPr id="127" name="Shape 125"/>
          <p:cNvSpPr/>
          <p:nvPr/>
        </p:nvSpPr>
        <p:spPr>
          <a:xfrm>
            <a:off x="2143125" y="3695700"/>
            <a:ext cx="266700" cy="266700"/>
          </a:xfrm>
          <a:prstGeom prst="roundRect">
            <a:avLst/>
          </a:prstGeom>
          <a:solidFill>
            <a:srgbClr val="EF4444"/>
          </a:solidFill>
        </p:spPr>
      </p:sp>
      <p:sp>
        <p:nvSpPr>
          <p:cNvPr id="128" name="Shape 126"/>
          <p:cNvSpPr/>
          <p:nvPr/>
        </p:nvSpPr>
        <p:spPr>
          <a:xfrm>
            <a:off x="2438400" y="3695700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29" name="Text 127"/>
          <p:cNvSpPr/>
          <p:nvPr/>
        </p:nvSpPr>
        <p:spPr>
          <a:xfrm>
            <a:off x="2438400" y="3767138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130" name="Shape 128"/>
          <p:cNvSpPr/>
          <p:nvPr/>
        </p:nvSpPr>
        <p:spPr>
          <a:xfrm>
            <a:off x="2733675" y="3695700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31" name="Text 129"/>
          <p:cNvSpPr/>
          <p:nvPr/>
        </p:nvSpPr>
        <p:spPr>
          <a:xfrm>
            <a:off x="2733675" y="3767138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132" name="Shape 130"/>
          <p:cNvSpPr/>
          <p:nvPr/>
        </p:nvSpPr>
        <p:spPr>
          <a:xfrm>
            <a:off x="3028950" y="3695700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33" name="Text 131"/>
          <p:cNvSpPr/>
          <p:nvPr/>
        </p:nvSpPr>
        <p:spPr>
          <a:xfrm>
            <a:off x="3028950" y="3767138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134" name="Shape 132"/>
          <p:cNvSpPr/>
          <p:nvPr/>
        </p:nvSpPr>
        <p:spPr>
          <a:xfrm>
            <a:off x="3324225" y="3695700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35" name="Text 133"/>
          <p:cNvSpPr/>
          <p:nvPr/>
        </p:nvSpPr>
        <p:spPr>
          <a:xfrm>
            <a:off x="3324225" y="3767138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136" name="Shape 134"/>
          <p:cNvSpPr/>
          <p:nvPr/>
        </p:nvSpPr>
        <p:spPr>
          <a:xfrm>
            <a:off x="666750" y="3990975"/>
            <a:ext cx="266700" cy="266700"/>
          </a:xfrm>
          <a:prstGeom prst="roundRect">
            <a:avLst/>
          </a:prstGeom>
          <a:solidFill>
            <a:srgbClr val="38BDF8">
              <a:alpha val="92000"/>
            </a:srgbClr>
          </a:solidFill>
        </p:spPr>
      </p:sp>
      <p:sp>
        <p:nvSpPr>
          <p:cNvPr id="137" name="Text 135"/>
          <p:cNvSpPr/>
          <p:nvPr/>
        </p:nvSpPr>
        <p:spPr>
          <a:xfrm>
            <a:off x="666750" y="4062412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0A0F1C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785" dirty="0"/>
          </a:p>
        </p:txBody>
      </p:sp>
      <p:sp>
        <p:nvSpPr>
          <p:cNvPr id="138" name="Shape 136"/>
          <p:cNvSpPr/>
          <p:nvPr/>
        </p:nvSpPr>
        <p:spPr>
          <a:xfrm>
            <a:off x="962025" y="3990975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39" name="Text 137"/>
          <p:cNvSpPr/>
          <p:nvPr/>
        </p:nvSpPr>
        <p:spPr>
          <a:xfrm>
            <a:off x="962025" y="4062412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785" dirty="0"/>
          </a:p>
        </p:txBody>
      </p:sp>
      <p:sp>
        <p:nvSpPr>
          <p:cNvPr id="140" name="Shape 138"/>
          <p:cNvSpPr/>
          <p:nvPr/>
        </p:nvSpPr>
        <p:spPr>
          <a:xfrm>
            <a:off x="1257300" y="3990975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41" name="Text 139"/>
          <p:cNvSpPr/>
          <p:nvPr/>
        </p:nvSpPr>
        <p:spPr>
          <a:xfrm>
            <a:off x="1257300" y="4062412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785" dirty="0"/>
          </a:p>
        </p:txBody>
      </p:sp>
      <p:sp>
        <p:nvSpPr>
          <p:cNvPr id="142" name="Shape 140"/>
          <p:cNvSpPr/>
          <p:nvPr/>
        </p:nvSpPr>
        <p:spPr>
          <a:xfrm>
            <a:off x="1552575" y="3990975"/>
            <a:ext cx="266700" cy="266700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143" name="Shape 141"/>
          <p:cNvSpPr/>
          <p:nvPr/>
        </p:nvSpPr>
        <p:spPr>
          <a:xfrm>
            <a:off x="1847850" y="3990975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44" name="Text 142"/>
          <p:cNvSpPr/>
          <p:nvPr/>
        </p:nvSpPr>
        <p:spPr>
          <a:xfrm>
            <a:off x="1847850" y="4062412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785" dirty="0"/>
          </a:p>
        </p:txBody>
      </p:sp>
      <p:sp>
        <p:nvSpPr>
          <p:cNvPr id="145" name="Shape 143"/>
          <p:cNvSpPr/>
          <p:nvPr/>
        </p:nvSpPr>
        <p:spPr>
          <a:xfrm>
            <a:off x="2143125" y="3990975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46" name="Text 144"/>
          <p:cNvSpPr/>
          <p:nvPr/>
        </p:nvSpPr>
        <p:spPr>
          <a:xfrm>
            <a:off x="2143125" y="4062412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785" dirty="0"/>
          </a:p>
        </p:txBody>
      </p:sp>
      <p:sp>
        <p:nvSpPr>
          <p:cNvPr id="147" name="Shape 145"/>
          <p:cNvSpPr/>
          <p:nvPr/>
        </p:nvSpPr>
        <p:spPr>
          <a:xfrm>
            <a:off x="2438400" y="3990975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48" name="Text 146"/>
          <p:cNvSpPr/>
          <p:nvPr/>
        </p:nvSpPr>
        <p:spPr>
          <a:xfrm>
            <a:off x="2438400" y="4062412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785" dirty="0"/>
          </a:p>
        </p:txBody>
      </p:sp>
      <p:sp>
        <p:nvSpPr>
          <p:cNvPr id="149" name="Shape 147"/>
          <p:cNvSpPr/>
          <p:nvPr/>
        </p:nvSpPr>
        <p:spPr>
          <a:xfrm>
            <a:off x="2733675" y="3990975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50" name="Text 148"/>
          <p:cNvSpPr/>
          <p:nvPr/>
        </p:nvSpPr>
        <p:spPr>
          <a:xfrm>
            <a:off x="2733675" y="4062412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151" name="Shape 149"/>
          <p:cNvSpPr/>
          <p:nvPr/>
        </p:nvSpPr>
        <p:spPr>
          <a:xfrm>
            <a:off x="3028950" y="3990975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52" name="Text 150"/>
          <p:cNvSpPr/>
          <p:nvPr/>
        </p:nvSpPr>
        <p:spPr>
          <a:xfrm>
            <a:off x="3028950" y="4062412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153" name="Shape 151"/>
          <p:cNvSpPr/>
          <p:nvPr/>
        </p:nvSpPr>
        <p:spPr>
          <a:xfrm>
            <a:off x="3324225" y="3990975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54" name="Text 152"/>
          <p:cNvSpPr/>
          <p:nvPr/>
        </p:nvSpPr>
        <p:spPr>
          <a:xfrm>
            <a:off x="3324225" y="4062412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155" name="Shape 153"/>
          <p:cNvSpPr/>
          <p:nvPr/>
        </p:nvSpPr>
        <p:spPr>
          <a:xfrm>
            <a:off x="666750" y="4286250"/>
            <a:ext cx="266700" cy="266700"/>
          </a:xfrm>
          <a:prstGeom prst="roundRect">
            <a:avLst/>
          </a:prstGeom>
          <a:solidFill>
            <a:srgbClr val="38BDF8">
              <a:alpha val="92000"/>
            </a:srgbClr>
          </a:solidFill>
        </p:spPr>
      </p:sp>
      <p:sp>
        <p:nvSpPr>
          <p:cNvPr id="156" name="Text 154"/>
          <p:cNvSpPr/>
          <p:nvPr/>
        </p:nvSpPr>
        <p:spPr>
          <a:xfrm>
            <a:off x="666750" y="4357688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0A0F1C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785" dirty="0"/>
          </a:p>
        </p:txBody>
      </p:sp>
      <p:sp>
        <p:nvSpPr>
          <p:cNvPr id="157" name="Shape 155"/>
          <p:cNvSpPr/>
          <p:nvPr/>
        </p:nvSpPr>
        <p:spPr>
          <a:xfrm>
            <a:off x="962025" y="4286250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58" name="Text 156"/>
          <p:cNvSpPr/>
          <p:nvPr/>
        </p:nvSpPr>
        <p:spPr>
          <a:xfrm>
            <a:off x="962025" y="4357688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785" dirty="0"/>
          </a:p>
        </p:txBody>
      </p:sp>
      <p:sp>
        <p:nvSpPr>
          <p:cNvPr id="159" name="Shape 157"/>
          <p:cNvSpPr/>
          <p:nvPr/>
        </p:nvSpPr>
        <p:spPr>
          <a:xfrm>
            <a:off x="1257300" y="4286250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60" name="Text 158"/>
          <p:cNvSpPr/>
          <p:nvPr/>
        </p:nvSpPr>
        <p:spPr>
          <a:xfrm>
            <a:off x="1257300" y="4357688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785" dirty="0"/>
          </a:p>
        </p:txBody>
      </p:sp>
      <p:sp>
        <p:nvSpPr>
          <p:cNvPr id="161" name="Shape 159"/>
          <p:cNvSpPr/>
          <p:nvPr/>
        </p:nvSpPr>
        <p:spPr>
          <a:xfrm>
            <a:off x="1552575" y="4286250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62" name="Text 160"/>
          <p:cNvSpPr/>
          <p:nvPr/>
        </p:nvSpPr>
        <p:spPr>
          <a:xfrm>
            <a:off x="1552575" y="4357688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785" dirty="0"/>
          </a:p>
        </p:txBody>
      </p:sp>
      <p:sp>
        <p:nvSpPr>
          <p:cNvPr id="163" name="Shape 161"/>
          <p:cNvSpPr/>
          <p:nvPr/>
        </p:nvSpPr>
        <p:spPr>
          <a:xfrm>
            <a:off x="1847850" y="4286250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64" name="Text 162"/>
          <p:cNvSpPr/>
          <p:nvPr/>
        </p:nvSpPr>
        <p:spPr>
          <a:xfrm>
            <a:off x="1847850" y="4357688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785" dirty="0"/>
          </a:p>
        </p:txBody>
      </p:sp>
      <p:sp>
        <p:nvSpPr>
          <p:cNvPr id="165" name="Shape 163"/>
          <p:cNvSpPr/>
          <p:nvPr/>
        </p:nvSpPr>
        <p:spPr>
          <a:xfrm>
            <a:off x="2143125" y="4286250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66" name="Text 164"/>
          <p:cNvSpPr/>
          <p:nvPr/>
        </p:nvSpPr>
        <p:spPr>
          <a:xfrm>
            <a:off x="2143125" y="4357688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785" dirty="0"/>
          </a:p>
        </p:txBody>
      </p:sp>
      <p:sp>
        <p:nvSpPr>
          <p:cNvPr id="167" name="Shape 165"/>
          <p:cNvSpPr/>
          <p:nvPr/>
        </p:nvSpPr>
        <p:spPr>
          <a:xfrm>
            <a:off x="2438400" y="4286250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68" name="Text 166"/>
          <p:cNvSpPr/>
          <p:nvPr/>
        </p:nvSpPr>
        <p:spPr>
          <a:xfrm>
            <a:off x="2438400" y="4357688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785" dirty="0"/>
          </a:p>
        </p:txBody>
      </p:sp>
      <p:sp>
        <p:nvSpPr>
          <p:cNvPr id="169" name="Shape 167"/>
          <p:cNvSpPr/>
          <p:nvPr/>
        </p:nvSpPr>
        <p:spPr>
          <a:xfrm>
            <a:off x="2733675" y="4286250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70" name="Text 168"/>
          <p:cNvSpPr/>
          <p:nvPr/>
        </p:nvSpPr>
        <p:spPr>
          <a:xfrm>
            <a:off x="2733675" y="4357688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785" dirty="0"/>
          </a:p>
        </p:txBody>
      </p:sp>
      <p:sp>
        <p:nvSpPr>
          <p:cNvPr id="171" name="Shape 169"/>
          <p:cNvSpPr/>
          <p:nvPr/>
        </p:nvSpPr>
        <p:spPr>
          <a:xfrm>
            <a:off x="3028950" y="4286250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72" name="Text 170"/>
          <p:cNvSpPr/>
          <p:nvPr/>
        </p:nvSpPr>
        <p:spPr>
          <a:xfrm>
            <a:off x="3028950" y="4357688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173" name="Shape 171"/>
          <p:cNvSpPr/>
          <p:nvPr/>
        </p:nvSpPr>
        <p:spPr>
          <a:xfrm>
            <a:off x="3324225" y="4286250"/>
            <a:ext cx="266700" cy="266700"/>
          </a:xfrm>
          <a:prstGeom prst="roundRect">
            <a:avLst/>
          </a:prstGeom>
          <a:solidFill>
            <a:srgbClr val="172236">
              <a:alpha val="55000"/>
            </a:srgbClr>
          </a:solidFill>
        </p:spPr>
      </p:sp>
      <p:sp>
        <p:nvSpPr>
          <p:cNvPr id="174" name="Text 172"/>
          <p:cNvSpPr/>
          <p:nvPr/>
        </p:nvSpPr>
        <p:spPr>
          <a:xfrm>
            <a:off x="3324225" y="4357688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38BDF8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↓</a:t>
            </a:r>
            <a:endParaRPr lang="en-US" sz="785" dirty="0"/>
          </a:p>
        </p:txBody>
      </p:sp>
      <p:sp>
        <p:nvSpPr>
          <p:cNvPr id="175" name="Shape 173"/>
          <p:cNvSpPr/>
          <p:nvPr/>
        </p:nvSpPr>
        <p:spPr>
          <a:xfrm>
            <a:off x="666750" y="4581525"/>
            <a:ext cx="266700" cy="266700"/>
          </a:xfrm>
          <a:prstGeom prst="roundRect">
            <a:avLst/>
          </a:prstGeom>
          <a:solidFill>
            <a:srgbClr val="38BDF8">
              <a:alpha val="92000"/>
            </a:srgbClr>
          </a:solidFill>
        </p:spPr>
      </p:sp>
      <p:sp>
        <p:nvSpPr>
          <p:cNvPr id="176" name="Text 174"/>
          <p:cNvSpPr/>
          <p:nvPr/>
        </p:nvSpPr>
        <p:spPr>
          <a:xfrm>
            <a:off x="666750" y="4652963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0A0F1C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785" dirty="0"/>
          </a:p>
        </p:txBody>
      </p:sp>
      <p:sp>
        <p:nvSpPr>
          <p:cNvPr id="177" name="Shape 175"/>
          <p:cNvSpPr/>
          <p:nvPr/>
        </p:nvSpPr>
        <p:spPr>
          <a:xfrm>
            <a:off x="962025" y="4581525"/>
            <a:ext cx="266700" cy="266700"/>
          </a:xfrm>
          <a:prstGeom prst="roundRect">
            <a:avLst/>
          </a:prstGeom>
          <a:solidFill>
            <a:srgbClr val="38BDF8">
              <a:alpha val="92000"/>
            </a:srgbClr>
          </a:solidFill>
        </p:spPr>
      </p:sp>
      <p:sp>
        <p:nvSpPr>
          <p:cNvPr id="178" name="Text 176"/>
          <p:cNvSpPr/>
          <p:nvPr/>
        </p:nvSpPr>
        <p:spPr>
          <a:xfrm>
            <a:off x="962025" y="4652963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0A0F1C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785" dirty="0"/>
          </a:p>
        </p:txBody>
      </p:sp>
      <p:sp>
        <p:nvSpPr>
          <p:cNvPr id="179" name="Shape 177"/>
          <p:cNvSpPr/>
          <p:nvPr/>
        </p:nvSpPr>
        <p:spPr>
          <a:xfrm>
            <a:off x="1257300" y="4581525"/>
            <a:ext cx="266700" cy="266700"/>
          </a:xfrm>
          <a:prstGeom prst="roundRect">
            <a:avLst/>
          </a:prstGeom>
          <a:solidFill>
            <a:srgbClr val="38BDF8">
              <a:alpha val="92000"/>
            </a:srgbClr>
          </a:solidFill>
        </p:spPr>
      </p:sp>
      <p:sp>
        <p:nvSpPr>
          <p:cNvPr id="180" name="Text 178"/>
          <p:cNvSpPr/>
          <p:nvPr/>
        </p:nvSpPr>
        <p:spPr>
          <a:xfrm>
            <a:off x="1257300" y="4652963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0A0F1C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785" dirty="0"/>
          </a:p>
        </p:txBody>
      </p:sp>
      <p:sp>
        <p:nvSpPr>
          <p:cNvPr id="181" name="Shape 179"/>
          <p:cNvSpPr/>
          <p:nvPr/>
        </p:nvSpPr>
        <p:spPr>
          <a:xfrm>
            <a:off x="1552575" y="4581525"/>
            <a:ext cx="266700" cy="266700"/>
          </a:xfrm>
          <a:prstGeom prst="roundRect">
            <a:avLst/>
          </a:prstGeom>
          <a:solidFill>
            <a:srgbClr val="38BDF8">
              <a:alpha val="92000"/>
            </a:srgbClr>
          </a:solidFill>
        </p:spPr>
      </p:sp>
      <p:sp>
        <p:nvSpPr>
          <p:cNvPr id="182" name="Text 180"/>
          <p:cNvSpPr/>
          <p:nvPr/>
        </p:nvSpPr>
        <p:spPr>
          <a:xfrm>
            <a:off x="1552575" y="4652963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0A0F1C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785" dirty="0"/>
          </a:p>
        </p:txBody>
      </p:sp>
      <p:sp>
        <p:nvSpPr>
          <p:cNvPr id="183" name="Shape 181"/>
          <p:cNvSpPr/>
          <p:nvPr/>
        </p:nvSpPr>
        <p:spPr>
          <a:xfrm>
            <a:off x="1847850" y="4581525"/>
            <a:ext cx="266700" cy="266700"/>
          </a:xfrm>
          <a:prstGeom prst="roundRect">
            <a:avLst/>
          </a:prstGeom>
          <a:solidFill>
            <a:srgbClr val="38BDF8">
              <a:alpha val="92000"/>
            </a:srgbClr>
          </a:solidFill>
        </p:spPr>
      </p:sp>
      <p:sp>
        <p:nvSpPr>
          <p:cNvPr id="184" name="Text 182"/>
          <p:cNvSpPr/>
          <p:nvPr/>
        </p:nvSpPr>
        <p:spPr>
          <a:xfrm>
            <a:off x="1847850" y="4652963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0A0F1C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785" dirty="0"/>
          </a:p>
        </p:txBody>
      </p:sp>
      <p:sp>
        <p:nvSpPr>
          <p:cNvPr id="185" name="Shape 183"/>
          <p:cNvSpPr/>
          <p:nvPr/>
        </p:nvSpPr>
        <p:spPr>
          <a:xfrm>
            <a:off x="2143125" y="4581525"/>
            <a:ext cx="266700" cy="266700"/>
          </a:xfrm>
          <a:prstGeom prst="roundRect">
            <a:avLst/>
          </a:prstGeom>
          <a:solidFill>
            <a:srgbClr val="38BDF8">
              <a:alpha val="92000"/>
            </a:srgbClr>
          </a:solidFill>
        </p:spPr>
      </p:sp>
      <p:sp>
        <p:nvSpPr>
          <p:cNvPr id="186" name="Text 184"/>
          <p:cNvSpPr/>
          <p:nvPr/>
        </p:nvSpPr>
        <p:spPr>
          <a:xfrm>
            <a:off x="2143125" y="4652963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0A0F1C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785" dirty="0"/>
          </a:p>
        </p:txBody>
      </p:sp>
      <p:sp>
        <p:nvSpPr>
          <p:cNvPr id="187" name="Shape 185"/>
          <p:cNvSpPr/>
          <p:nvPr/>
        </p:nvSpPr>
        <p:spPr>
          <a:xfrm>
            <a:off x="2438400" y="4581525"/>
            <a:ext cx="266700" cy="266700"/>
          </a:xfrm>
          <a:prstGeom prst="roundRect">
            <a:avLst/>
          </a:prstGeom>
          <a:solidFill>
            <a:srgbClr val="38BDF8">
              <a:alpha val="92000"/>
            </a:srgbClr>
          </a:solidFill>
        </p:spPr>
      </p:sp>
      <p:sp>
        <p:nvSpPr>
          <p:cNvPr id="188" name="Text 186"/>
          <p:cNvSpPr/>
          <p:nvPr/>
        </p:nvSpPr>
        <p:spPr>
          <a:xfrm>
            <a:off x="2438400" y="4652963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0A0F1C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785" dirty="0"/>
          </a:p>
        </p:txBody>
      </p:sp>
      <p:sp>
        <p:nvSpPr>
          <p:cNvPr id="189" name="Shape 187"/>
          <p:cNvSpPr/>
          <p:nvPr/>
        </p:nvSpPr>
        <p:spPr>
          <a:xfrm>
            <a:off x="2733675" y="4581525"/>
            <a:ext cx="266700" cy="266700"/>
          </a:xfrm>
          <a:prstGeom prst="roundRect">
            <a:avLst/>
          </a:prstGeom>
          <a:solidFill>
            <a:srgbClr val="38BDF8">
              <a:alpha val="92000"/>
            </a:srgbClr>
          </a:solidFill>
        </p:spPr>
      </p:sp>
      <p:sp>
        <p:nvSpPr>
          <p:cNvPr id="190" name="Text 188"/>
          <p:cNvSpPr/>
          <p:nvPr/>
        </p:nvSpPr>
        <p:spPr>
          <a:xfrm>
            <a:off x="2733675" y="4652963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0A0F1C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785" dirty="0"/>
          </a:p>
        </p:txBody>
      </p:sp>
      <p:sp>
        <p:nvSpPr>
          <p:cNvPr id="191" name="Shape 189"/>
          <p:cNvSpPr/>
          <p:nvPr/>
        </p:nvSpPr>
        <p:spPr>
          <a:xfrm>
            <a:off x="3028950" y="4581525"/>
            <a:ext cx="266700" cy="266700"/>
          </a:xfrm>
          <a:prstGeom prst="roundRect">
            <a:avLst/>
          </a:prstGeom>
          <a:solidFill>
            <a:srgbClr val="38BDF8">
              <a:alpha val="92000"/>
            </a:srgbClr>
          </a:solidFill>
        </p:spPr>
      </p:sp>
      <p:sp>
        <p:nvSpPr>
          <p:cNvPr id="192" name="Text 190"/>
          <p:cNvSpPr/>
          <p:nvPr/>
        </p:nvSpPr>
        <p:spPr>
          <a:xfrm>
            <a:off x="3028950" y="4652963"/>
            <a:ext cx="2667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85" dirty="0">
                <a:solidFill>
                  <a:srgbClr val="0A0F1C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785" dirty="0"/>
          </a:p>
        </p:txBody>
      </p:sp>
      <p:sp>
        <p:nvSpPr>
          <p:cNvPr id="193" name="Shape 191"/>
          <p:cNvSpPr/>
          <p:nvPr/>
        </p:nvSpPr>
        <p:spPr>
          <a:xfrm>
            <a:off x="3324225" y="4581525"/>
            <a:ext cx="266700" cy="266700"/>
          </a:xfrm>
          <a:prstGeom prst="roundRect">
            <a:avLst/>
          </a:prstGeom>
          <a:solidFill>
            <a:srgbClr val="22C55E"/>
          </a:solidFill>
        </p:spPr>
      </p:sp>
      <p:sp>
        <p:nvSpPr>
          <p:cNvPr id="194" name="Shape 192"/>
          <p:cNvSpPr/>
          <p:nvPr/>
        </p:nvSpPr>
        <p:spPr>
          <a:xfrm>
            <a:off x="3386138" y="4643438"/>
            <a:ext cx="142875" cy="142875"/>
          </a:xfrm>
          <a:prstGeom prst="star5">
            <a:avLst/>
          </a:prstGeom>
          <a:solidFill>
            <a:srgbClr val="0A0F1C"/>
          </a:solidFill>
        </p:spPr>
      </p:sp>
      <p:sp>
        <p:nvSpPr>
          <p:cNvPr id="195" name="Shape 193"/>
          <p:cNvSpPr/>
          <p:nvPr/>
        </p:nvSpPr>
        <p:spPr>
          <a:xfrm>
            <a:off x="728663" y="1985963"/>
            <a:ext cx="142875" cy="142875"/>
          </a:xfrm>
          <a:prstGeom prst="ellipse">
            <a:avLst/>
          </a:prstGeom>
          <a:noFill/>
          <a:ln w="18097">
            <a:solidFill>
              <a:srgbClr val="0A0F1C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666750" y="4914900"/>
            <a:ext cx="1452563" cy="1190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5"/>
              </a:lnSpc>
              <a:buNone/>
            </a:pPr>
            <a:r>
              <a:rPr lang="en-US" sz="675" dirty="0">
                <a:solidFill>
                  <a:srgbClr val="93A4C0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START (0,0)  →  GOAL (9,9)</a:t>
            </a:r>
            <a:endParaRPr lang="en-US" sz="675" dirty="0"/>
          </a:p>
        </p:txBody>
      </p:sp>
      <p:sp>
        <p:nvSpPr>
          <p:cNvPr id="197" name="Text 195"/>
          <p:cNvSpPr/>
          <p:nvPr/>
        </p:nvSpPr>
        <p:spPr>
          <a:xfrm>
            <a:off x="4086225" y="1924050"/>
            <a:ext cx="1033462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0"/>
              </a:lnSpc>
              <a:buNone/>
            </a:pPr>
            <a:r>
              <a:rPr lang="en-US" sz="715" kern="0" spc="28" dirty="0">
                <a:solidFill>
                  <a:srgbClr val="93A4C0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TERRAIN &amp; REWARDS</a:t>
            </a:r>
            <a:endParaRPr lang="en-US" sz="715" dirty="0"/>
          </a:p>
        </p:txBody>
      </p:sp>
      <p:sp>
        <p:nvSpPr>
          <p:cNvPr id="198" name="Shape 196"/>
          <p:cNvSpPr/>
          <p:nvPr/>
        </p:nvSpPr>
        <p:spPr>
          <a:xfrm>
            <a:off x="4086225" y="2171700"/>
            <a:ext cx="219075" cy="219075"/>
          </a:xfrm>
          <a:prstGeom prst="roundRect">
            <a:avLst/>
          </a:prstGeom>
          <a:solidFill>
            <a:srgbClr val="172236"/>
          </a:solidFill>
          <a:ln w="4524">
            <a:solidFill>
              <a:srgbClr val="2A3B5E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4400550" y="2209800"/>
            <a:ext cx="742950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5"/>
              </a:lnSpc>
              <a:buNone/>
            </a:pPr>
            <a:r>
              <a:rPr lang="en-US" sz="960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Safe Terrain</a:t>
            </a:r>
            <a:endParaRPr lang="en-US" sz="960" dirty="0"/>
          </a:p>
        </p:txBody>
      </p:sp>
      <p:sp>
        <p:nvSpPr>
          <p:cNvPr id="200" name="Text 198"/>
          <p:cNvSpPr/>
          <p:nvPr/>
        </p:nvSpPr>
        <p:spPr>
          <a:xfrm>
            <a:off x="6753225" y="2214563"/>
            <a:ext cx="666750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20"/>
              </a:lnSpc>
              <a:buNone/>
            </a:pPr>
            <a:r>
              <a:rPr lang="en-US" sz="925" dirty="0">
                <a:solidFill>
                  <a:srgbClr val="172236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−1</a:t>
            </a:r>
            <a:endParaRPr lang="en-US" sz="925" dirty="0"/>
          </a:p>
        </p:txBody>
      </p:sp>
      <p:sp>
        <p:nvSpPr>
          <p:cNvPr id="201" name="Shape 199"/>
          <p:cNvSpPr/>
          <p:nvPr/>
        </p:nvSpPr>
        <p:spPr>
          <a:xfrm>
            <a:off x="4086225" y="2543175"/>
            <a:ext cx="219075" cy="219075"/>
          </a:xfrm>
          <a:prstGeom prst="roundRect">
            <a:avLst/>
          </a:prstGeom>
          <a:solidFill>
            <a:srgbClr val="EAB308"/>
          </a:solidFill>
          <a:ln w="4524">
            <a:solidFill>
              <a:srgbClr val="2A3B5E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4400550" y="2581275"/>
            <a:ext cx="585788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5"/>
              </a:lnSpc>
              <a:buNone/>
            </a:pPr>
            <a:r>
              <a:rPr lang="en-US" sz="960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Gas Zone</a:t>
            </a:r>
            <a:endParaRPr lang="en-US" sz="960" dirty="0"/>
          </a:p>
        </p:txBody>
      </p:sp>
      <p:sp>
        <p:nvSpPr>
          <p:cNvPr id="203" name="Text 201"/>
          <p:cNvSpPr/>
          <p:nvPr/>
        </p:nvSpPr>
        <p:spPr>
          <a:xfrm>
            <a:off x="6753225" y="2586038"/>
            <a:ext cx="666750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20"/>
              </a:lnSpc>
              <a:buNone/>
            </a:pPr>
            <a:r>
              <a:rPr lang="en-US" sz="925" dirty="0">
                <a:solidFill>
                  <a:srgbClr val="EAB308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−10</a:t>
            </a:r>
            <a:endParaRPr lang="en-US" sz="925" dirty="0"/>
          </a:p>
        </p:txBody>
      </p:sp>
      <p:sp>
        <p:nvSpPr>
          <p:cNvPr id="204" name="Shape 202"/>
          <p:cNvSpPr/>
          <p:nvPr/>
        </p:nvSpPr>
        <p:spPr>
          <a:xfrm>
            <a:off x="4086225" y="2914650"/>
            <a:ext cx="219075" cy="219075"/>
          </a:xfrm>
          <a:prstGeom prst="roundRect">
            <a:avLst/>
          </a:prstGeom>
          <a:solidFill>
            <a:srgbClr val="F97316"/>
          </a:solidFill>
          <a:ln w="4524">
            <a:solidFill>
              <a:srgbClr val="2A3B5E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4400550" y="2952750"/>
            <a:ext cx="633413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5"/>
              </a:lnSpc>
              <a:buNone/>
            </a:pPr>
            <a:r>
              <a:rPr lang="en-US" sz="960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Lava Zone</a:t>
            </a:r>
            <a:endParaRPr lang="en-US" sz="960" dirty="0"/>
          </a:p>
        </p:txBody>
      </p:sp>
      <p:sp>
        <p:nvSpPr>
          <p:cNvPr id="206" name="Text 204"/>
          <p:cNvSpPr/>
          <p:nvPr/>
        </p:nvSpPr>
        <p:spPr>
          <a:xfrm>
            <a:off x="6753225" y="2957513"/>
            <a:ext cx="666750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20"/>
              </a:lnSpc>
              <a:buNone/>
            </a:pPr>
            <a:r>
              <a:rPr lang="en-US" sz="925" dirty="0">
                <a:solidFill>
                  <a:srgbClr val="F97316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−30</a:t>
            </a:r>
            <a:endParaRPr lang="en-US" sz="925" dirty="0"/>
          </a:p>
        </p:txBody>
      </p:sp>
      <p:sp>
        <p:nvSpPr>
          <p:cNvPr id="207" name="Shape 205"/>
          <p:cNvSpPr/>
          <p:nvPr/>
        </p:nvSpPr>
        <p:spPr>
          <a:xfrm>
            <a:off x="4086225" y="3286125"/>
            <a:ext cx="219075" cy="219075"/>
          </a:xfrm>
          <a:prstGeom prst="roundRect">
            <a:avLst/>
          </a:prstGeom>
          <a:solidFill>
            <a:srgbClr val="EF4444"/>
          </a:solidFill>
          <a:ln w="4524">
            <a:solidFill>
              <a:srgbClr val="2A3B5E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4400550" y="3324225"/>
            <a:ext cx="390525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5"/>
              </a:lnSpc>
              <a:buNone/>
            </a:pPr>
            <a:r>
              <a:rPr lang="en-US" sz="960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Crater</a:t>
            </a:r>
            <a:endParaRPr lang="en-US" sz="960" dirty="0"/>
          </a:p>
        </p:txBody>
      </p:sp>
      <p:sp>
        <p:nvSpPr>
          <p:cNvPr id="209" name="Text 207"/>
          <p:cNvSpPr/>
          <p:nvPr/>
        </p:nvSpPr>
        <p:spPr>
          <a:xfrm>
            <a:off x="6753225" y="3328988"/>
            <a:ext cx="666750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20"/>
              </a:lnSpc>
              <a:buNone/>
            </a:pPr>
            <a:r>
              <a:rPr lang="en-US" sz="925" dirty="0">
                <a:solidFill>
                  <a:srgbClr val="EF4444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−100</a:t>
            </a:r>
            <a:endParaRPr lang="en-US" sz="925" dirty="0"/>
          </a:p>
        </p:txBody>
      </p:sp>
      <p:sp>
        <p:nvSpPr>
          <p:cNvPr id="210" name="Shape 208"/>
          <p:cNvSpPr/>
          <p:nvPr/>
        </p:nvSpPr>
        <p:spPr>
          <a:xfrm>
            <a:off x="4086225" y="3657600"/>
            <a:ext cx="219075" cy="219075"/>
          </a:xfrm>
          <a:prstGeom prst="roundRect">
            <a:avLst/>
          </a:prstGeom>
          <a:solidFill>
            <a:srgbClr val="22C55E"/>
          </a:solidFill>
          <a:ln w="4524">
            <a:solidFill>
              <a:srgbClr val="2A3B5E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4400550" y="3695700"/>
            <a:ext cx="280988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5"/>
              </a:lnSpc>
              <a:buNone/>
            </a:pPr>
            <a:r>
              <a:rPr lang="en-US" sz="960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Goal</a:t>
            </a:r>
            <a:endParaRPr lang="en-US" sz="960" dirty="0"/>
          </a:p>
        </p:txBody>
      </p:sp>
      <p:sp>
        <p:nvSpPr>
          <p:cNvPr id="212" name="Text 210"/>
          <p:cNvSpPr/>
          <p:nvPr/>
        </p:nvSpPr>
        <p:spPr>
          <a:xfrm>
            <a:off x="6753225" y="3700463"/>
            <a:ext cx="666750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20"/>
              </a:lnSpc>
              <a:buNone/>
            </a:pPr>
            <a:r>
              <a:rPr lang="en-US" sz="925" dirty="0">
                <a:solidFill>
                  <a:srgbClr val="22C55E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+100</a:t>
            </a:r>
            <a:endParaRPr lang="en-US" sz="925" dirty="0"/>
          </a:p>
        </p:txBody>
      </p:sp>
      <p:sp>
        <p:nvSpPr>
          <p:cNvPr id="213" name="Shape 211"/>
          <p:cNvSpPr/>
          <p:nvPr/>
        </p:nvSpPr>
        <p:spPr>
          <a:xfrm>
            <a:off x="4086225" y="4219575"/>
            <a:ext cx="1257300" cy="714375"/>
          </a:xfrm>
          <a:prstGeom prst="roundRect">
            <a:avLst>
              <a:gd name="adj" fmla="val 20480"/>
            </a:avLst>
          </a:prstGeom>
          <a:solidFill>
            <a:srgbClr val="16223B"/>
          </a:solidFill>
          <a:ln w="4524">
            <a:solidFill>
              <a:srgbClr val="2A3B5E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4210050" y="4333875"/>
            <a:ext cx="4191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75"/>
              </a:lnSpc>
              <a:buNone/>
            </a:pPr>
            <a:r>
              <a:rPr lang="en-US" sz="1780" b="1" dirty="0">
                <a:solidFill>
                  <a:srgbClr val="38BDF8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</a:t>
            </a:r>
            <a:endParaRPr lang="en-US" sz="1780" dirty="0"/>
          </a:p>
        </p:txBody>
      </p:sp>
      <p:sp>
        <p:nvSpPr>
          <p:cNvPr id="215" name="Text 213"/>
          <p:cNvSpPr/>
          <p:nvPr/>
        </p:nvSpPr>
        <p:spPr>
          <a:xfrm>
            <a:off x="4210050" y="4695825"/>
            <a:ext cx="1066800" cy="1095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675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States  ·  10 × 10</a:t>
            </a:r>
            <a:endParaRPr lang="en-US" sz="675" dirty="0"/>
          </a:p>
        </p:txBody>
      </p:sp>
      <p:sp>
        <p:nvSpPr>
          <p:cNvPr id="216" name="Shape 214"/>
          <p:cNvSpPr/>
          <p:nvPr/>
        </p:nvSpPr>
        <p:spPr>
          <a:xfrm>
            <a:off x="5457825" y="4219575"/>
            <a:ext cx="1257300" cy="714375"/>
          </a:xfrm>
          <a:prstGeom prst="roundRect">
            <a:avLst>
              <a:gd name="adj" fmla="val 20480"/>
            </a:avLst>
          </a:prstGeom>
          <a:solidFill>
            <a:srgbClr val="16223B"/>
          </a:solidFill>
          <a:ln w="4524">
            <a:solidFill>
              <a:srgbClr val="2A3B5E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5581650" y="4333875"/>
            <a:ext cx="1524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75"/>
              </a:lnSpc>
              <a:buNone/>
            </a:pPr>
            <a:r>
              <a:rPr lang="en-US" sz="1780" b="1" dirty="0">
                <a:solidFill>
                  <a:srgbClr val="F97316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780" dirty="0"/>
          </a:p>
        </p:txBody>
      </p:sp>
      <p:sp>
        <p:nvSpPr>
          <p:cNvPr id="218" name="Text 216"/>
          <p:cNvSpPr/>
          <p:nvPr/>
        </p:nvSpPr>
        <p:spPr>
          <a:xfrm>
            <a:off x="5581650" y="4695825"/>
            <a:ext cx="1066800" cy="1095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675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Actions  ·  U D L R</a:t>
            </a:r>
            <a:endParaRPr lang="en-US" sz="675" dirty="0"/>
          </a:p>
        </p:txBody>
      </p:sp>
      <p:sp>
        <p:nvSpPr>
          <p:cNvPr id="219" name="Shape 217"/>
          <p:cNvSpPr/>
          <p:nvPr/>
        </p:nvSpPr>
        <p:spPr>
          <a:xfrm>
            <a:off x="6829425" y="4219575"/>
            <a:ext cx="1257300" cy="714375"/>
          </a:xfrm>
          <a:prstGeom prst="roundRect">
            <a:avLst>
              <a:gd name="adj" fmla="val 20480"/>
            </a:avLst>
          </a:prstGeom>
          <a:solidFill>
            <a:srgbClr val="16223B"/>
          </a:solidFill>
          <a:ln w="4524">
            <a:solidFill>
              <a:srgbClr val="2A3B5E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6953250" y="4333875"/>
            <a:ext cx="566738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75"/>
              </a:lnSpc>
              <a:buNone/>
            </a:pPr>
            <a:r>
              <a:rPr lang="en-US" sz="1780" b="1" dirty="0">
                <a:solidFill>
                  <a:srgbClr val="22C55E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γ 0.9</a:t>
            </a:r>
            <a:endParaRPr lang="en-US" sz="1780" dirty="0"/>
          </a:p>
        </p:txBody>
      </p:sp>
      <p:sp>
        <p:nvSpPr>
          <p:cNvPr id="221" name="Text 219"/>
          <p:cNvSpPr/>
          <p:nvPr/>
        </p:nvSpPr>
        <p:spPr>
          <a:xfrm>
            <a:off x="6953250" y="4695825"/>
            <a:ext cx="1066800" cy="1095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675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Discount factor</a:t>
            </a:r>
            <a:endParaRPr lang="en-US" sz="6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2750" y="2857500"/>
            <a:ext cx="3429000" cy="3429000"/>
          </a:xfrm>
          <a:prstGeom prst="ellipse">
            <a:avLst/>
          </a:prstGeom>
          <a:solidFill>
            <a:srgbClr val="F97316">
              <a:alpha val="1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238250" y="-1143000"/>
            <a:ext cx="2857500" cy="2857500"/>
          </a:xfrm>
          <a:prstGeom prst="ellipse">
            <a:avLst/>
          </a:prstGeom>
          <a:solidFill>
            <a:srgbClr val="38BDF8">
              <a:alpha val="9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666750" y="933450"/>
            <a:ext cx="190500" cy="28575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5" name="Text 3"/>
          <p:cNvSpPr/>
          <p:nvPr/>
        </p:nvSpPr>
        <p:spPr>
          <a:xfrm>
            <a:off x="666750" y="1057275"/>
            <a:ext cx="1157288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0"/>
              </a:lnSpc>
              <a:buNone/>
            </a:pPr>
            <a:r>
              <a:rPr lang="en-US" sz="715" kern="0" spc="28" dirty="0">
                <a:solidFill>
                  <a:srgbClr val="38BDF8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05  ·  FORMAL MODEL</a:t>
            </a:r>
            <a:endParaRPr lang="en-US" sz="715" dirty="0"/>
          </a:p>
        </p:txBody>
      </p:sp>
      <p:sp>
        <p:nvSpPr>
          <p:cNvPr id="6" name="Text 4"/>
          <p:cNvSpPr/>
          <p:nvPr/>
        </p:nvSpPr>
        <p:spPr>
          <a:xfrm>
            <a:off x="628650" y="1276350"/>
            <a:ext cx="2800350" cy="438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75"/>
              </a:lnSpc>
              <a:buNone/>
            </a:pPr>
            <a:r>
              <a:rPr lang="en-US" sz="2565" b="1" dirty="0">
                <a:solidFill>
                  <a:srgbClr val="EEF3FA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MDP Formulation</a:t>
            </a:r>
            <a:endParaRPr lang="en-US" sz="2565" dirty="0"/>
          </a:p>
        </p:txBody>
      </p:sp>
      <p:sp>
        <p:nvSpPr>
          <p:cNvPr id="7" name="Text 5"/>
          <p:cNvSpPr/>
          <p:nvPr/>
        </p:nvSpPr>
        <p:spPr>
          <a:xfrm>
            <a:off x="666750" y="1733550"/>
            <a:ext cx="4667250" cy="3619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5"/>
              </a:lnSpc>
              <a:buNone/>
            </a:pPr>
            <a:r>
              <a:rPr lang="en-US" sz="925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The mission is modelled as a Markov Decision Process — the five-part tuple (S, A, P, R, γ).</a:t>
            </a:r>
            <a:endParaRPr lang="en-US" sz="925" dirty="0"/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666750" y="2152650"/>
            <a:ext cx="381000" cy="381000"/>
          </a:xfrm>
          <a:prstGeom prst="roundRect">
            <a:avLst>
              <a:gd name="adj" fmla="val 96000"/>
            </a:avLst>
          </a:prstGeom>
          <a:solidFill>
            <a:srgbClr val="1E2C49"/>
          </a:solidFill>
          <a:ln w="9049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2"/>
            </p:custDataLst>
          </p:nvPr>
        </p:nvSpPr>
        <p:spPr>
          <a:xfrm>
            <a:off x="666750" y="2238375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25"/>
              </a:lnSpc>
              <a:buNone/>
            </a:pPr>
            <a:r>
              <a:rPr lang="en-US" sz="1355" b="1" dirty="0">
                <a:solidFill>
                  <a:srgbClr val="38BDF8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</a:t>
            </a:r>
            <a:endParaRPr lang="en-US" sz="1355" dirty="0"/>
          </a:p>
        </p:txBody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1190625" y="2181225"/>
            <a:ext cx="433388" cy="1666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35" b="1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States</a:t>
            </a:r>
            <a:endParaRPr lang="en-US" sz="1035" dirty="0"/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1190625" y="2371725"/>
            <a:ext cx="3619500" cy="1476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85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Every cell of the 10×10 grid — 100 possible states in total.</a:t>
            </a:r>
            <a:endParaRPr lang="en-US" sz="785" dirty="0"/>
          </a:p>
        </p:txBody>
      </p:sp>
      <p:sp>
        <p:nvSpPr>
          <p:cNvPr id="12" name="Shape 10"/>
          <p:cNvSpPr/>
          <p:nvPr>
            <p:custDataLst>
              <p:tags r:id="rId5"/>
            </p:custDataLst>
          </p:nvPr>
        </p:nvSpPr>
        <p:spPr>
          <a:xfrm>
            <a:off x="666750" y="2705100"/>
            <a:ext cx="381000" cy="381000"/>
          </a:xfrm>
          <a:prstGeom prst="roundRect">
            <a:avLst>
              <a:gd name="adj" fmla="val 96000"/>
            </a:avLst>
          </a:prstGeom>
          <a:solidFill>
            <a:srgbClr val="1E2C49"/>
          </a:solidFill>
          <a:ln w="9049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666750" y="2790825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25"/>
              </a:lnSpc>
              <a:buNone/>
            </a:pPr>
            <a:r>
              <a:rPr lang="en-US" sz="1355" b="1" dirty="0">
                <a:solidFill>
                  <a:srgbClr val="F97316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</a:t>
            </a:r>
            <a:endParaRPr lang="en-US" sz="1355" dirty="0"/>
          </a:p>
        </p:txBody>
      </p:sp>
      <p:sp>
        <p:nvSpPr>
          <p:cNvPr id="14" name="Text 12"/>
          <p:cNvSpPr/>
          <p:nvPr>
            <p:custDataLst>
              <p:tags r:id="rId7"/>
            </p:custDataLst>
          </p:nvPr>
        </p:nvSpPr>
        <p:spPr>
          <a:xfrm>
            <a:off x="1190625" y="2733675"/>
            <a:ext cx="514350" cy="1666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35" b="1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Actions</a:t>
            </a:r>
            <a:endParaRPr lang="en-US" sz="1035" dirty="0"/>
          </a:p>
        </p:txBody>
      </p:sp>
      <p:sp>
        <p:nvSpPr>
          <p:cNvPr id="15" name="Text 13"/>
          <p:cNvSpPr/>
          <p:nvPr>
            <p:custDataLst>
              <p:tags r:id="rId8"/>
            </p:custDataLst>
          </p:nvPr>
        </p:nvSpPr>
        <p:spPr>
          <a:xfrm>
            <a:off x="1190625" y="2924175"/>
            <a:ext cx="3619500" cy="1476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85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Four moves the agent can take: UP, DOWN, LEFT and RIGHT.</a:t>
            </a:r>
            <a:endParaRPr lang="en-US" sz="785" dirty="0"/>
          </a:p>
        </p:txBody>
      </p:sp>
      <p:sp>
        <p:nvSpPr>
          <p:cNvPr id="16" name="Shape 14"/>
          <p:cNvSpPr/>
          <p:nvPr>
            <p:custDataLst>
              <p:tags r:id="rId9"/>
            </p:custDataLst>
          </p:nvPr>
        </p:nvSpPr>
        <p:spPr>
          <a:xfrm>
            <a:off x="666750" y="3257550"/>
            <a:ext cx="381000" cy="381000"/>
          </a:xfrm>
          <a:prstGeom prst="roundRect">
            <a:avLst>
              <a:gd name="adj" fmla="val 96000"/>
            </a:avLst>
          </a:prstGeom>
          <a:solidFill>
            <a:srgbClr val="1E2C49"/>
          </a:solidFill>
          <a:ln w="9049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>
            <p:custDataLst>
              <p:tags r:id="rId10"/>
            </p:custDataLst>
          </p:nvPr>
        </p:nvSpPr>
        <p:spPr>
          <a:xfrm>
            <a:off x="666750" y="3343275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25"/>
              </a:lnSpc>
              <a:buNone/>
            </a:pPr>
            <a:r>
              <a:rPr lang="en-US" sz="1355" b="1" dirty="0">
                <a:solidFill>
                  <a:srgbClr val="22C55E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</a:t>
            </a:r>
            <a:endParaRPr lang="en-US" sz="1355" dirty="0"/>
          </a:p>
        </p:txBody>
      </p:sp>
      <p:sp>
        <p:nvSpPr>
          <p:cNvPr id="18" name="Text 16"/>
          <p:cNvSpPr/>
          <p:nvPr>
            <p:custDataLst>
              <p:tags r:id="rId11"/>
            </p:custDataLst>
          </p:nvPr>
        </p:nvSpPr>
        <p:spPr>
          <a:xfrm>
            <a:off x="1190625" y="3286125"/>
            <a:ext cx="747713" cy="1666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35" b="1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Transitions</a:t>
            </a:r>
            <a:endParaRPr lang="en-US" sz="1035" dirty="0"/>
          </a:p>
        </p:txBody>
      </p:sp>
      <p:sp>
        <p:nvSpPr>
          <p:cNvPr id="19" name="Text 17"/>
          <p:cNvSpPr/>
          <p:nvPr>
            <p:custDataLst>
              <p:tags r:id="rId12"/>
            </p:custDataLst>
          </p:nvPr>
        </p:nvSpPr>
        <p:spPr>
          <a:xfrm>
            <a:off x="1190625" y="3476625"/>
            <a:ext cx="3619500" cy="1476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85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Deterministic — an off-grid move simply keeps the agent in place.</a:t>
            </a:r>
            <a:endParaRPr lang="en-US" sz="785" dirty="0"/>
          </a:p>
        </p:txBody>
      </p:sp>
      <p:sp>
        <p:nvSpPr>
          <p:cNvPr id="20" name="Shape 18"/>
          <p:cNvSpPr/>
          <p:nvPr>
            <p:custDataLst>
              <p:tags r:id="rId13"/>
            </p:custDataLst>
          </p:nvPr>
        </p:nvSpPr>
        <p:spPr>
          <a:xfrm>
            <a:off x="666750" y="3810000"/>
            <a:ext cx="381000" cy="381000"/>
          </a:xfrm>
          <a:prstGeom prst="roundRect">
            <a:avLst>
              <a:gd name="adj" fmla="val 96000"/>
            </a:avLst>
          </a:prstGeom>
          <a:solidFill>
            <a:srgbClr val="1E2C49"/>
          </a:solidFill>
          <a:ln w="9049">
            <a:solidFill>
              <a:srgbClr val="EAB308"/>
            </a:solidFill>
            <a:prstDash val="solid"/>
          </a:ln>
        </p:spPr>
      </p:sp>
      <p:sp>
        <p:nvSpPr>
          <p:cNvPr id="21" name="Text 19"/>
          <p:cNvSpPr/>
          <p:nvPr>
            <p:custDataLst>
              <p:tags r:id="rId14"/>
            </p:custDataLst>
          </p:nvPr>
        </p:nvSpPr>
        <p:spPr>
          <a:xfrm>
            <a:off x="666750" y="3895725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25"/>
              </a:lnSpc>
              <a:buNone/>
            </a:pPr>
            <a:r>
              <a:rPr lang="en-US" sz="1355" b="1" dirty="0">
                <a:solidFill>
                  <a:srgbClr val="EAB308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</a:t>
            </a:r>
            <a:endParaRPr lang="en-US" sz="1355" dirty="0"/>
          </a:p>
        </p:txBody>
      </p:sp>
      <p:sp>
        <p:nvSpPr>
          <p:cNvPr id="22" name="Text 20"/>
          <p:cNvSpPr/>
          <p:nvPr>
            <p:custDataLst>
              <p:tags r:id="rId15"/>
            </p:custDataLst>
          </p:nvPr>
        </p:nvSpPr>
        <p:spPr>
          <a:xfrm>
            <a:off x="1190625" y="3838575"/>
            <a:ext cx="581025" cy="1666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35" b="1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Rewards</a:t>
            </a:r>
            <a:endParaRPr lang="en-US" sz="1035" dirty="0"/>
          </a:p>
        </p:txBody>
      </p:sp>
      <p:sp>
        <p:nvSpPr>
          <p:cNvPr id="23" name="Text 21"/>
          <p:cNvSpPr/>
          <p:nvPr>
            <p:custDataLst>
              <p:tags r:id="rId16"/>
            </p:custDataLst>
          </p:nvPr>
        </p:nvSpPr>
        <p:spPr>
          <a:xfrm>
            <a:off x="1190625" y="4029075"/>
            <a:ext cx="3619500" cy="1476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85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The value of the destination cell drives the reward signal.</a:t>
            </a:r>
            <a:endParaRPr lang="en-US" sz="785" dirty="0"/>
          </a:p>
        </p:txBody>
      </p:sp>
      <p:sp>
        <p:nvSpPr>
          <p:cNvPr id="24" name="Shape 22"/>
          <p:cNvSpPr/>
          <p:nvPr>
            <p:custDataLst>
              <p:tags r:id="rId17"/>
            </p:custDataLst>
          </p:nvPr>
        </p:nvSpPr>
        <p:spPr>
          <a:xfrm>
            <a:off x="666750" y="4362450"/>
            <a:ext cx="381000" cy="381000"/>
          </a:xfrm>
          <a:prstGeom prst="roundRect">
            <a:avLst>
              <a:gd name="adj" fmla="val 96000"/>
            </a:avLst>
          </a:prstGeom>
          <a:solidFill>
            <a:srgbClr val="1E2C49"/>
          </a:solidFill>
          <a:ln w="9049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>
            <p:custDataLst>
              <p:tags r:id="rId18"/>
            </p:custDataLst>
          </p:nvPr>
        </p:nvSpPr>
        <p:spPr>
          <a:xfrm>
            <a:off x="666750" y="4448175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25"/>
              </a:lnSpc>
              <a:buNone/>
            </a:pPr>
            <a:r>
              <a:rPr lang="en-US" sz="1355" b="1" dirty="0">
                <a:solidFill>
                  <a:srgbClr val="38BDF8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γ</a:t>
            </a:r>
            <a:endParaRPr lang="en-US" sz="1355" dirty="0"/>
          </a:p>
        </p:txBody>
      </p:sp>
      <p:sp>
        <p:nvSpPr>
          <p:cNvPr id="26" name="Text 24"/>
          <p:cNvSpPr/>
          <p:nvPr>
            <p:custDataLst>
              <p:tags r:id="rId19"/>
            </p:custDataLst>
          </p:nvPr>
        </p:nvSpPr>
        <p:spPr>
          <a:xfrm>
            <a:off x="1190625" y="4391025"/>
            <a:ext cx="976312" cy="1666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35" b="1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Discount = 0.9</a:t>
            </a:r>
            <a:endParaRPr lang="en-US" sz="1035" dirty="0"/>
          </a:p>
        </p:txBody>
      </p:sp>
      <p:sp>
        <p:nvSpPr>
          <p:cNvPr id="27" name="Text 25"/>
          <p:cNvSpPr/>
          <p:nvPr>
            <p:custDataLst>
              <p:tags r:id="rId20"/>
            </p:custDataLst>
          </p:nvPr>
        </p:nvSpPr>
        <p:spPr>
          <a:xfrm>
            <a:off x="1190625" y="4581525"/>
            <a:ext cx="3619500" cy="1476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85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Future rewards still matter; γ balances immediate vs. long-term.</a:t>
            </a:r>
            <a:endParaRPr lang="en-US" sz="785" dirty="0"/>
          </a:p>
        </p:txBody>
      </p:sp>
      <p:sp>
        <p:nvSpPr>
          <p:cNvPr id="28" name="Shape 26"/>
          <p:cNvSpPr/>
          <p:nvPr/>
        </p:nvSpPr>
        <p:spPr>
          <a:xfrm>
            <a:off x="5619750" y="2152650"/>
            <a:ext cx="2895600" cy="2647950"/>
          </a:xfrm>
          <a:prstGeom prst="roundRect">
            <a:avLst>
              <a:gd name="adj" fmla="val 7597"/>
            </a:avLst>
          </a:prstGeom>
          <a:solidFill>
            <a:srgbClr val="16223B"/>
          </a:solidFill>
          <a:ln w="4524">
            <a:solidFill>
              <a:srgbClr val="2A3B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10250" y="2362200"/>
            <a:ext cx="752475" cy="1190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5"/>
              </a:lnSpc>
              <a:buNone/>
            </a:pPr>
            <a:r>
              <a:rPr lang="en-US" sz="675" kern="0" spc="27" dirty="0">
                <a:solidFill>
                  <a:srgbClr val="F97316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THE OBJECTIVE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5810250" y="2552700"/>
            <a:ext cx="657225" cy="2428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25" b="1" dirty="0">
                <a:solidFill>
                  <a:srgbClr val="EEF3FA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Find π*</a:t>
            </a:r>
            <a:endParaRPr lang="en-US" sz="1425" dirty="0"/>
          </a:p>
        </p:txBody>
      </p:sp>
      <p:sp>
        <p:nvSpPr>
          <p:cNvPr id="31" name="Text 29"/>
          <p:cNvSpPr/>
          <p:nvPr/>
        </p:nvSpPr>
        <p:spPr>
          <a:xfrm>
            <a:off x="5810250" y="2867025"/>
            <a:ext cx="2514600" cy="5000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0"/>
              </a:lnSpc>
              <a:buNone/>
            </a:pPr>
            <a:r>
              <a:rPr lang="en-US" sz="820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Compute the optimal policy π* — the action at every state that maximises expected cumulative reward.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5810250" y="3581400"/>
            <a:ext cx="2514600" cy="571500"/>
          </a:xfrm>
          <a:prstGeom prst="roundRect">
            <a:avLst>
              <a:gd name="adj" fmla="val 22400"/>
            </a:avLst>
          </a:prstGeom>
          <a:solidFill>
            <a:srgbClr val="1E2C49"/>
          </a:solidFill>
          <a:ln w="4524">
            <a:solidFill>
              <a:srgbClr val="2A3B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34075" y="3686175"/>
            <a:ext cx="681038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05" dirty="0">
                <a:solidFill>
                  <a:srgbClr val="93A4C0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OPTIMAL POLICY</a:t>
            </a:r>
            <a:endParaRPr lang="en-US" sz="605" dirty="0"/>
          </a:p>
        </p:txBody>
      </p:sp>
      <p:sp>
        <p:nvSpPr>
          <p:cNvPr id="34" name="Text 32"/>
          <p:cNvSpPr/>
          <p:nvPr/>
        </p:nvSpPr>
        <p:spPr>
          <a:xfrm>
            <a:off x="5934075" y="3848100"/>
            <a:ext cx="2286000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5"/>
              </a:lnSpc>
              <a:buNone/>
            </a:pPr>
            <a:r>
              <a:rPr lang="en-US" sz="890" dirty="0">
                <a:solidFill>
                  <a:srgbClr val="38BDF8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π*(s) = argmax [ R + γ·V(s') ]</a:t>
            </a:r>
            <a:endParaRPr lang="en-US" sz="890" dirty="0"/>
          </a:p>
        </p:txBody>
      </p:sp>
      <p:sp>
        <p:nvSpPr>
          <p:cNvPr id="35" name="Text 33"/>
          <p:cNvSpPr/>
          <p:nvPr/>
        </p:nvSpPr>
        <p:spPr>
          <a:xfrm>
            <a:off x="5810250" y="4324350"/>
            <a:ext cx="2476500" cy="1190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5"/>
              </a:lnSpc>
              <a:buNone/>
            </a:pPr>
            <a:r>
              <a:rPr lang="en-US" sz="750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Solved iteratively with Value Iteration.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38250" y="2857500"/>
            <a:ext cx="3048000" cy="3048000"/>
          </a:xfrm>
          <a:prstGeom prst="ellipse">
            <a:avLst/>
          </a:prstGeom>
          <a:solidFill>
            <a:srgbClr val="38BDF8">
              <a:alpha val="1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858000" y="-1143000"/>
            <a:ext cx="3048000" cy="3048000"/>
          </a:xfrm>
          <a:prstGeom prst="ellipse">
            <a:avLst/>
          </a:prstGeom>
          <a:solidFill>
            <a:srgbClr val="F97316">
              <a:alpha val="1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666750" y="933450"/>
            <a:ext cx="190500" cy="28575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5" name="Text 3"/>
          <p:cNvSpPr/>
          <p:nvPr/>
        </p:nvSpPr>
        <p:spPr>
          <a:xfrm>
            <a:off x="666750" y="1057275"/>
            <a:ext cx="1095375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0"/>
              </a:lnSpc>
              <a:buNone/>
            </a:pPr>
            <a:r>
              <a:rPr lang="en-US" sz="715" kern="0" spc="28" dirty="0">
                <a:solidFill>
                  <a:srgbClr val="38BDF8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06  ·  METHODOLOGY</a:t>
            </a:r>
            <a:endParaRPr lang="en-US" sz="715" dirty="0"/>
          </a:p>
        </p:txBody>
      </p:sp>
      <p:sp>
        <p:nvSpPr>
          <p:cNvPr id="6" name="Text 4"/>
          <p:cNvSpPr/>
          <p:nvPr/>
        </p:nvSpPr>
        <p:spPr>
          <a:xfrm>
            <a:off x="628650" y="1276350"/>
            <a:ext cx="2414588" cy="438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75"/>
              </a:lnSpc>
              <a:buNone/>
            </a:pPr>
            <a:r>
              <a:rPr lang="en-US" sz="2565" b="1" dirty="0">
                <a:solidFill>
                  <a:srgbClr val="EEF3FA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Value Iteration</a:t>
            </a:r>
            <a:endParaRPr lang="en-US" sz="2565" dirty="0"/>
          </a:p>
        </p:txBody>
      </p:sp>
      <p:sp>
        <p:nvSpPr>
          <p:cNvPr id="7" name="Text 5"/>
          <p:cNvSpPr/>
          <p:nvPr/>
        </p:nvSpPr>
        <p:spPr>
          <a:xfrm>
            <a:off x="666750" y="1733550"/>
            <a:ext cx="4286250" cy="1476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925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Repeatedly refine every cell's value until the optimal policy emerges.</a:t>
            </a:r>
            <a:endParaRPr lang="en-US" sz="925" dirty="0"/>
          </a:p>
        </p:txBody>
      </p:sp>
      <p:sp>
        <p:nvSpPr>
          <p:cNvPr id="8" name="Shape 6"/>
          <p:cNvSpPr/>
          <p:nvPr/>
        </p:nvSpPr>
        <p:spPr>
          <a:xfrm>
            <a:off x="776288" y="2200275"/>
            <a:ext cx="9525" cy="2238375"/>
          </a:xfrm>
          <a:prstGeom prst="rect">
            <a:avLst/>
          </a:prstGeom>
          <a:solidFill>
            <a:srgbClr val="2A3B5E"/>
          </a:solidFill>
        </p:spPr>
      </p:sp>
      <p:sp>
        <p:nvSpPr>
          <p:cNvPr id="9" name="Shape 7"/>
          <p:cNvSpPr/>
          <p:nvPr/>
        </p:nvSpPr>
        <p:spPr>
          <a:xfrm>
            <a:off x="666750" y="2095500"/>
            <a:ext cx="228600" cy="228600"/>
          </a:xfrm>
          <a:prstGeom prst="roundRect">
            <a:avLst>
              <a:gd name="adj" fmla="val 96000"/>
            </a:avLst>
          </a:prstGeom>
          <a:solidFill>
            <a:srgbClr val="1E2C49"/>
          </a:solidFill>
          <a:ln w="9049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6750" y="2152650"/>
            <a:ext cx="22860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785" b="1" dirty="0">
                <a:solidFill>
                  <a:srgbClr val="F97316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785" dirty="0"/>
          </a:p>
        </p:txBody>
      </p:sp>
      <p:sp>
        <p:nvSpPr>
          <p:cNvPr id="11" name="Text 9"/>
          <p:cNvSpPr/>
          <p:nvPr/>
        </p:nvSpPr>
        <p:spPr>
          <a:xfrm>
            <a:off x="1019175" y="2138363"/>
            <a:ext cx="295275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90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Initialize every state value V(s) = 0.</a:t>
            </a:r>
            <a:endParaRPr lang="en-US" sz="890" dirty="0"/>
          </a:p>
        </p:txBody>
      </p:sp>
      <p:sp>
        <p:nvSpPr>
          <p:cNvPr id="12" name="Shape 10"/>
          <p:cNvSpPr/>
          <p:nvPr/>
        </p:nvSpPr>
        <p:spPr>
          <a:xfrm>
            <a:off x="666750" y="2543175"/>
            <a:ext cx="228600" cy="228600"/>
          </a:xfrm>
          <a:prstGeom prst="roundRect">
            <a:avLst>
              <a:gd name="adj" fmla="val 96000"/>
            </a:avLst>
          </a:prstGeom>
          <a:solidFill>
            <a:srgbClr val="1E2C49"/>
          </a:solidFill>
          <a:ln w="9049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6750" y="2600325"/>
            <a:ext cx="22860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785" b="1" dirty="0">
                <a:solidFill>
                  <a:srgbClr val="F97316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785" dirty="0"/>
          </a:p>
        </p:txBody>
      </p:sp>
      <p:sp>
        <p:nvSpPr>
          <p:cNvPr id="14" name="Text 12"/>
          <p:cNvSpPr/>
          <p:nvPr/>
        </p:nvSpPr>
        <p:spPr>
          <a:xfrm>
            <a:off x="1019175" y="2586038"/>
            <a:ext cx="295275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90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For each state, evaluate all four actions.</a:t>
            </a:r>
            <a:endParaRPr lang="en-US" sz="890" dirty="0"/>
          </a:p>
        </p:txBody>
      </p:sp>
      <p:sp>
        <p:nvSpPr>
          <p:cNvPr id="15" name="Shape 13"/>
          <p:cNvSpPr/>
          <p:nvPr/>
        </p:nvSpPr>
        <p:spPr>
          <a:xfrm>
            <a:off x="666750" y="2990850"/>
            <a:ext cx="228600" cy="228600"/>
          </a:xfrm>
          <a:prstGeom prst="roundRect">
            <a:avLst>
              <a:gd name="adj" fmla="val 96000"/>
            </a:avLst>
          </a:prstGeom>
          <a:solidFill>
            <a:srgbClr val="1E2C49"/>
          </a:solidFill>
          <a:ln w="9049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6750" y="3048000"/>
            <a:ext cx="22860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785" b="1" dirty="0">
                <a:solidFill>
                  <a:srgbClr val="F97316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785" dirty="0"/>
          </a:p>
        </p:txBody>
      </p:sp>
      <p:sp>
        <p:nvSpPr>
          <p:cNvPr id="17" name="Text 15"/>
          <p:cNvSpPr/>
          <p:nvPr/>
        </p:nvSpPr>
        <p:spPr>
          <a:xfrm>
            <a:off x="1019175" y="3033713"/>
            <a:ext cx="295275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90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Take reward + discounted value of the next cell.</a:t>
            </a:r>
            <a:endParaRPr lang="en-US" sz="890" dirty="0"/>
          </a:p>
        </p:txBody>
      </p:sp>
      <p:sp>
        <p:nvSpPr>
          <p:cNvPr id="18" name="Shape 16"/>
          <p:cNvSpPr/>
          <p:nvPr/>
        </p:nvSpPr>
        <p:spPr>
          <a:xfrm>
            <a:off x="666750" y="3438525"/>
            <a:ext cx="228600" cy="228600"/>
          </a:xfrm>
          <a:prstGeom prst="roundRect">
            <a:avLst>
              <a:gd name="adj" fmla="val 96000"/>
            </a:avLst>
          </a:prstGeom>
          <a:solidFill>
            <a:srgbClr val="1E2C49"/>
          </a:solidFill>
          <a:ln w="9049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6750" y="3495675"/>
            <a:ext cx="22860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785" b="1" dirty="0">
                <a:solidFill>
                  <a:srgbClr val="F97316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785" dirty="0"/>
          </a:p>
        </p:txBody>
      </p:sp>
      <p:sp>
        <p:nvSpPr>
          <p:cNvPr id="20" name="Text 18"/>
          <p:cNvSpPr/>
          <p:nvPr/>
        </p:nvSpPr>
        <p:spPr>
          <a:xfrm>
            <a:off x="1019175" y="3481388"/>
            <a:ext cx="295275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90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Keep the best action's value → update V(s).</a:t>
            </a:r>
            <a:endParaRPr lang="en-US" sz="890" dirty="0"/>
          </a:p>
        </p:txBody>
      </p:sp>
      <p:sp>
        <p:nvSpPr>
          <p:cNvPr id="21" name="Shape 19"/>
          <p:cNvSpPr/>
          <p:nvPr/>
        </p:nvSpPr>
        <p:spPr>
          <a:xfrm>
            <a:off x="666750" y="3886200"/>
            <a:ext cx="228600" cy="228600"/>
          </a:xfrm>
          <a:prstGeom prst="roundRect">
            <a:avLst>
              <a:gd name="adj" fmla="val 96000"/>
            </a:avLst>
          </a:prstGeom>
          <a:solidFill>
            <a:srgbClr val="1E2C49"/>
          </a:solidFill>
          <a:ln w="9049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6750" y="3943350"/>
            <a:ext cx="22860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785" b="1" dirty="0">
                <a:solidFill>
                  <a:srgbClr val="F97316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785" dirty="0"/>
          </a:p>
        </p:txBody>
      </p:sp>
      <p:sp>
        <p:nvSpPr>
          <p:cNvPr id="23" name="Text 21"/>
          <p:cNvSpPr/>
          <p:nvPr/>
        </p:nvSpPr>
        <p:spPr>
          <a:xfrm>
            <a:off x="1019175" y="3929063"/>
            <a:ext cx="295275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90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Record the maximising action as the policy.</a:t>
            </a:r>
            <a:endParaRPr lang="en-US" sz="890" dirty="0"/>
          </a:p>
        </p:txBody>
      </p:sp>
      <p:sp>
        <p:nvSpPr>
          <p:cNvPr id="24" name="Shape 22"/>
          <p:cNvSpPr/>
          <p:nvPr/>
        </p:nvSpPr>
        <p:spPr>
          <a:xfrm>
            <a:off x="666750" y="4333875"/>
            <a:ext cx="228600" cy="228600"/>
          </a:xfrm>
          <a:prstGeom prst="roundRect">
            <a:avLst>
              <a:gd name="adj" fmla="val 96000"/>
            </a:avLst>
          </a:prstGeom>
          <a:solidFill>
            <a:srgbClr val="1E2C49"/>
          </a:solidFill>
          <a:ln w="9049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6750" y="4391025"/>
            <a:ext cx="22860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785" b="1" dirty="0">
                <a:solidFill>
                  <a:srgbClr val="F97316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785" dirty="0"/>
          </a:p>
        </p:txBody>
      </p:sp>
      <p:sp>
        <p:nvSpPr>
          <p:cNvPr id="26" name="Text 24"/>
          <p:cNvSpPr/>
          <p:nvPr/>
        </p:nvSpPr>
        <p:spPr>
          <a:xfrm>
            <a:off x="1019175" y="4376738"/>
            <a:ext cx="295275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90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Repeat 100 sweeps until the values converge.</a:t>
            </a:r>
            <a:endParaRPr lang="en-US" sz="890" dirty="0"/>
          </a:p>
        </p:txBody>
      </p:sp>
      <p:sp>
        <p:nvSpPr>
          <p:cNvPr id="27" name="Shape 25"/>
          <p:cNvSpPr/>
          <p:nvPr/>
        </p:nvSpPr>
        <p:spPr>
          <a:xfrm>
            <a:off x="5476875" y="2095500"/>
            <a:ext cx="3048000" cy="2676525"/>
          </a:xfrm>
          <a:prstGeom prst="roundRect">
            <a:avLst>
              <a:gd name="adj" fmla="val 7516"/>
            </a:avLst>
          </a:prstGeom>
          <a:solidFill>
            <a:srgbClr val="16223B"/>
          </a:solidFill>
          <a:ln w="4524">
            <a:solidFill>
              <a:srgbClr val="2A3B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86425" y="2324100"/>
            <a:ext cx="1028700" cy="1190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5"/>
              </a:lnSpc>
              <a:buNone/>
            </a:pPr>
            <a:r>
              <a:rPr lang="en-US" sz="675" kern="0" spc="20" dirty="0">
                <a:solidFill>
                  <a:srgbClr val="F97316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BELLMAN OPTIMALITY</a:t>
            </a:r>
            <a:endParaRPr lang="en-US" sz="675" dirty="0"/>
          </a:p>
        </p:txBody>
      </p:sp>
      <p:sp>
        <p:nvSpPr>
          <p:cNvPr id="29" name="Shape 27"/>
          <p:cNvSpPr/>
          <p:nvPr/>
        </p:nvSpPr>
        <p:spPr>
          <a:xfrm>
            <a:off x="5686425" y="2619375"/>
            <a:ext cx="2628900" cy="714375"/>
          </a:xfrm>
          <a:prstGeom prst="roundRect">
            <a:avLst>
              <a:gd name="adj" fmla="val 20480"/>
            </a:avLst>
          </a:prstGeom>
          <a:solidFill>
            <a:srgbClr val="1E2C49"/>
          </a:solidFill>
          <a:ln w="4524">
            <a:solidFill>
              <a:srgbClr val="2A3B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76925" y="2809875"/>
            <a:ext cx="519113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0"/>
              </a:lnSpc>
              <a:buNone/>
            </a:pPr>
            <a:r>
              <a:rPr lang="en-US" sz="1070" dirty="0">
                <a:solidFill>
                  <a:srgbClr val="38BDF8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V(s) =</a:t>
            </a:r>
            <a:endParaRPr lang="en-US" sz="1070" dirty="0"/>
          </a:p>
        </p:txBody>
      </p:sp>
      <p:sp>
        <p:nvSpPr>
          <p:cNvPr id="31" name="Text 29"/>
          <p:cNvSpPr/>
          <p:nvPr/>
        </p:nvSpPr>
        <p:spPr>
          <a:xfrm>
            <a:off x="6472238" y="2809875"/>
            <a:ext cx="1809750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0"/>
              </a:lnSpc>
              <a:buNone/>
            </a:pPr>
            <a:r>
              <a:rPr lang="en-US" sz="1070" dirty="0">
                <a:solidFill>
                  <a:srgbClr val="EEF3FA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max [ R + γ·V(s') ]</a:t>
            </a:r>
            <a:endParaRPr lang="en-US" sz="1070" dirty="0"/>
          </a:p>
        </p:txBody>
      </p:sp>
      <p:sp>
        <p:nvSpPr>
          <p:cNvPr id="32" name="Text 30"/>
          <p:cNvSpPr/>
          <p:nvPr/>
        </p:nvSpPr>
        <p:spPr>
          <a:xfrm>
            <a:off x="5876925" y="3076575"/>
            <a:ext cx="1604963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05" dirty="0">
                <a:solidFill>
                  <a:srgbClr val="93A4C0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maximised over the four actions a</a:t>
            </a:r>
            <a:endParaRPr lang="en-US" sz="605" dirty="0"/>
          </a:p>
        </p:txBody>
      </p:sp>
      <p:sp>
        <p:nvSpPr>
          <p:cNvPr id="33" name="Shape 31"/>
          <p:cNvSpPr/>
          <p:nvPr/>
        </p:nvSpPr>
        <p:spPr>
          <a:xfrm>
            <a:off x="5695950" y="3609975"/>
            <a:ext cx="66675" cy="66675"/>
          </a:xfrm>
          <a:prstGeom prst="ellipse">
            <a:avLst/>
          </a:prstGeom>
          <a:solidFill>
            <a:srgbClr val="38BDF8"/>
          </a:solidFill>
        </p:spPr>
      </p:sp>
      <p:sp>
        <p:nvSpPr>
          <p:cNvPr id="34" name="Text 32"/>
          <p:cNvSpPr/>
          <p:nvPr/>
        </p:nvSpPr>
        <p:spPr>
          <a:xfrm>
            <a:off x="5838825" y="3571875"/>
            <a:ext cx="404813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0"/>
              </a:lnSpc>
              <a:buNone/>
            </a:pPr>
            <a:r>
              <a:rPr lang="en-US" sz="925" b="1" dirty="0">
                <a:solidFill>
                  <a:srgbClr val="EEF3FA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γ = 0.9</a:t>
            </a:r>
            <a:endParaRPr lang="en-US" sz="925" dirty="0"/>
          </a:p>
        </p:txBody>
      </p:sp>
      <p:sp>
        <p:nvSpPr>
          <p:cNvPr id="35" name="Text 33"/>
          <p:cNvSpPr/>
          <p:nvPr/>
        </p:nvSpPr>
        <p:spPr>
          <a:xfrm>
            <a:off x="5838825" y="3743325"/>
            <a:ext cx="2381250" cy="1095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675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discount factor — the future counts</a:t>
            </a:r>
            <a:endParaRPr lang="en-US" sz="675" dirty="0"/>
          </a:p>
        </p:txBody>
      </p:sp>
      <p:sp>
        <p:nvSpPr>
          <p:cNvPr id="36" name="Shape 34"/>
          <p:cNvSpPr/>
          <p:nvPr/>
        </p:nvSpPr>
        <p:spPr>
          <a:xfrm>
            <a:off x="5695950" y="3971925"/>
            <a:ext cx="66675" cy="66675"/>
          </a:xfrm>
          <a:prstGeom prst="ellipse">
            <a:avLst/>
          </a:prstGeom>
          <a:solidFill>
            <a:srgbClr val="F97316"/>
          </a:solidFill>
        </p:spPr>
      </p:sp>
      <p:sp>
        <p:nvSpPr>
          <p:cNvPr id="37" name="Text 35"/>
          <p:cNvSpPr/>
          <p:nvPr/>
        </p:nvSpPr>
        <p:spPr>
          <a:xfrm>
            <a:off x="5838825" y="3933825"/>
            <a:ext cx="700088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0"/>
              </a:lnSpc>
              <a:buNone/>
            </a:pPr>
            <a:r>
              <a:rPr lang="en-US" sz="925" b="1" dirty="0">
                <a:solidFill>
                  <a:srgbClr val="EEF3FA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 sweeps</a:t>
            </a:r>
            <a:endParaRPr lang="en-US" sz="925" dirty="0"/>
          </a:p>
        </p:txBody>
      </p:sp>
      <p:sp>
        <p:nvSpPr>
          <p:cNvPr id="38" name="Text 36"/>
          <p:cNvSpPr/>
          <p:nvPr/>
        </p:nvSpPr>
        <p:spPr>
          <a:xfrm>
            <a:off x="5838825" y="4105275"/>
            <a:ext cx="2381250" cy="1095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675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iterations until values stabilise</a:t>
            </a:r>
            <a:endParaRPr lang="en-US" sz="675" dirty="0"/>
          </a:p>
        </p:txBody>
      </p:sp>
      <p:sp>
        <p:nvSpPr>
          <p:cNvPr id="39" name="Shape 37"/>
          <p:cNvSpPr/>
          <p:nvPr/>
        </p:nvSpPr>
        <p:spPr>
          <a:xfrm>
            <a:off x="5695950" y="4333875"/>
            <a:ext cx="66675" cy="66675"/>
          </a:xfrm>
          <a:prstGeom prst="ellipse">
            <a:avLst/>
          </a:prstGeom>
          <a:solidFill>
            <a:srgbClr val="22C55E"/>
          </a:solidFill>
        </p:spPr>
      </p:sp>
      <p:sp>
        <p:nvSpPr>
          <p:cNvPr id="40" name="Text 38"/>
          <p:cNvSpPr/>
          <p:nvPr/>
        </p:nvSpPr>
        <p:spPr>
          <a:xfrm>
            <a:off x="5838825" y="4295775"/>
            <a:ext cx="476250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0"/>
              </a:lnSpc>
              <a:buNone/>
            </a:pPr>
            <a:r>
              <a:rPr lang="en-US" sz="925" b="1" dirty="0">
                <a:solidFill>
                  <a:srgbClr val="EEF3FA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 V*, π*</a:t>
            </a:r>
            <a:endParaRPr lang="en-US" sz="925" dirty="0"/>
          </a:p>
        </p:txBody>
      </p:sp>
      <p:sp>
        <p:nvSpPr>
          <p:cNvPr id="41" name="Text 39"/>
          <p:cNvSpPr/>
          <p:nvPr/>
        </p:nvSpPr>
        <p:spPr>
          <a:xfrm>
            <a:off x="5838825" y="4467225"/>
            <a:ext cx="2381250" cy="1095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675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converges to the optimal policy</a:t>
            </a:r>
            <a:endParaRPr lang="en-US" sz="6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857500"/>
            <a:ext cx="3429000" cy="3429000"/>
          </a:xfrm>
          <a:prstGeom prst="ellipse">
            <a:avLst/>
          </a:prstGeom>
          <a:solidFill>
            <a:srgbClr val="EF4444">
              <a:alpha val="12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238250" y="-1143000"/>
            <a:ext cx="2857500" cy="2857500"/>
          </a:xfrm>
          <a:prstGeom prst="ellipse">
            <a:avLst/>
          </a:prstGeom>
          <a:solidFill>
            <a:srgbClr val="22C55E">
              <a:alpha val="9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666750" y="933450"/>
            <a:ext cx="190500" cy="28575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5" name="Text 3"/>
          <p:cNvSpPr/>
          <p:nvPr/>
        </p:nvSpPr>
        <p:spPr>
          <a:xfrm>
            <a:off x="666750" y="1057275"/>
            <a:ext cx="1033462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0"/>
              </a:lnSpc>
              <a:buNone/>
            </a:pPr>
            <a:r>
              <a:rPr lang="en-US" sz="715" kern="0" spc="28" dirty="0">
                <a:solidFill>
                  <a:srgbClr val="38BDF8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07  ·  INCENTIVES</a:t>
            </a:r>
            <a:endParaRPr lang="en-US" sz="715" dirty="0"/>
          </a:p>
        </p:txBody>
      </p:sp>
      <p:sp>
        <p:nvSpPr>
          <p:cNvPr id="6" name="Text 4"/>
          <p:cNvSpPr/>
          <p:nvPr/>
        </p:nvSpPr>
        <p:spPr>
          <a:xfrm>
            <a:off x="628650" y="1276350"/>
            <a:ext cx="2790825" cy="438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75"/>
              </a:lnSpc>
              <a:buNone/>
            </a:pPr>
            <a:r>
              <a:rPr lang="en-US" sz="2565" b="1" dirty="0">
                <a:solidFill>
                  <a:srgbClr val="EEF3FA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Reward Function</a:t>
            </a:r>
            <a:endParaRPr lang="en-US" sz="2565" dirty="0"/>
          </a:p>
        </p:txBody>
      </p:sp>
      <p:sp>
        <p:nvSpPr>
          <p:cNvPr id="7" name="Text 5"/>
          <p:cNvSpPr/>
          <p:nvPr/>
        </p:nvSpPr>
        <p:spPr>
          <a:xfrm>
            <a:off x="666750" y="1733550"/>
            <a:ext cx="4762500" cy="1476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925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Rewards encode the agent's priorities — efficiency and, above all, safety.</a:t>
            </a:r>
            <a:endParaRPr lang="en-US" sz="925" dirty="0"/>
          </a:p>
        </p:txBody>
      </p:sp>
      <p:sp>
        <p:nvSpPr>
          <p:cNvPr id="8" name="Shape 6"/>
          <p:cNvSpPr/>
          <p:nvPr/>
        </p:nvSpPr>
        <p:spPr>
          <a:xfrm>
            <a:off x="666750" y="2152650"/>
            <a:ext cx="228600" cy="228600"/>
          </a:xfrm>
          <a:prstGeom prst="roundRect">
            <a:avLst/>
          </a:prstGeom>
          <a:solidFill>
            <a:srgbClr val="22C55E"/>
          </a:solidFill>
          <a:ln w="4524">
            <a:solidFill>
              <a:srgbClr val="2A3B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1075" y="2143125"/>
            <a:ext cx="314325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5"/>
              </a:lnSpc>
              <a:buNone/>
            </a:pPr>
            <a:r>
              <a:rPr lang="en-US" sz="1070" b="1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Goal</a:t>
            </a:r>
            <a:endParaRPr lang="en-US" sz="1070" dirty="0"/>
          </a:p>
        </p:txBody>
      </p:sp>
      <p:sp>
        <p:nvSpPr>
          <p:cNvPr id="10" name="Text 8"/>
          <p:cNvSpPr/>
          <p:nvPr/>
        </p:nvSpPr>
        <p:spPr>
          <a:xfrm>
            <a:off x="981075" y="2314575"/>
            <a:ext cx="942975" cy="1095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675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Mission accomplished</a:t>
            </a:r>
            <a:endParaRPr lang="en-US" sz="675" dirty="0"/>
          </a:p>
        </p:txBody>
      </p:sp>
      <p:sp>
        <p:nvSpPr>
          <p:cNvPr id="11" name="Shape 9"/>
          <p:cNvSpPr/>
          <p:nvPr/>
        </p:nvSpPr>
        <p:spPr>
          <a:xfrm>
            <a:off x="2952750" y="2219325"/>
            <a:ext cx="3905250" cy="85725"/>
          </a:xfrm>
          <a:prstGeom prst="roundRect">
            <a:avLst/>
          </a:prstGeom>
          <a:solidFill>
            <a:srgbClr val="1E2C49"/>
          </a:solidFill>
        </p:spPr>
      </p:sp>
      <p:sp>
        <p:nvSpPr>
          <p:cNvPr id="12" name="Shape 10"/>
          <p:cNvSpPr/>
          <p:nvPr/>
        </p:nvSpPr>
        <p:spPr>
          <a:xfrm>
            <a:off x="2952750" y="2219325"/>
            <a:ext cx="3905250" cy="85725"/>
          </a:xfrm>
          <a:prstGeom prst="roundRect">
            <a:avLst/>
          </a:prstGeom>
          <a:solidFill>
            <a:srgbClr val="22C55E"/>
          </a:solidFill>
        </p:spPr>
      </p:sp>
      <p:sp>
        <p:nvSpPr>
          <p:cNvPr id="13" name="Text 11"/>
          <p:cNvSpPr/>
          <p:nvPr/>
        </p:nvSpPr>
        <p:spPr>
          <a:xfrm>
            <a:off x="7048500" y="2143125"/>
            <a:ext cx="1428750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1785"/>
              </a:lnSpc>
              <a:buNone/>
            </a:pPr>
            <a:r>
              <a:rPr lang="en-US" sz="1355" dirty="0">
                <a:solidFill>
                  <a:srgbClr val="22C55E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+100</a:t>
            </a:r>
            <a:endParaRPr lang="en-US" sz="1355" dirty="0"/>
          </a:p>
        </p:txBody>
      </p:sp>
      <p:sp>
        <p:nvSpPr>
          <p:cNvPr id="14" name="Shape 12"/>
          <p:cNvSpPr/>
          <p:nvPr/>
        </p:nvSpPr>
        <p:spPr>
          <a:xfrm>
            <a:off x="666750" y="2686050"/>
            <a:ext cx="228600" cy="228600"/>
          </a:xfrm>
          <a:prstGeom prst="roundRect">
            <a:avLst/>
          </a:prstGeom>
          <a:solidFill>
            <a:srgbClr val="93A4C0"/>
          </a:solidFill>
          <a:ln w="4524">
            <a:solidFill>
              <a:srgbClr val="2A3B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1075" y="2676525"/>
            <a:ext cx="695325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5"/>
              </a:lnSpc>
              <a:buNone/>
            </a:pPr>
            <a:r>
              <a:rPr lang="en-US" sz="1070" b="1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Each Step</a:t>
            </a:r>
            <a:endParaRPr lang="en-US" sz="1070" dirty="0"/>
          </a:p>
        </p:txBody>
      </p:sp>
      <p:sp>
        <p:nvSpPr>
          <p:cNvPr id="16" name="Text 14"/>
          <p:cNvSpPr/>
          <p:nvPr/>
        </p:nvSpPr>
        <p:spPr>
          <a:xfrm>
            <a:off x="981075" y="2847975"/>
            <a:ext cx="957263" cy="1095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675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Time / movement cost</a:t>
            </a:r>
            <a:endParaRPr lang="en-US" sz="675" dirty="0"/>
          </a:p>
        </p:txBody>
      </p:sp>
      <p:sp>
        <p:nvSpPr>
          <p:cNvPr id="17" name="Shape 15"/>
          <p:cNvSpPr/>
          <p:nvPr/>
        </p:nvSpPr>
        <p:spPr>
          <a:xfrm>
            <a:off x="2952750" y="2752725"/>
            <a:ext cx="3905250" cy="85725"/>
          </a:xfrm>
          <a:prstGeom prst="roundRect">
            <a:avLst/>
          </a:prstGeom>
          <a:solidFill>
            <a:srgbClr val="1E2C49"/>
          </a:solidFill>
        </p:spPr>
      </p:sp>
      <p:sp>
        <p:nvSpPr>
          <p:cNvPr id="18" name="Shape 16"/>
          <p:cNvSpPr/>
          <p:nvPr/>
        </p:nvSpPr>
        <p:spPr>
          <a:xfrm>
            <a:off x="2952750" y="2752725"/>
            <a:ext cx="66675" cy="85725"/>
          </a:xfrm>
          <a:prstGeom prst="roundRect">
            <a:avLst/>
          </a:prstGeom>
          <a:solidFill>
            <a:srgbClr val="93A4C0"/>
          </a:solidFill>
        </p:spPr>
      </p:sp>
      <p:sp>
        <p:nvSpPr>
          <p:cNvPr id="19" name="Text 17"/>
          <p:cNvSpPr/>
          <p:nvPr/>
        </p:nvSpPr>
        <p:spPr>
          <a:xfrm>
            <a:off x="7048500" y="2676525"/>
            <a:ext cx="1428750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1785"/>
              </a:lnSpc>
              <a:buNone/>
            </a:pPr>
            <a:r>
              <a:rPr lang="en-US" sz="1355" dirty="0">
                <a:solidFill>
                  <a:srgbClr val="93A4C0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−1</a:t>
            </a:r>
            <a:endParaRPr lang="en-US" sz="1355" dirty="0"/>
          </a:p>
        </p:txBody>
      </p:sp>
      <p:sp>
        <p:nvSpPr>
          <p:cNvPr id="20" name="Shape 18"/>
          <p:cNvSpPr/>
          <p:nvPr/>
        </p:nvSpPr>
        <p:spPr>
          <a:xfrm>
            <a:off x="666750" y="3219450"/>
            <a:ext cx="228600" cy="228600"/>
          </a:xfrm>
          <a:prstGeom prst="roundRect">
            <a:avLst/>
          </a:prstGeom>
          <a:solidFill>
            <a:srgbClr val="EAB308"/>
          </a:solidFill>
          <a:ln w="4524">
            <a:solidFill>
              <a:srgbClr val="2A3B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1075" y="3209925"/>
            <a:ext cx="657225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5"/>
              </a:lnSpc>
              <a:buNone/>
            </a:pPr>
            <a:r>
              <a:rPr lang="en-US" sz="1070" b="1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Gas Zone</a:t>
            </a:r>
            <a:endParaRPr lang="en-US" sz="1070" dirty="0"/>
          </a:p>
        </p:txBody>
      </p:sp>
      <p:sp>
        <p:nvSpPr>
          <p:cNvPr id="22" name="Text 20"/>
          <p:cNvSpPr/>
          <p:nvPr/>
        </p:nvSpPr>
        <p:spPr>
          <a:xfrm>
            <a:off x="981075" y="3381375"/>
            <a:ext cx="1000125" cy="1095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675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Hazardous atmosphere</a:t>
            </a:r>
            <a:endParaRPr lang="en-US" sz="675" dirty="0"/>
          </a:p>
        </p:txBody>
      </p:sp>
      <p:sp>
        <p:nvSpPr>
          <p:cNvPr id="23" name="Shape 21"/>
          <p:cNvSpPr/>
          <p:nvPr/>
        </p:nvSpPr>
        <p:spPr>
          <a:xfrm>
            <a:off x="2952750" y="3286125"/>
            <a:ext cx="3905250" cy="85725"/>
          </a:xfrm>
          <a:prstGeom prst="roundRect">
            <a:avLst/>
          </a:prstGeom>
          <a:solidFill>
            <a:srgbClr val="1E2C49"/>
          </a:solidFill>
        </p:spPr>
      </p:sp>
      <p:sp>
        <p:nvSpPr>
          <p:cNvPr id="24" name="Shape 22"/>
          <p:cNvSpPr/>
          <p:nvPr/>
        </p:nvSpPr>
        <p:spPr>
          <a:xfrm>
            <a:off x="2952750" y="3286125"/>
            <a:ext cx="390525" cy="85725"/>
          </a:xfrm>
          <a:prstGeom prst="roundRect">
            <a:avLst/>
          </a:prstGeom>
          <a:solidFill>
            <a:srgbClr val="EAB308"/>
          </a:solidFill>
        </p:spPr>
      </p:sp>
      <p:sp>
        <p:nvSpPr>
          <p:cNvPr id="25" name="Text 23"/>
          <p:cNvSpPr/>
          <p:nvPr/>
        </p:nvSpPr>
        <p:spPr>
          <a:xfrm>
            <a:off x="7048500" y="3209925"/>
            <a:ext cx="1428750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1785"/>
              </a:lnSpc>
              <a:buNone/>
            </a:pPr>
            <a:r>
              <a:rPr lang="en-US" sz="1355" dirty="0">
                <a:solidFill>
                  <a:srgbClr val="EAB308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−10</a:t>
            </a:r>
            <a:endParaRPr lang="en-US" sz="1355" dirty="0"/>
          </a:p>
        </p:txBody>
      </p:sp>
      <p:sp>
        <p:nvSpPr>
          <p:cNvPr id="26" name="Shape 24"/>
          <p:cNvSpPr/>
          <p:nvPr/>
        </p:nvSpPr>
        <p:spPr>
          <a:xfrm>
            <a:off x="666750" y="3752850"/>
            <a:ext cx="228600" cy="228600"/>
          </a:xfrm>
          <a:prstGeom prst="roundRect">
            <a:avLst/>
          </a:prstGeom>
          <a:solidFill>
            <a:srgbClr val="F97316"/>
          </a:solidFill>
          <a:ln w="4524">
            <a:solidFill>
              <a:srgbClr val="2A3B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1075" y="3743325"/>
            <a:ext cx="714375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5"/>
              </a:lnSpc>
              <a:buNone/>
            </a:pPr>
            <a:r>
              <a:rPr lang="en-US" sz="1070" b="1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Lava Zone</a:t>
            </a:r>
            <a:endParaRPr lang="en-US" sz="1070" dirty="0"/>
          </a:p>
        </p:txBody>
      </p:sp>
      <p:sp>
        <p:nvSpPr>
          <p:cNvPr id="28" name="Text 26"/>
          <p:cNvSpPr/>
          <p:nvPr/>
        </p:nvSpPr>
        <p:spPr>
          <a:xfrm>
            <a:off x="981075" y="3914775"/>
            <a:ext cx="681038" cy="1095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675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Extreme danger</a:t>
            </a:r>
            <a:endParaRPr lang="en-US" sz="675" dirty="0"/>
          </a:p>
        </p:txBody>
      </p:sp>
      <p:sp>
        <p:nvSpPr>
          <p:cNvPr id="29" name="Shape 27"/>
          <p:cNvSpPr/>
          <p:nvPr/>
        </p:nvSpPr>
        <p:spPr>
          <a:xfrm>
            <a:off x="2952750" y="3819525"/>
            <a:ext cx="3905250" cy="85725"/>
          </a:xfrm>
          <a:prstGeom prst="roundRect">
            <a:avLst/>
          </a:prstGeom>
          <a:solidFill>
            <a:srgbClr val="1E2C49"/>
          </a:solidFill>
        </p:spPr>
      </p:sp>
      <p:sp>
        <p:nvSpPr>
          <p:cNvPr id="30" name="Shape 28"/>
          <p:cNvSpPr/>
          <p:nvPr/>
        </p:nvSpPr>
        <p:spPr>
          <a:xfrm>
            <a:off x="2952750" y="3819525"/>
            <a:ext cx="1171575" cy="85725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31" name="Text 29"/>
          <p:cNvSpPr/>
          <p:nvPr/>
        </p:nvSpPr>
        <p:spPr>
          <a:xfrm>
            <a:off x="7048500" y="3743325"/>
            <a:ext cx="1428750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1785"/>
              </a:lnSpc>
              <a:buNone/>
            </a:pPr>
            <a:r>
              <a:rPr lang="en-US" sz="1355" dirty="0">
                <a:solidFill>
                  <a:srgbClr val="F97316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−30</a:t>
            </a:r>
            <a:endParaRPr lang="en-US" sz="1355" dirty="0"/>
          </a:p>
        </p:txBody>
      </p:sp>
      <p:sp>
        <p:nvSpPr>
          <p:cNvPr id="32" name="Shape 30"/>
          <p:cNvSpPr/>
          <p:nvPr/>
        </p:nvSpPr>
        <p:spPr>
          <a:xfrm>
            <a:off x="666750" y="4286250"/>
            <a:ext cx="228600" cy="228600"/>
          </a:xfrm>
          <a:prstGeom prst="roundRect">
            <a:avLst/>
          </a:prstGeom>
          <a:solidFill>
            <a:srgbClr val="EF4444"/>
          </a:solidFill>
          <a:ln w="4524">
            <a:solidFill>
              <a:srgbClr val="2A3B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1075" y="4276725"/>
            <a:ext cx="442913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5"/>
              </a:lnSpc>
              <a:buNone/>
            </a:pPr>
            <a:r>
              <a:rPr lang="en-US" sz="1070" b="1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Crater</a:t>
            </a:r>
            <a:endParaRPr lang="en-US" sz="1070" dirty="0"/>
          </a:p>
        </p:txBody>
      </p:sp>
      <p:sp>
        <p:nvSpPr>
          <p:cNvPr id="34" name="Text 32"/>
          <p:cNvSpPr/>
          <p:nvPr/>
        </p:nvSpPr>
        <p:spPr>
          <a:xfrm>
            <a:off x="981075" y="4448175"/>
            <a:ext cx="1119188" cy="1095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675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Catastrophic — agent lost</a:t>
            </a:r>
            <a:endParaRPr lang="en-US" sz="675" dirty="0"/>
          </a:p>
        </p:txBody>
      </p:sp>
      <p:sp>
        <p:nvSpPr>
          <p:cNvPr id="35" name="Shape 33"/>
          <p:cNvSpPr/>
          <p:nvPr/>
        </p:nvSpPr>
        <p:spPr>
          <a:xfrm>
            <a:off x="2952750" y="4352925"/>
            <a:ext cx="3905250" cy="85725"/>
          </a:xfrm>
          <a:prstGeom prst="roundRect">
            <a:avLst/>
          </a:prstGeom>
          <a:solidFill>
            <a:srgbClr val="1E2C49"/>
          </a:solidFill>
        </p:spPr>
      </p:sp>
      <p:sp>
        <p:nvSpPr>
          <p:cNvPr id="36" name="Shape 34"/>
          <p:cNvSpPr/>
          <p:nvPr/>
        </p:nvSpPr>
        <p:spPr>
          <a:xfrm>
            <a:off x="2952750" y="4352925"/>
            <a:ext cx="3905250" cy="85725"/>
          </a:xfrm>
          <a:prstGeom prst="roundRect">
            <a:avLst/>
          </a:prstGeom>
          <a:solidFill>
            <a:srgbClr val="EF4444"/>
          </a:solidFill>
        </p:spPr>
      </p:sp>
      <p:sp>
        <p:nvSpPr>
          <p:cNvPr id="37" name="Text 35"/>
          <p:cNvSpPr/>
          <p:nvPr/>
        </p:nvSpPr>
        <p:spPr>
          <a:xfrm>
            <a:off x="7048500" y="4276725"/>
            <a:ext cx="1428750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1785"/>
              </a:lnSpc>
              <a:buNone/>
            </a:pPr>
            <a:r>
              <a:rPr lang="en-US" sz="1355" dirty="0">
                <a:solidFill>
                  <a:srgbClr val="EF4444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−100</a:t>
            </a:r>
            <a:endParaRPr lang="en-US" sz="135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143000"/>
            <a:ext cx="3048000" cy="3048000"/>
          </a:xfrm>
          <a:prstGeom prst="ellipse">
            <a:avLst/>
          </a:prstGeom>
          <a:solidFill>
            <a:srgbClr val="38BDF8">
              <a:alpha val="9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238250" y="3048000"/>
            <a:ext cx="2952750" cy="2952750"/>
          </a:xfrm>
          <a:prstGeom prst="ellipse">
            <a:avLst/>
          </a:prstGeom>
          <a:solidFill>
            <a:srgbClr val="F97316">
              <a:alpha val="1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666750" y="933450"/>
            <a:ext cx="190500" cy="28575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5" name="Text 3"/>
          <p:cNvSpPr/>
          <p:nvPr/>
        </p:nvSpPr>
        <p:spPr>
          <a:xfrm>
            <a:off x="666750" y="1057275"/>
            <a:ext cx="1157288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0"/>
              </a:lnSpc>
              <a:buNone/>
            </a:pPr>
            <a:r>
              <a:rPr lang="en-US" sz="715" kern="0" spc="28" dirty="0">
                <a:solidFill>
                  <a:srgbClr val="38BDF8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08  ·  ARCHITECTURE</a:t>
            </a:r>
            <a:endParaRPr lang="en-US" sz="715" dirty="0"/>
          </a:p>
        </p:txBody>
      </p:sp>
      <p:sp>
        <p:nvSpPr>
          <p:cNvPr id="6" name="Text 4"/>
          <p:cNvSpPr/>
          <p:nvPr/>
        </p:nvSpPr>
        <p:spPr>
          <a:xfrm>
            <a:off x="628650" y="1276350"/>
            <a:ext cx="3409950" cy="438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75"/>
              </a:lnSpc>
              <a:buNone/>
            </a:pPr>
            <a:r>
              <a:rPr lang="en-US" sz="2565" b="1" dirty="0">
                <a:solidFill>
                  <a:srgbClr val="EEF3FA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System Architecture</a:t>
            </a:r>
            <a:endParaRPr lang="en-US" sz="2565" dirty="0"/>
          </a:p>
        </p:txBody>
      </p:sp>
      <p:sp>
        <p:nvSpPr>
          <p:cNvPr id="7" name="Shape 5"/>
          <p:cNvSpPr/>
          <p:nvPr/>
        </p:nvSpPr>
        <p:spPr>
          <a:xfrm>
            <a:off x="666750" y="1924050"/>
            <a:ext cx="7810500" cy="457200"/>
          </a:xfrm>
          <a:prstGeom prst="roundRect">
            <a:avLst>
              <a:gd name="adj" fmla="val 32000"/>
            </a:avLst>
          </a:prstGeom>
          <a:solidFill>
            <a:srgbClr val="16223B"/>
          </a:solidFill>
          <a:ln w="6787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2047875"/>
            <a:ext cx="209550" cy="209550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9" name="Text 7"/>
          <p:cNvSpPr/>
          <p:nvPr/>
        </p:nvSpPr>
        <p:spPr>
          <a:xfrm>
            <a:off x="1104900" y="2019300"/>
            <a:ext cx="523875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25" dirty="0">
                <a:solidFill>
                  <a:srgbClr val="F97316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main.py</a:t>
            </a:r>
            <a:endParaRPr lang="en-US" sz="925" dirty="0"/>
          </a:p>
        </p:txBody>
      </p:sp>
      <p:sp>
        <p:nvSpPr>
          <p:cNvPr id="10" name="Text 8"/>
          <p:cNvSpPr/>
          <p:nvPr/>
        </p:nvSpPr>
        <p:spPr>
          <a:xfrm>
            <a:off x="1104900" y="2190750"/>
            <a:ext cx="2162175" cy="1190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5"/>
              </a:lnSpc>
              <a:buNone/>
            </a:pPr>
            <a:r>
              <a:rPr lang="en-US" sz="750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Entry point — orchestrates the pipeline below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667625" y="2105025"/>
            <a:ext cx="714375" cy="1095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820"/>
              </a:lnSpc>
              <a:buNone/>
            </a:pPr>
            <a:r>
              <a:rPr lang="en-US" sz="675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restart loop</a:t>
            </a:r>
            <a:endParaRPr lang="en-US" sz="675" dirty="0"/>
          </a:p>
        </p:txBody>
      </p:sp>
      <p:sp>
        <p:nvSpPr>
          <p:cNvPr id="12" name="Shape 10"/>
          <p:cNvSpPr/>
          <p:nvPr/>
        </p:nvSpPr>
        <p:spPr>
          <a:xfrm>
            <a:off x="666750" y="2724150"/>
            <a:ext cx="1466850" cy="1428750"/>
          </a:xfrm>
          <a:prstGeom prst="roundRect">
            <a:avLst>
              <a:gd name="adj" fmla="val 10240"/>
            </a:avLst>
          </a:prstGeom>
          <a:solidFill>
            <a:srgbClr val="16223B"/>
          </a:solidFill>
          <a:ln w="4524">
            <a:solidFill>
              <a:srgbClr val="2A3B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0575" y="2857500"/>
            <a:ext cx="190500" cy="190500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14" name="Text 12"/>
          <p:cNvSpPr/>
          <p:nvPr/>
        </p:nvSpPr>
        <p:spPr>
          <a:xfrm>
            <a:off x="1038225" y="2895600"/>
            <a:ext cx="595313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20" dirty="0">
                <a:solidFill>
                  <a:srgbClr val="38BDF8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config.py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755650" y="3181350"/>
            <a:ext cx="1343025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buNone/>
            </a:pPr>
            <a:r>
              <a:rPr lang="en-US" sz="640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GRID_SIZE · ACTIONS · GAMMA · REWARDS</a:t>
            </a:r>
            <a:endParaRPr lang="en-US" sz="640" dirty="0"/>
          </a:p>
        </p:txBody>
      </p:sp>
      <p:sp>
        <p:nvSpPr>
          <p:cNvPr id="16" name="Shape 14"/>
          <p:cNvSpPr/>
          <p:nvPr/>
        </p:nvSpPr>
        <p:spPr>
          <a:xfrm>
            <a:off x="790575" y="3590925"/>
            <a:ext cx="1219200" cy="4763"/>
          </a:xfrm>
          <a:prstGeom prst="rect">
            <a:avLst/>
          </a:prstGeom>
          <a:solidFill>
            <a:srgbClr val="2A3B5E"/>
          </a:solidFill>
        </p:spPr>
      </p:sp>
      <p:sp>
        <p:nvSpPr>
          <p:cNvPr id="17" name="Text 15"/>
          <p:cNvSpPr/>
          <p:nvPr/>
        </p:nvSpPr>
        <p:spPr>
          <a:xfrm>
            <a:off x="790575" y="3695700"/>
            <a:ext cx="1219200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675" dirty="0">
                <a:solidFill>
                  <a:srgbClr val="CCD9ED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Single source of truth for all settings.</a:t>
            </a:r>
            <a:endParaRPr lang="en-US" sz="675" dirty="0"/>
          </a:p>
        </p:txBody>
      </p:sp>
      <p:sp>
        <p:nvSpPr>
          <p:cNvPr id="18" name="Text 16"/>
          <p:cNvSpPr/>
          <p:nvPr>
            <p:custDataLst>
              <p:tags r:id="rId1"/>
            </p:custDataLst>
          </p:nvPr>
        </p:nvSpPr>
        <p:spPr>
          <a:xfrm>
            <a:off x="2122170" y="3333750"/>
            <a:ext cx="133350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5"/>
              </a:lnSpc>
              <a:buNone/>
            </a:pPr>
            <a:r>
              <a:rPr lang="en-US" sz="1070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1070" dirty="0"/>
          </a:p>
        </p:txBody>
      </p:sp>
      <p:sp>
        <p:nvSpPr>
          <p:cNvPr id="19" name="Shape 17"/>
          <p:cNvSpPr/>
          <p:nvPr>
            <p:custDataLst>
              <p:tags r:id="rId2"/>
            </p:custDataLst>
          </p:nvPr>
        </p:nvSpPr>
        <p:spPr>
          <a:xfrm>
            <a:off x="2247900" y="2724150"/>
            <a:ext cx="1466850" cy="1428750"/>
          </a:xfrm>
          <a:prstGeom prst="roundRect">
            <a:avLst>
              <a:gd name="adj" fmla="val 10240"/>
            </a:avLst>
          </a:prstGeom>
          <a:solidFill>
            <a:srgbClr val="16223B"/>
          </a:solidFill>
          <a:ln w="4524">
            <a:solidFill>
              <a:srgbClr val="2A3B5E"/>
            </a:solidFill>
            <a:prstDash val="solid"/>
          </a:ln>
        </p:spPr>
      </p:sp>
      <p:sp>
        <p:nvSpPr>
          <p:cNvPr id="20" name="Shape 18"/>
          <p:cNvSpPr/>
          <p:nvPr>
            <p:custDataLst>
              <p:tags r:id="rId3"/>
            </p:custDataLst>
          </p:nvPr>
        </p:nvSpPr>
        <p:spPr>
          <a:xfrm>
            <a:off x="2371725" y="2857500"/>
            <a:ext cx="190500" cy="190500"/>
          </a:xfrm>
          <a:prstGeom prst="roundRect">
            <a:avLst/>
          </a:prstGeom>
          <a:solidFill>
            <a:srgbClr val="22C55E"/>
          </a:solidFill>
        </p:spPr>
      </p:sp>
      <p:sp>
        <p:nvSpPr>
          <p:cNvPr id="21" name="Text 19"/>
          <p:cNvSpPr/>
          <p:nvPr>
            <p:custDataLst>
              <p:tags r:id="rId4"/>
            </p:custDataLst>
          </p:nvPr>
        </p:nvSpPr>
        <p:spPr>
          <a:xfrm>
            <a:off x="2619375" y="2895600"/>
            <a:ext cx="79057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20" dirty="0">
                <a:solidFill>
                  <a:srgbClr val="22C55E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environment/</a:t>
            </a:r>
            <a:endParaRPr lang="en-US" sz="820" dirty="0"/>
          </a:p>
        </p:txBody>
      </p:sp>
      <p:sp>
        <p:nvSpPr>
          <p:cNvPr id="22" name="Text 20"/>
          <p:cNvSpPr/>
          <p:nvPr>
            <p:custDataLst>
              <p:tags r:id="rId5"/>
            </p:custDataLst>
          </p:nvPr>
        </p:nvSpPr>
        <p:spPr>
          <a:xfrm>
            <a:off x="2371725" y="3181350"/>
            <a:ext cx="12192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buNone/>
            </a:pPr>
            <a:r>
              <a:rPr lang="en-US" sz="640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grid_world.py · hazards.py</a:t>
            </a:r>
            <a:endParaRPr lang="en-US" sz="640" dirty="0"/>
          </a:p>
        </p:txBody>
      </p:sp>
      <p:sp>
        <p:nvSpPr>
          <p:cNvPr id="23" name="Shape 21"/>
          <p:cNvSpPr/>
          <p:nvPr>
            <p:custDataLst>
              <p:tags r:id="rId6"/>
            </p:custDataLst>
          </p:nvPr>
        </p:nvSpPr>
        <p:spPr>
          <a:xfrm>
            <a:off x="2371725" y="3590925"/>
            <a:ext cx="1219200" cy="4763"/>
          </a:xfrm>
          <a:prstGeom prst="rect">
            <a:avLst/>
          </a:prstGeom>
          <a:solidFill>
            <a:srgbClr val="2A3B5E"/>
          </a:solidFill>
        </p:spPr>
      </p:sp>
      <p:sp>
        <p:nvSpPr>
          <p:cNvPr id="24" name="Text 22"/>
          <p:cNvSpPr/>
          <p:nvPr>
            <p:custDataLst>
              <p:tags r:id="rId7"/>
            </p:custDataLst>
          </p:nvPr>
        </p:nvSpPr>
        <p:spPr>
          <a:xfrm>
            <a:off x="2371725" y="3695700"/>
            <a:ext cx="1219200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675" dirty="0">
                <a:solidFill>
                  <a:srgbClr val="CCD9ED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Builds the 10×10 world and its hazards.</a:t>
            </a:r>
            <a:endParaRPr lang="en-US" sz="675" dirty="0"/>
          </a:p>
        </p:txBody>
      </p:sp>
      <p:sp>
        <p:nvSpPr>
          <p:cNvPr id="25" name="Text 23"/>
          <p:cNvSpPr/>
          <p:nvPr>
            <p:custDataLst>
              <p:tags r:id="rId8"/>
            </p:custDataLst>
          </p:nvPr>
        </p:nvSpPr>
        <p:spPr>
          <a:xfrm>
            <a:off x="3705225" y="3333750"/>
            <a:ext cx="133350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5"/>
              </a:lnSpc>
              <a:buNone/>
            </a:pPr>
            <a:r>
              <a:rPr lang="en-US" sz="1070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1070" dirty="0"/>
          </a:p>
        </p:txBody>
      </p:sp>
      <p:sp>
        <p:nvSpPr>
          <p:cNvPr id="26" name="Shape 24"/>
          <p:cNvSpPr/>
          <p:nvPr>
            <p:custDataLst>
              <p:tags r:id="rId9"/>
            </p:custDataLst>
          </p:nvPr>
        </p:nvSpPr>
        <p:spPr>
          <a:xfrm>
            <a:off x="3829050" y="2724150"/>
            <a:ext cx="1466850" cy="1428750"/>
          </a:xfrm>
          <a:prstGeom prst="roundRect">
            <a:avLst>
              <a:gd name="adj" fmla="val 10240"/>
            </a:avLst>
          </a:prstGeom>
          <a:solidFill>
            <a:srgbClr val="16223B"/>
          </a:solidFill>
          <a:ln w="4524">
            <a:solidFill>
              <a:srgbClr val="2A3B5E"/>
            </a:solidFill>
            <a:prstDash val="solid"/>
          </a:ln>
        </p:spPr>
      </p:sp>
      <p:sp>
        <p:nvSpPr>
          <p:cNvPr id="27" name="Shape 25"/>
          <p:cNvSpPr/>
          <p:nvPr>
            <p:custDataLst>
              <p:tags r:id="rId10"/>
            </p:custDataLst>
          </p:nvPr>
        </p:nvSpPr>
        <p:spPr>
          <a:xfrm>
            <a:off x="3952875" y="2857500"/>
            <a:ext cx="190500" cy="190500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28" name="Text 26"/>
          <p:cNvSpPr/>
          <p:nvPr>
            <p:custDataLst>
              <p:tags r:id="rId11"/>
            </p:custDataLst>
          </p:nvPr>
        </p:nvSpPr>
        <p:spPr>
          <a:xfrm>
            <a:off x="4200525" y="2895600"/>
            <a:ext cx="26670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20" dirty="0">
                <a:solidFill>
                  <a:srgbClr val="F97316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mdp/</a:t>
            </a:r>
            <a:endParaRPr lang="en-US" sz="820" dirty="0"/>
          </a:p>
        </p:txBody>
      </p:sp>
      <p:sp>
        <p:nvSpPr>
          <p:cNvPr id="29" name="Text 27"/>
          <p:cNvSpPr/>
          <p:nvPr>
            <p:custDataLst>
              <p:tags r:id="rId12"/>
            </p:custDataLst>
          </p:nvPr>
        </p:nvSpPr>
        <p:spPr>
          <a:xfrm>
            <a:off x="3952875" y="3181350"/>
            <a:ext cx="12192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buNone/>
            </a:pPr>
            <a:r>
              <a:rPr lang="en-US" sz="640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mdp_solver.py</a:t>
            </a:r>
            <a:endParaRPr lang="en-US" sz="640" dirty="0"/>
          </a:p>
        </p:txBody>
      </p:sp>
      <p:sp>
        <p:nvSpPr>
          <p:cNvPr id="30" name="Shape 28"/>
          <p:cNvSpPr/>
          <p:nvPr>
            <p:custDataLst>
              <p:tags r:id="rId13"/>
            </p:custDataLst>
          </p:nvPr>
        </p:nvSpPr>
        <p:spPr>
          <a:xfrm>
            <a:off x="3952875" y="3590925"/>
            <a:ext cx="1219200" cy="4763"/>
          </a:xfrm>
          <a:prstGeom prst="rect">
            <a:avLst/>
          </a:prstGeom>
          <a:solidFill>
            <a:srgbClr val="2A3B5E"/>
          </a:solidFill>
        </p:spPr>
      </p:sp>
      <p:sp>
        <p:nvSpPr>
          <p:cNvPr id="31" name="Text 29"/>
          <p:cNvSpPr/>
          <p:nvPr>
            <p:custDataLst>
              <p:tags r:id="rId14"/>
            </p:custDataLst>
          </p:nvPr>
        </p:nvSpPr>
        <p:spPr>
          <a:xfrm>
            <a:off x="3952875" y="3695700"/>
            <a:ext cx="1219200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675" dirty="0">
                <a:solidFill>
                  <a:srgbClr val="CCD9ED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Value Iteration → optimal V* and π*.</a:t>
            </a:r>
            <a:endParaRPr lang="en-US" sz="675" dirty="0"/>
          </a:p>
        </p:txBody>
      </p:sp>
      <p:sp>
        <p:nvSpPr>
          <p:cNvPr id="32" name="Text 30"/>
          <p:cNvSpPr/>
          <p:nvPr>
            <p:custDataLst>
              <p:tags r:id="rId15"/>
            </p:custDataLst>
          </p:nvPr>
        </p:nvSpPr>
        <p:spPr>
          <a:xfrm>
            <a:off x="5286375" y="3333750"/>
            <a:ext cx="133350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5"/>
              </a:lnSpc>
              <a:buNone/>
            </a:pPr>
            <a:r>
              <a:rPr lang="en-US" sz="1070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1070" dirty="0"/>
          </a:p>
        </p:txBody>
      </p:sp>
      <p:sp>
        <p:nvSpPr>
          <p:cNvPr id="33" name="Shape 31"/>
          <p:cNvSpPr/>
          <p:nvPr>
            <p:custDataLst>
              <p:tags r:id="rId16"/>
            </p:custDataLst>
          </p:nvPr>
        </p:nvSpPr>
        <p:spPr>
          <a:xfrm>
            <a:off x="5410200" y="2724150"/>
            <a:ext cx="1466850" cy="1428750"/>
          </a:xfrm>
          <a:prstGeom prst="roundRect">
            <a:avLst>
              <a:gd name="adj" fmla="val 10240"/>
            </a:avLst>
          </a:prstGeom>
          <a:solidFill>
            <a:srgbClr val="16223B"/>
          </a:solidFill>
          <a:ln w="4524">
            <a:solidFill>
              <a:srgbClr val="2A3B5E"/>
            </a:solidFill>
            <a:prstDash val="solid"/>
          </a:ln>
        </p:spPr>
      </p:sp>
      <p:sp>
        <p:nvSpPr>
          <p:cNvPr id="34" name="Shape 32"/>
          <p:cNvSpPr/>
          <p:nvPr>
            <p:custDataLst>
              <p:tags r:id="rId17"/>
            </p:custDataLst>
          </p:nvPr>
        </p:nvSpPr>
        <p:spPr>
          <a:xfrm>
            <a:off x="5534025" y="2857500"/>
            <a:ext cx="190500" cy="190500"/>
          </a:xfrm>
          <a:prstGeom prst="roundRect">
            <a:avLst/>
          </a:prstGeom>
          <a:solidFill>
            <a:srgbClr val="EAB308"/>
          </a:solidFill>
        </p:spPr>
      </p:sp>
      <p:sp>
        <p:nvSpPr>
          <p:cNvPr id="35" name="Text 33"/>
          <p:cNvSpPr/>
          <p:nvPr>
            <p:custDataLst>
              <p:tags r:id="rId18"/>
            </p:custDataLst>
          </p:nvPr>
        </p:nvSpPr>
        <p:spPr>
          <a:xfrm>
            <a:off x="5781675" y="2895600"/>
            <a:ext cx="39528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20" dirty="0">
                <a:solidFill>
                  <a:srgbClr val="EAB308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agent/</a:t>
            </a:r>
            <a:endParaRPr lang="en-US" sz="820" dirty="0"/>
          </a:p>
        </p:txBody>
      </p:sp>
      <p:sp>
        <p:nvSpPr>
          <p:cNvPr id="36" name="Text 34"/>
          <p:cNvSpPr/>
          <p:nvPr>
            <p:custDataLst>
              <p:tags r:id="rId19"/>
            </p:custDataLst>
          </p:nvPr>
        </p:nvSpPr>
        <p:spPr>
          <a:xfrm>
            <a:off x="5534025" y="3181350"/>
            <a:ext cx="12192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buNone/>
            </a:pPr>
            <a:r>
              <a:rPr lang="en-US" sz="640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explorer.py</a:t>
            </a:r>
            <a:endParaRPr lang="en-US" sz="640" dirty="0"/>
          </a:p>
        </p:txBody>
      </p:sp>
      <p:sp>
        <p:nvSpPr>
          <p:cNvPr id="37" name="Shape 35"/>
          <p:cNvSpPr/>
          <p:nvPr>
            <p:custDataLst>
              <p:tags r:id="rId20"/>
            </p:custDataLst>
          </p:nvPr>
        </p:nvSpPr>
        <p:spPr>
          <a:xfrm>
            <a:off x="5534025" y="3590925"/>
            <a:ext cx="1219200" cy="4763"/>
          </a:xfrm>
          <a:prstGeom prst="rect">
            <a:avLst/>
          </a:prstGeom>
          <a:solidFill>
            <a:srgbClr val="2A3B5E"/>
          </a:solidFill>
        </p:spPr>
      </p:sp>
      <p:sp>
        <p:nvSpPr>
          <p:cNvPr id="38" name="Text 36"/>
          <p:cNvSpPr/>
          <p:nvPr>
            <p:custDataLst>
              <p:tags r:id="rId21"/>
            </p:custDataLst>
          </p:nvPr>
        </p:nvSpPr>
        <p:spPr>
          <a:xfrm>
            <a:off x="5534025" y="3695700"/>
            <a:ext cx="1219200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675" dirty="0">
                <a:solidFill>
                  <a:srgbClr val="CCD9ED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Follows the policy from start to goal.</a:t>
            </a:r>
            <a:endParaRPr lang="en-US" sz="675" dirty="0"/>
          </a:p>
        </p:txBody>
      </p:sp>
      <p:sp>
        <p:nvSpPr>
          <p:cNvPr id="39" name="Text 37"/>
          <p:cNvSpPr/>
          <p:nvPr>
            <p:custDataLst>
              <p:tags r:id="rId22"/>
            </p:custDataLst>
          </p:nvPr>
        </p:nvSpPr>
        <p:spPr>
          <a:xfrm>
            <a:off x="6865620" y="3333750"/>
            <a:ext cx="133350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5"/>
              </a:lnSpc>
              <a:buNone/>
            </a:pPr>
            <a:r>
              <a:rPr lang="en-US" sz="1070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→</a:t>
            </a:r>
            <a:endParaRPr lang="en-US" sz="1070" dirty="0"/>
          </a:p>
        </p:txBody>
      </p:sp>
      <p:sp>
        <p:nvSpPr>
          <p:cNvPr id="40" name="Shape 38"/>
          <p:cNvSpPr/>
          <p:nvPr>
            <p:custDataLst>
              <p:tags r:id="rId23"/>
            </p:custDataLst>
          </p:nvPr>
        </p:nvSpPr>
        <p:spPr>
          <a:xfrm>
            <a:off x="6991350" y="2724150"/>
            <a:ext cx="1466850" cy="1428750"/>
          </a:xfrm>
          <a:prstGeom prst="roundRect">
            <a:avLst>
              <a:gd name="adj" fmla="val 10240"/>
            </a:avLst>
          </a:prstGeom>
          <a:solidFill>
            <a:srgbClr val="16223B"/>
          </a:solidFill>
          <a:ln w="4524">
            <a:solidFill>
              <a:srgbClr val="2A3B5E"/>
            </a:solidFill>
            <a:prstDash val="solid"/>
          </a:ln>
        </p:spPr>
      </p:sp>
      <p:sp>
        <p:nvSpPr>
          <p:cNvPr id="41" name="Shape 39"/>
          <p:cNvSpPr/>
          <p:nvPr>
            <p:custDataLst>
              <p:tags r:id="rId24"/>
            </p:custDataLst>
          </p:nvPr>
        </p:nvSpPr>
        <p:spPr>
          <a:xfrm>
            <a:off x="7115175" y="2857500"/>
            <a:ext cx="190500" cy="190500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42" name="Text 40"/>
          <p:cNvSpPr/>
          <p:nvPr>
            <p:custDataLst>
              <p:tags r:id="rId25"/>
            </p:custDataLst>
          </p:nvPr>
        </p:nvSpPr>
        <p:spPr>
          <a:xfrm>
            <a:off x="7362825" y="2895600"/>
            <a:ext cx="39528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20" dirty="0">
                <a:solidFill>
                  <a:srgbClr val="38BDF8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utils/</a:t>
            </a:r>
            <a:endParaRPr lang="en-US" sz="820" dirty="0"/>
          </a:p>
        </p:txBody>
      </p:sp>
      <p:sp>
        <p:nvSpPr>
          <p:cNvPr id="43" name="Text 41"/>
          <p:cNvSpPr/>
          <p:nvPr>
            <p:custDataLst>
              <p:tags r:id="rId26"/>
            </p:custDataLst>
          </p:nvPr>
        </p:nvSpPr>
        <p:spPr>
          <a:xfrm>
            <a:off x="7115175" y="3181350"/>
            <a:ext cx="121920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buNone/>
            </a:pPr>
            <a:r>
              <a:rPr lang="en-US" sz="640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visualization.py</a:t>
            </a:r>
            <a:endParaRPr lang="en-US" sz="640" dirty="0"/>
          </a:p>
        </p:txBody>
      </p:sp>
      <p:sp>
        <p:nvSpPr>
          <p:cNvPr id="44" name="Shape 42"/>
          <p:cNvSpPr/>
          <p:nvPr>
            <p:custDataLst>
              <p:tags r:id="rId27"/>
            </p:custDataLst>
          </p:nvPr>
        </p:nvSpPr>
        <p:spPr>
          <a:xfrm>
            <a:off x="7115175" y="3590925"/>
            <a:ext cx="1219200" cy="4763"/>
          </a:xfrm>
          <a:prstGeom prst="rect">
            <a:avLst/>
          </a:prstGeom>
          <a:solidFill>
            <a:srgbClr val="2A3B5E"/>
          </a:solidFill>
        </p:spPr>
      </p:sp>
      <p:sp>
        <p:nvSpPr>
          <p:cNvPr id="45" name="Text 43"/>
          <p:cNvSpPr/>
          <p:nvPr>
            <p:custDataLst>
              <p:tags r:id="rId28"/>
            </p:custDataLst>
          </p:nvPr>
        </p:nvSpPr>
        <p:spPr>
          <a:xfrm>
            <a:off x="7115175" y="3695700"/>
            <a:ext cx="1219200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675" dirty="0">
                <a:solidFill>
                  <a:srgbClr val="CCD9ED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Renders grid, heatmap and animation.</a:t>
            </a:r>
            <a:endParaRPr lang="en-US" sz="675" dirty="0"/>
          </a:p>
        </p:txBody>
      </p:sp>
      <p:sp>
        <p:nvSpPr>
          <p:cNvPr id="46" name="Text 44"/>
          <p:cNvSpPr/>
          <p:nvPr/>
        </p:nvSpPr>
        <p:spPr>
          <a:xfrm>
            <a:off x="666750" y="4343400"/>
            <a:ext cx="4862513" cy="1190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5"/>
              </a:lnSpc>
              <a:buNone/>
            </a:pPr>
            <a:r>
              <a:rPr lang="en-US" sz="675" kern="0" spc="14" dirty="0">
                <a:solidFill>
                  <a:srgbClr val="93A4C0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DATA FLOW   ·   config.py  →  environment  →  mdp_solver  →  agent  →  visualization</a:t>
            </a:r>
            <a:endParaRPr lang="en-US" sz="6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38250" y="-1047750"/>
            <a:ext cx="2857500" cy="2857500"/>
          </a:xfrm>
          <a:prstGeom prst="ellipse">
            <a:avLst/>
          </a:prstGeom>
          <a:solidFill>
            <a:srgbClr val="F97316">
              <a:alpha val="1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953250" y="2952750"/>
            <a:ext cx="3333750" cy="3333750"/>
          </a:xfrm>
          <a:prstGeom prst="ellipse">
            <a:avLst/>
          </a:prstGeom>
          <a:solidFill>
            <a:srgbClr val="38BDF8">
              <a:alpha val="9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666750" y="933450"/>
            <a:ext cx="190500" cy="28575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5" name="Text 3"/>
          <p:cNvSpPr/>
          <p:nvPr/>
        </p:nvSpPr>
        <p:spPr>
          <a:xfrm>
            <a:off x="666750" y="1057275"/>
            <a:ext cx="671513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0"/>
              </a:lnSpc>
              <a:buNone/>
            </a:pPr>
            <a:r>
              <a:rPr lang="en-US" sz="715" kern="0" spc="28" dirty="0">
                <a:solidFill>
                  <a:srgbClr val="38BDF8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09  ·  CODE</a:t>
            </a:r>
            <a:endParaRPr lang="en-US" sz="715" dirty="0"/>
          </a:p>
        </p:txBody>
      </p:sp>
      <p:sp>
        <p:nvSpPr>
          <p:cNvPr id="6" name="Text 4"/>
          <p:cNvSpPr/>
          <p:nvPr/>
        </p:nvSpPr>
        <p:spPr>
          <a:xfrm>
            <a:off x="628650" y="1276350"/>
            <a:ext cx="2600325" cy="438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75"/>
              </a:lnSpc>
              <a:buNone/>
            </a:pPr>
            <a:r>
              <a:rPr lang="en-US" sz="2565" b="1" dirty="0">
                <a:solidFill>
                  <a:srgbClr val="EEF3FA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Implementation</a:t>
            </a:r>
            <a:endParaRPr lang="en-US" sz="2565" dirty="0"/>
          </a:p>
        </p:txBody>
      </p:sp>
      <p:sp>
        <p:nvSpPr>
          <p:cNvPr id="7" name="Shape 5"/>
          <p:cNvSpPr/>
          <p:nvPr/>
        </p:nvSpPr>
        <p:spPr>
          <a:xfrm>
            <a:off x="666750" y="1924050"/>
            <a:ext cx="4762500" cy="2857500"/>
          </a:xfrm>
          <a:prstGeom prst="roundRect">
            <a:avLst>
              <a:gd name="adj" fmla="val 5120"/>
            </a:avLst>
          </a:prstGeom>
          <a:solidFill>
            <a:srgbClr val="0B1121"/>
          </a:solidFill>
          <a:ln w="4524">
            <a:solidFill>
              <a:srgbClr val="2A3B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2057400"/>
            <a:ext cx="61912" cy="61912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9" name="Shape 7"/>
          <p:cNvSpPr/>
          <p:nvPr/>
        </p:nvSpPr>
        <p:spPr>
          <a:xfrm>
            <a:off x="904875" y="2057400"/>
            <a:ext cx="61912" cy="61912"/>
          </a:xfrm>
          <a:prstGeom prst="ellipse">
            <a:avLst/>
          </a:prstGeom>
          <a:solidFill>
            <a:srgbClr val="EAB308"/>
          </a:solidFill>
        </p:spPr>
      </p:sp>
      <p:sp>
        <p:nvSpPr>
          <p:cNvPr id="10" name="Shape 8"/>
          <p:cNvSpPr/>
          <p:nvPr/>
        </p:nvSpPr>
        <p:spPr>
          <a:xfrm>
            <a:off x="1009650" y="2057400"/>
            <a:ext cx="61912" cy="61912"/>
          </a:xfrm>
          <a:prstGeom prst="ellipse">
            <a:avLst/>
          </a:prstGeom>
          <a:solidFill>
            <a:srgbClr val="22C55E"/>
          </a:solidFill>
        </p:spPr>
      </p:sp>
      <p:sp>
        <p:nvSpPr>
          <p:cNvPr id="11" name="Text 9"/>
          <p:cNvSpPr/>
          <p:nvPr/>
        </p:nvSpPr>
        <p:spPr>
          <a:xfrm>
            <a:off x="1238250" y="2047875"/>
            <a:ext cx="981075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buNone/>
            </a:pPr>
            <a:r>
              <a:rPr lang="en-US" sz="640" dirty="0">
                <a:solidFill>
                  <a:srgbClr val="93A4C0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mdp/  mdp_solver.py</a:t>
            </a:r>
            <a:endParaRPr lang="en-US" sz="640" dirty="0"/>
          </a:p>
        </p:txBody>
      </p:sp>
      <p:sp>
        <p:nvSpPr>
          <p:cNvPr id="12" name="Shape 10"/>
          <p:cNvSpPr/>
          <p:nvPr/>
        </p:nvSpPr>
        <p:spPr>
          <a:xfrm>
            <a:off x="666750" y="2228850"/>
            <a:ext cx="4762500" cy="4763"/>
          </a:xfrm>
          <a:prstGeom prst="rect">
            <a:avLst/>
          </a:prstGeom>
          <a:solidFill>
            <a:srgbClr val="2A3B5E"/>
          </a:solidFill>
        </p:spPr>
      </p:sp>
      <p:sp>
        <p:nvSpPr>
          <p:cNvPr id="13" name="Text 11"/>
          <p:cNvSpPr/>
          <p:nvPr/>
        </p:nvSpPr>
        <p:spPr>
          <a:xfrm>
            <a:off x="790575" y="2362200"/>
            <a:ext cx="100013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05" dirty="0">
                <a:solidFill>
                  <a:srgbClr val="93A4C0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 1</a:t>
            </a:r>
            <a:endParaRPr lang="en-US" sz="605" dirty="0"/>
          </a:p>
        </p:txBody>
      </p:sp>
      <p:sp>
        <p:nvSpPr>
          <p:cNvPr id="14" name="Text 12"/>
          <p:cNvSpPr/>
          <p:nvPr/>
        </p:nvSpPr>
        <p:spPr>
          <a:xfrm>
            <a:off x="1009650" y="2357438"/>
            <a:ext cx="2405063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0"/>
              </a:lnSpc>
              <a:buNone/>
            </a:pPr>
            <a:r>
              <a:rPr lang="en-US" sz="715" dirty="0">
                <a:solidFill>
                  <a:srgbClr val="38BDF8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def value_iteration(self, iterations=100):</a:t>
            </a:r>
            <a:endParaRPr lang="en-US" sz="715" dirty="0"/>
          </a:p>
        </p:txBody>
      </p:sp>
      <p:sp>
        <p:nvSpPr>
          <p:cNvPr id="15" name="Text 13"/>
          <p:cNvSpPr/>
          <p:nvPr/>
        </p:nvSpPr>
        <p:spPr>
          <a:xfrm>
            <a:off x="790575" y="2519363"/>
            <a:ext cx="100013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05" dirty="0">
                <a:solidFill>
                  <a:srgbClr val="93A4C0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 2</a:t>
            </a:r>
            <a:endParaRPr lang="en-US" sz="605" dirty="0"/>
          </a:p>
        </p:txBody>
      </p:sp>
      <p:sp>
        <p:nvSpPr>
          <p:cNvPr id="16" name="Text 14"/>
          <p:cNvSpPr/>
          <p:nvPr/>
        </p:nvSpPr>
        <p:spPr>
          <a:xfrm>
            <a:off x="1009650" y="2514600"/>
            <a:ext cx="1776413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0"/>
              </a:lnSpc>
              <a:buNone/>
            </a:pPr>
            <a:r>
              <a:rPr lang="en-US" sz="715" dirty="0">
                <a:solidFill>
                  <a:srgbClr val="CCD9ED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    for _ in range(iterations):</a:t>
            </a:r>
            <a:endParaRPr lang="en-US" sz="715" dirty="0"/>
          </a:p>
        </p:txBody>
      </p:sp>
      <p:sp>
        <p:nvSpPr>
          <p:cNvPr id="17" name="Text 15"/>
          <p:cNvSpPr/>
          <p:nvPr/>
        </p:nvSpPr>
        <p:spPr>
          <a:xfrm>
            <a:off x="790575" y="2676525"/>
            <a:ext cx="100013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05" dirty="0">
                <a:solidFill>
                  <a:srgbClr val="93A4C0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 3</a:t>
            </a:r>
            <a:endParaRPr lang="en-US" sz="605" dirty="0"/>
          </a:p>
        </p:txBody>
      </p:sp>
      <p:sp>
        <p:nvSpPr>
          <p:cNvPr id="18" name="Text 16"/>
          <p:cNvSpPr/>
          <p:nvPr/>
        </p:nvSpPr>
        <p:spPr>
          <a:xfrm>
            <a:off x="1009650" y="2671763"/>
            <a:ext cx="1776413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0"/>
              </a:lnSpc>
              <a:buNone/>
            </a:pPr>
            <a:r>
              <a:rPr lang="en-US" sz="715" dirty="0">
                <a:solidFill>
                  <a:srgbClr val="CCD9ED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        new_V = np.copy(self.V)</a:t>
            </a:r>
            <a:endParaRPr lang="en-US" sz="715" dirty="0"/>
          </a:p>
        </p:txBody>
      </p:sp>
      <p:sp>
        <p:nvSpPr>
          <p:cNvPr id="19" name="Text 17"/>
          <p:cNvSpPr/>
          <p:nvPr/>
        </p:nvSpPr>
        <p:spPr>
          <a:xfrm>
            <a:off x="790575" y="2833688"/>
            <a:ext cx="100013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05" dirty="0">
                <a:solidFill>
                  <a:srgbClr val="93A4C0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 4</a:t>
            </a:r>
            <a:endParaRPr lang="en-US" sz="605" dirty="0"/>
          </a:p>
        </p:txBody>
      </p:sp>
      <p:sp>
        <p:nvSpPr>
          <p:cNvPr id="20" name="Text 18"/>
          <p:cNvSpPr/>
          <p:nvPr/>
        </p:nvSpPr>
        <p:spPr>
          <a:xfrm>
            <a:off x="1009650" y="2828925"/>
            <a:ext cx="2176463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0"/>
              </a:lnSpc>
              <a:buNone/>
            </a:pPr>
            <a:r>
              <a:rPr lang="en-US" sz="715" dirty="0">
                <a:solidFill>
                  <a:srgbClr val="CCD9ED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        for x in range(self.env.size):</a:t>
            </a:r>
            <a:endParaRPr lang="en-US" sz="715" dirty="0"/>
          </a:p>
        </p:txBody>
      </p:sp>
      <p:sp>
        <p:nvSpPr>
          <p:cNvPr id="21" name="Text 19"/>
          <p:cNvSpPr/>
          <p:nvPr/>
        </p:nvSpPr>
        <p:spPr>
          <a:xfrm>
            <a:off x="790575" y="2990850"/>
            <a:ext cx="100013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05" dirty="0">
                <a:solidFill>
                  <a:srgbClr val="93A4C0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 5</a:t>
            </a:r>
            <a:endParaRPr lang="en-US" sz="605" dirty="0"/>
          </a:p>
        </p:txBody>
      </p:sp>
      <p:sp>
        <p:nvSpPr>
          <p:cNvPr id="22" name="Text 20"/>
          <p:cNvSpPr/>
          <p:nvPr/>
        </p:nvSpPr>
        <p:spPr>
          <a:xfrm>
            <a:off x="1009650" y="2986088"/>
            <a:ext cx="2405063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0"/>
              </a:lnSpc>
              <a:buNone/>
            </a:pPr>
            <a:r>
              <a:rPr lang="en-US" sz="715" dirty="0">
                <a:solidFill>
                  <a:srgbClr val="CCD9ED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            for y in range(self.env.size):</a:t>
            </a:r>
            <a:endParaRPr lang="en-US" sz="715" dirty="0"/>
          </a:p>
        </p:txBody>
      </p:sp>
      <p:sp>
        <p:nvSpPr>
          <p:cNvPr id="23" name="Text 21"/>
          <p:cNvSpPr/>
          <p:nvPr/>
        </p:nvSpPr>
        <p:spPr>
          <a:xfrm>
            <a:off x="790575" y="3148013"/>
            <a:ext cx="100013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05" dirty="0">
                <a:solidFill>
                  <a:srgbClr val="93A4C0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 6</a:t>
            </a:r>
            <a:endParaRPr lang="en-US" sz="605" dirty="0"/>
          </a:p>
        </p:txBody>
      </p:sp>
      <p:sp>
        <p:nvSpPr>
          <p:cNvPr id="24" name="Text 22"/>
          <p:cNvSpPr/>
          <p:nvPr/>
        </p:nvSpPr>
        <p:spPr>
          <a:xfrm>
            <a:off x="1009650" y="3143250"/>
            <a:ext cx="1547813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0"/>
              </a:lnSpc>
              <a:buNone/>
            </a:pPr>
            <a:r>
              <a:rPr lang="en-US" sz="715" dirty="0">
                <a:solidFill>
                  <a:srgbClr val="CCD9ED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                values = []</a:t>
            </a:r>
            <a:endParaRPr lang="en-US" sz="715" dirty="0"/>
          </a:p>
        </p:txBody>
      </p:sp>
      <p:sp>
        <p:nvSpPr>
          <p:cNvPr id="25" name="Text 23"/>
          <p:cNvSpPr/>
          <p:nvPr/>
        </p:nvSpPr>
        <p:spPr>
          <a:xfrm>
            <a:off x="790575" y="3305175"/>
            <a:ext cx="100013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05" dirty="0">
                <a:solidFill>
                  <a:srgbClr val="93A4C0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 7</a:t>
            </a:r>
            <a:endParaRPr lang="en-US" sz="605" dirty="0"/>
          </a:p>
        </p:txBody>
      </p:sp>
      <p:sp>
        <p:nvSpPr>
          <p:cNvPr id="26" name="Text 24"/>
          <p:cNvSpPr/>
          <p:nvPr/>
        </p:nvSpPr>
        <p:spPr>
          <a:xfrm>
            <a:off x="1009650" y="3300413"/>
            <a:ext cx="2576513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0"/>
              </a:lnSpc>
              <a:buNone/>
            </a:pPr>
            <a:r>
              <a:rPr lang="en-US" sz="715" dirty="0">
                <a:solidFill>
                  <a:srgbClr val="CCD9ED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                for a in range(len(ACTIONS)):</a:t>
            </a:r>
            <a:endParaRPr lang="en-US" sz="715" dirty="0"/>
          </a:p>
        </p:txBody>
      </p:sp>
      <p:sp>
        <p:nvSpPr>
          <p:cNvPr id="27" name="Text 25"/>
          <p:cNvSpPr/>
          <p:nvPr/>
        </p:nvSpPr>
        <p:spPr>
          <a:xfrm>
            <a:off x="790575" y="3462338"/>
            <a:ext cx="100013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05" dirty="0">
                <a:solidFill>
                  <a:srgbClr val="93A4C0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 8</a:t>
            </a:r>
            <a:endParaRPr lang="en-US" sz="605" dirty="0"/>
          </a:p>
        </p:txBody>
      </p:sp>
      <p:sp>
        <p:nvSpPr>
          <p:cNvPr id="28" name="Text 26"/>
          <p:cNvSpPr/>
          <p:nvPr/>
        </p:nvSpPr>
        <p:spPr>
          <a:xfrm>
            <a:off x="1009650" y="3457575"/>
            <a:ext cx="3262313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0"/>
              </a:lnSpc>
              <a:buNone/>
            </a:pPr>
            <a:r>
              <a:rPr lang="en-US" sz="715" dirty="0">
                <a:solidFill>
                  <a:srgbClr val="CCD9ED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                    nx, ny = self.get_next_state(x, y, a)</a:t>
            </a:r>
            <a:endParaRPr lang="en-US" sz="715" dirty="0"/>
          </a:p>
        </p:txBody>
      </p:sp>
      <p:sp>
        <p:nvSpPr>
          <p:cNvPr id="29" name="Text 27"/>
          <p:cNvSpPr/>
          <p:nvPr/>
        </p:nvSpPr>
        <p:spPr>
          <a:xfrm>
            <a:off x="790575" y="3619500"/>
            <a:ext cx="100013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05" dirty="0">
                <a:solidFill>
                  <a:srgbClr val="93A4C0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 9</a:t>
            </a:r>
            <a:endParaRPr lang="en-US" sz="605" dirty="0"/>
          </a:p>
        </p:txBody>
      </p:sp>
      <p:sp>
        <p:nvSpPr>
          <p:cNvPr id="30" name="Text 28"/>
          <p:cNvSpPr/>
          <p:nvPr/>
        </p:nvSpPr>
        <p:spPr>
          <a:xfrm>
            <a:off x="1009650" y="3614738"/>
            <a:ext cx="3090863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0"/>
              </a:lnSpc>
              <a:buNone/>
            </a:pPr>
            <a:r>
              <a:rPr lang="en-US" sz="715" dirty="0">
                <a:solidFill>
                  <a:srgbClr val="CCD9ED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                    reward = self.env.get_cell(nx, ny)</a:t>
            </a:r>
            <a:endParaRPr lang="en-US" sz="715" dirty="0"/>
          </a:p>
        </p:txBody>
      </p:sp>
      <p:sp>
        <p:nvSpPr>
          <p:cNvPr id="31" name="Text 29"/>
          <p:cNvSpPr/>
          <p:nvPr/>
        </p:nvSpPr>
        <p:spPr>
          <a:xfrm>
            <a:off x="790575" y="3776662"/>
            <a:ext cx="100013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05" dirty="0">
                <a:solidFill>
                  <a:srgbClr val="93A4C0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10</a:t>
            </a:r>
            <a:endParaRPr lang="en-US" sz="605" dirty="0"/>
          </a:p>
        </p:txBody>
      </p:sp>
      <p:sp>
        <p:nvSpPr>
          <p:cNvPr id="32" name="Text 30"/>
          <p:cNvSpPr/>
          <p:nvPr/>
        </p:nvSpPr>
        <p:spPr>
          <a:xfrm>
            <a:off x="1009650" y="3771900"/>
            <a:ext cx="3776662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0"/>
              </a:lnSpc>
              <a:buNone/>
            </a:pPr>
            <a:r>
              <a:rPr lang="en-US" sz="715" dirty="0">
                <a:solidFill>
                  <a:srgbClr val="F97316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                    values.append(reward + GAMMA * self.V[nx][ny])</a:t>
            </a:r>
            <a:endParaRPr lang="en-US" sz="715" dirty="0"/>
          </a:p>
        </p:txBody>
      </p:sp>
      <p:sp>
        <p:nvSpPr>
          <p:cNvPr id="33" name="Text 31"/>
          <p:cNvSpPr/>
          <p:nvPr/>
        </p:nvSpPr>
        <p:spPr>
          <a:xfrm>
            <a:off x="790575" y="3933825"/>
            <a:ext cx="100013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05" dirty="0">
                <a:solidFill>
                  <a:srgbClr val="93A4C0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11</a:t>
            </a:r>
            <a:endParaRPr lang="en-US" sz="605" dirty="0"/>
          </a:p>
        </p:txBody>
      </p:sp>
      <p:sp>
        <p:nvSpPr>
          <p:cNvPr id="34" name="Text 32"/>
          <p:cNvSpPr/>
          <p:nvPr/>
        </p:nvSpPr>
        <p:spPr>
          <a:xfrm>
            <a:off x="1009650" y="3929063"/>
            <a:ext cx="2347913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0"/>
              </a:lnSpc>
              <a:buNone/>
            </a:pPr>
            <a:r>
              <a:rPr lang="en-US" sz="715" dirty="0">
                <a:solidFill>
                  <a:srgbClr val="38BDF8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                new_V[x][y] = max(values)</a:t>
            </a:r>
            <a:endParaRPr lang="en-US" sz="715" dirty="0"/>
          </a:p>
        </p:txBody>
      </p:sp>
      <p:sp>
        <p:nvSpPr>
          <p:cNvPr id="35" name="Text 33"/>
          <p:cNvSpPr/>
          <p:nvPr/>
        </p:nvSpPr>
        <p:spPr>
          <a:xfrm>
            <a:off x="790575" y="4090987"/>
            <a:ext cx="100013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05" dirty="0">
                <a:solidFill>
                  <a:srgbClr val="93A4C0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12</a:t>
            </a:r>
            <a:endParaRPr lang="en-US" sz="605" dirty="0"/>
          </a:p>
        </p:txBody>
      </p:sp>
      <p:sp>
        <p:nvSpPr>
          <p:cNvPr id="36" name="Text 34"/>
          <p:cNvSpPr/>
          <p:nvPr/>
        </p:nvSpPr>
        <p:spPr>
          <a:xfrm>
            <a:off x="1009650" y="4086225"/>
            <a:ext cx="3033713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0"/>
              </a:lnSpc>
              <a:buNone/>
            </a:pPr>
            <a:r>
              <a:rPr lang="en-US" sz="715" dirty="0">
                <a:solidFill>
                  <a:srgbClr val="22C55E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                self.policy[x][y] = np.argmax(values)</a:t>
            </a:r>
            <a:endParaRPr lang="en-US" sz="715" dirty="0"/>
          </a:p>
        </p:txBody>
      </p:sp>
      <p:sp>
        <p:nvSpPr>
          <p:cNvPr id="37" name="Text 35"/>
          <p:cNvSpPr/>
          <p:nvPr/>
        </p:nvSpPr>
        <p:spPr>
          <a:xfrm>
            <a:off x="790575" y="4248150"/>
            <a:ext cx="100013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05" dirty="0">
                <a:solidFill>
                  <a:srgbClr val="93A4C0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13</a:t>
            </a:r>
            <a:endParaRPr lang="en-US" sz="605" dirty="0"/>
          </a:p>
        </p:txBody>
      </p:sp>
      <p:sp>
        <p:nvSpPr>
          <p:cNvPr id="38" name="Text 36"/>
          <p:cNvSpPr/>
          <p:nvPr/>
        </p:nvSpPr>
        <p:spPr>
          <a:xfrm>
            <a:off x="1009650" y="4243388"/>
            <a:ext cx="1262063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0"/>
              </a:lnSpc>
              <a:buNone/>
            </a:pPr>
            <a:r>
              <a:rPr lang="en-US" sz="715" dirty="0">
                <a:solidFill>
                  <a:srgbClr val="CCD9ED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        self.V = new_V</a:t>
            </a:r>
            <a:endParaRPr lang="en-US" sz="715" dirty="0"/>
          </a:p>
        </p:txBody>
      </p:sp>
      <p:sp>
        <p:nvSpPr>
          <p:cNvPr id="39" name="Text 37"/>
          <p:cNvSpPr/>
          <p:nvPr/>
        </p:nvSpPr>
        <p:spPr>
          <a:xfrm>
            <a:off x="790575" y="4405313"/>
            <a:ext cx="100013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05" dirty="0">
                <a:solidFill>
                  <a:srgbClr val="93A4C0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14</a:t>
            </a:r>
            <a:endParaRPr lang="en-US" sz="605" dirty="0"/>
          </a:p>
        </p:txBody>
      </p:sp>
      <p:sp>
        <p:nvSpPr>
          <p:cNvPr id="40" name="Text 38"/>
          <p:cNvSpPr/>
          <p:nvPr/>
        </p:nvSpPr>
        <p:spPr>
          <a:xfrm>
            <a:off x="1009650" y="4400550"/>
            <a:ext cx="1719263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0"/>
              </a:lnSpc>
              <a:buNone/>
            </a:pPr>
            <a:r>
              <a:rPr lang="en-US" sz="715" dirty="0">
                <a:solidFill>
                  <a:srgbClr val="38BDF8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    return self.V, self.policy</a:t>
            </a:r>
            <a:endParaRPr lang="en-US" sz="715" dirty="0"/>
          </a:p>
        </p:txBody>
      </p:sp>
      <p:sp>
        <p:nvSpPr>
          <p:cNvPr id="41" name="Text 39"/>
          <p:cNvSpPr/>
          <p:nvPr/>
        </p:nvSpPr>
        <p:spPr>
          <a:xfrm>
            <a:off x="5762625" y="1924050"/>
            <a:ext cx="1028700" cy="1190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5"/>
              </a:lnSpc>
              <a:buNone/>
            </a:pPr>
            <a:r>
              <a:rPr lang="en-US" sz="675" kern="0" spc="20" dirty="0">
                <a:solidFill>
                  <a:srgbClr val="F97316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WHAT THE CODE DOES</a:t>
            </a:r>
            <a:endParaRPr lang="en-US" sz="675" dirty="0"/>
          </a:p>
        </p:txBody>
      </p:sp>
      <p:sp>
        <p:nvSpPr>
          <p:cNvPr id="42" name="Shape 40"/>
          <p:cNvSpPr/>
          <p:nvPr/>
        </p:nvSpPr>
        <p:spPr>
          <a:xfrm>
            <a:off x="5762625" y="2276475"/>
            <a:ext cx="71438" cy="71438"/>
          </a:xfrm>
          <a:prstGeom prst="ellipse">
            <a:avLst/>
          </a:prstGeom>
          <a:solidFill>
            <a:srgbClr val="F97316"/>
          </a:solidFill>
        </p:spPr>
      </p:sp>
      <p:sp>
        <p:nvSpPr>
          <p:cNvPr id="43" name="Text 41"/>
          <p:cNvSpPr/>
          <p:nvPr/>
        </p:nvSpPr>
        <p:spPr>
          <a:xfrm>
            <a:off x="5924550" y="2238375"/>
            <a:ext cx="966788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5"/>
              </a:lnSpc>
              <a:buNone/>
            </a:pPr>
            <a:r>
              <a:rPr lang="en-US" sz="960" b="1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Bellman update</a:t>
            </a:r>
            <a:endParaRPr lang="en-US" sz="960" dirty="0"/>
          </a:p>
        </p:txBody>
      </p:sp>
      <p:sp>
        <p:nvSpPr>
          <p:cNvPr id="44" name="Text 42"/>
          <p:cNvSpPr/>
          <p:nvPr/>
        </p:nvSpPr>
        <p:spPr>
          <a:xfrm>
            <a:off x="5924550" y="2428875"/>
            <a:ext cx="2571750" cy="1190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5"/>
              </a:lnSpc>
              <a:buNone/>
            </a:pPr>
            <a:r>
              <a:rPr lang="en-US" sz="750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reward + γ · V(next state)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762625" y="2886075"/>
            <a:ext cx="71438" cy="71438"/>
          </a:xfrm>
          <a:prstGeom prst="ellipse">
            <a:avLst/>
          </a:prstGeom>
          <a:solidFill>
            <a:srgbClr val="38BDF8"/>
          </a:solidFill>
        </p:spPr>
      </p:sp>
      <p:sp>
        <p:nvSpPr>
          <p:cNvPr id="46" name="Text 44"/>
          <p:cNvSpPr/>
          <p:nvPr/>
        </p:nvSpPr>
        <p:spPr>
          <a:xfrm>
            <a:off x="5924550" y="2847975"/>
            <a:ext cx="647700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5"/>
              </a:lnSpc>
              <a:buNone/>
            </a:pPr>
            <a:r>
              <a:rPr lang="en-US" sz="960" b="1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Best value</a:t>
            </a:r>
            <a:endParaRPr lang="en-US" sz="960" dirty="0"/>
          </a:p>
        </p:txBody>
      </p:sp>
      <p:sp>
        <p:nvSpPr>
          <p:cNvPr id="47" name="Text 45"/>
          <p:cNvSpPr/>
          <p:nvPr/>
        </p:nvSpPr>
        <p:spPr>
          <a:xfrm>
            <a:off x="5924550" y="3038475"/>
            <a:ext cx="2571750" cy="1190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5"/>
              </a:lnSpc>
              <a:buNone/>
            </a:pPr>
            <a:r>
              <a:rPr lang="en-US" sz="750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max over the four actions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762625" y="3495675"/>
            <a:ext cx="71438" cy="71438"/>
          </a:xfrm>
          <a:prstGeom prst="ellipse">
            <a:avLst/>
          </a:prstGeom>
          <a:solidFill>
            <a:srgbClr val="22C55E"/>
          </a:solidFill>
        </p:spPr>
      </p:sp>
      <p:sp>
        <p:nvSpPr>
          <p:cNvPr id="49" name="Text 47"/>
          <p:cNvSpPr/>
          <p:nvPr/>
        </p:nvSpPr>
        <p:spPr>
          <a:xfrm>
            <a:off x="5924550" y="3457575"/>
            <a:ext cx="700088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5"/>
              </a:lnSpc>
              <a:buNone/>
            </a:pPr>
            <a:r>
              <a:rPr lang="en-US" sz="960" b="1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Best action</a:t>
            </a:r>
            <a:endParaRPr lang="en-US" sz="960" dirty="0"/>
          </a:p>
        </p:txBody>
      </p:sp>
      <p:sp>
        <p:nvSpPr>
          <p:cNvPr id="50" name="Text 48"/>
          <p:cNvSpPr/>
          <p:nvPr/>
        </p:nvSpPr>
        <p:spPr>
          <a:xfrm>
            <a:off x="5924550" y="3648075"/>
            <a:ext cx="2571750" cy="1190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5"/>
              </a:lnSpc>
              <a:buNone/>
            </a:pPr>
            <a:r>
              <a:rPr lang="en-US" sz="750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argmax → the policy map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762625" y="4105275"/>
            <a:ext cx="71438" cy="71438"/>
          </a:xfrm>
          <a:prstGeom prst="ellipse">
            <a:avLst/>
          </a:prstGeom>
          <a:solidFill>
            <a:srgbClr val="38BDF8"/>
          </a:solidFill>
        </p:spPr>
      </p:sp>
      <p:sp>
        <p:nvSpPr>
          <p:cNvPr id="52" name="Text 50"/>
          <p:cNvSpPr/>
          <p:nvPr/>
        </p:nvSpPr>
        <p:spPr>
          <a:xfrm>
            <a:off x="5924550" y="4067175"/>
            <a:ext cx="790575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5"/>
              </a:lnSpc>
              <a:buNone/>
            </a:pPr>
            <a:r>
              <a:rPr lang="en-US" sz="960" b="1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Repeat ×100</a:t>
            </a:r>
            <a:endParaRPr lang="en-US" sz="960" dirty="0"/>
          </a:p>
        </p:txBody>
      </p:sp>
      <p:sp>
        <p:nvSpPr>
          <p:cNvPr id="53" name="Text 51"/>
          <p:cNvSpPr/>
          <p:nvPr/>
        </p:nvSpPr>
        <p:spPr>
          <a:xfrm>
            <a:off x="5924550" y="4257675"/>
            <a:ext cx="2571750" cy="1190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5"/>
              </a:lnSpc>
              <a:buNone/>
            </a:pPr>
            <a:r>
              <a:rPr lang="en-US" sz="750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until V converges to V*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38250" y="-1047750"/>
            <a:ext cx="2667000" cy="2667000"/>
          </a:xfrm>
          <a:prstGeom prst="ellipse">
            <a:avLst/>
          </a:prstGeom>
          <a:solidFill>
            <a:srgbClr val="38BDF8">
              <a:alpha val="9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7143750" y="3048000"/>
            <a:ext cx="3143250" cy="3143250"/>
          </a:xfrm>
          <a:prstGeom prst="ellipse">
            <a:avLst/>
          </a:prstGeom>
          <a:solidFill>
            <a:srgbClr val="F97316">
              <a:alpha val="1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666750" y="933450"/>
            <a:ext cx="190500" cy="28575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5" name="Text 3"/>
          <p:cNvSpPr/>
          <p:nvPr/>
        </p:nvSpPr>
        <p:spPr>
          <a:xfrm>
            <a:off x="666750" y="1057275"/>
            <a:ext cx="1343025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0"/>
              </a:lnSpc>
              <a:buNone/>
            </a:pPr>
            <a:r>
              <a:rPr lang="en-US" sz="715" kern="0" spc="28" dirty="0">
                <a:solidFill>
                  <a:srgbClr val="38BDF8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10  ·  RESULTS IN VIEW</a:t>
            </a:r>
            <a:endParaRPr lang="en-US" sz="715" dirty="0"/>
          </a:p>
        </p:txBody>
      </p:sp>
      <p:sp>
        <p:nvSpPr>
          <p:cNvPr id="6" name="Text 4"/>
          <p:cNvSpPr/>
          <p:nvPr/>
        </p:nvSpPr>
        <p:spPr>
          <a:xfrm>
            <a:off x="628650" y="1276350"/>
            <a:ext cx="3667125" cy="438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75"/>
              </a:lnSpc>
              <a:buNone/>
            </a:pPr>
            <a:r>
              <a:rPr lang="en-US" sz="2565" b="1" dirty="0">
                <a:solidFill>
                  <a:srgbClr val="EEF3FA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Output &amp; Visualization</a:t>
            </a:r>
            <a:endParaRPr lang="en-US" sz="2565" dirty="0"/>
          </a:p>
        </p:txBody>
      </p:sp>
      <p:sp>
        <p:nvSpPr>
          <p:cNvPr id="7" name="Shape 5"/>
          <p:cNvSpPr/>
          <p:nvPr/>
        </p:nvSpPr>
        <p:spPr>
          <a:xfrm>
            <a:off x="666750" y="2000250"/>
            <a:ext cx="2238375" cy="2381250"/>
          </a:xfrm>
          <a:prstGeom prst="roundRect">
            <a:avLst>
              <a:gd name="adj" fmla="val 7353"/>
            </a:avLst>
          </a:prstGeom>
          <a:solidFill>
            <a:srgbClr val="16223B"/>
          </a:solidFill>
          <a:ln w="4524">
            <a:solidFill>
              <a:srgbClr val="2A3B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0100" y="2124075"/>
            <a:ext cx="1009650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buNone/>
            </a:pPr>
            <a:r>
              <a:rPr lang="en-US" sz="640" kern="0" spc="13" dirty="0">
                <a:solidFill>
                  <a:srgbClr val="F97316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OVERALL PERFORMANCE</a:t>
            </a:r>
            <a:endParaRPr lang="en-US" sz="640" dirty="0"/>
          </a:p>
        </p:txBody>
      </p:sp>
      <p:sp>
        <p:nvSpPr>
          <p:cNvPr id="9" name="Text 7"/>
          <p:cNvSpPr/>
          <p:nvPr/>
        </p:nvSpPr>
        <p:spPr>
          <a:xfrm>
            <a:off x="800100" y="2447925"/>
            <a:ext cx="642938" cy="1190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5"/>
              </a:lnSpc>
              <a:buNone/>
            </a:pPr>
            <a:r>
              <a:rPr lang="en-US" sz="750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Start Position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857375" y="2438400"/>
            <a:ext cx="914400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75"/>
              </a:lnSpc>
              <a:buNone/>
            </a:pPr>
            <a:r>
              <a:rPr lang="en-US" sz="890" dirty="0">
                <a:solidFill>
                  <a:srgbClr val="EEF3FA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(0, 0)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800100" y="2695575"/>
            <a:ext cx="1971675" cy="4763"/>
          </a:xfrm>
          <a:prstGeom prst="rect">
            <a:avLst/>
          </a:prstGeom>
          <a:solidFill>
            <a:srgbClr val="2A3B5E"/>
          </a:solidFill>
        </p:spPr>
      </p:sp>
      <p:sp>
        <p:nvSpPr>
          <p:cNvPr id="12" name="Text 10"/>
          <p:cNvSpPr/>
          <p:nvPr/>
        </p:nvSpPr>
        <p:spPr>
          <a:xfrm>
            <a:off x="800100" y="2809875"/>
            <a:ext cx="619125" cy="1190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5"/>
              </a:lnSpc>
              <a:buNone/>
            </a:pPr>
            <a:r>
              <a:rPr lang="en-US" sz="750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Goal Position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857375" y="2800350"/>
            <a:ext cx="914400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75"/>
              </a:lnSpc>
              <a:buNone/>
            </a:pPr>
            <a:r>
              <a:rPr lang="en-US" sz="890" dirty="0">
                <a:solidFill>
                  <a:srgbClr val="EEF3FA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(9, 9)</a:t>
            </a:r>
            <a:endParaRPr lang="en-US" sz="890" dirty="0"/>
          </a:p>
        </p:txBody>
      </p:sp>
      <p:sp>
        <p:nvSpPr>
          <p:cNvPr id="14" name="Shape 12"/>
          <p:cNvSpPr/>
          <p:nvPr/>
        </p:nvSpPr>
        <p:spPr>
          <a:xfrm>
            <a:off x="800100" y="3057525"/>
            <a:ext cx="1971675" cy="4763"/>
          </a:xfrm>
          <a:prstGeom prst="rect">
            <a:avLst/>
          </a:prstGeom>
          <a:solidFill>
            <a:srgbClr val="2A3B5E"/>
          </a:solidFill>
        </p:spPr>
      </p:sp>
      <p:sp>
        <p:nvSpPr>
          <p:cNvPr id="15" name="Text 13"/>
          <p:cNvSpPr/>
          <p:nvPr/>
        </p:nvSpPr>
        <p:spPr>
          <a:xfrm>
            <a:off x="800100" y="3171825"/>
            <a:ext cx="533400" cy="1190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5"/>
              </a:lnSpc>
              <a:buNone/>
            </a:pPr>
            <a:r>
              <a:rPr lang="en-US" sz="750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Total Steps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857375" y="3162300"/>
            <a:ext cx="914400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75"/>
              </a:lnSpc>
              <a:buNone/>
            </a:pPr>
            <a:r>
              <a:rPr lang="en-US" sz="890" dirty="0">
                <a:solidFill>
                  <a:srgbClr val="EEF3FA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18</a:t>
            </a:r>
            <a:endParaRPr lang="en-US" sz="890" dirty="0"/>
          </a:p>
        </p:txBody>
      </p:sp>
      <p:sp>
        <p:nvSpPr>
          <p:cNvPr id="17" name="Shape 15"/>
          <p:cNvSpPr/>
          <p:nvPr/>
        </p:nvSpPr>
        <p:spPr>
          <a:xfrm>
            <a:off x="800100" y="3419475"/>
            <a:ext cx="1971675" cy="4763"/>
          </a:xfrm>
          <a:prstGeom prst="rect">
            <a:avLst/>
          </a:prstGeom>
          <a:solidFill>
            <a:srgbClr val="2A3B5E"/>
          </a:solidFill>
        </p:spPr>
      </p:sp>
      <p:sp>
        <p:nvSpPr>
          <p:cNvPr id="18" name="Text 16"/>
          <p:cNvSpPr/>
          <p:nvPr/>
        </p:nvSpPr>
        <p:spPr>
          <a:xfrm>
            <a:off x="800100" y="3533775"/>
            <a:ext cx="619125" cy="1190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5"/>
              </a:lnSpc>
              <a:buNone/>
            </a:pPr>
            <a:r>
              <a:rPr lang="en-US" sz="750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Total Reward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857375" y="3524250"/>
            <a:ext cx="914400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75"/>
              </a:lnSpc>
              <a:buNone/>
            </a:pPr>
            <a:r>
              <a:rPr lang="en-US" sz="890" dirty="0">
                <a:solidFill>
                  <a:srgbClr val="22C55E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+52</a:t>
            </a:r>
            <a:endParaRPr lang="en-US" sz="890" dirty="0"/>
          </a:p>
        </p:txBody>
      </p:sp>
      <p:sp>
        <p:nvSpPr>
          <p:cNvPr id="20" name="Shape 18"/>
          <p:cNvSpPr/>
          <p:nvPr/>
        </p:nvSpPr>
        <p:spPr>
          <a:xfrm>
            <a:off x="800100" y="3781425"/>
            <a:ext cx="1971675" cy="4763"/>
          </a:xfrm>
          <a:prstGeom prst="rect">
            <a:avLst/>
          </a:prstGeom>
          <a:solidFill>
            <a:srgbClr val="2A3B5E"/>
          </a:solidFill>
        </p:spPr>
      </p:sp>
      <p:sp>
        <p:nvSpPr>
          <p:cNvPr id="21" name="Text 19"/>
          <p:cNvSpPr/>
          <p:nvPr/>
        </p:nvSpPr>
        <p:spPr>
          <a:xfrm>
            <a:off x="800100" y="3895725"/>
            <a:ext cx="361950" cy="1190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5"/>
              </a:lnSpc>
              <a:buNone/>
            </a:pPr>
            <a:r>
              <a:rPr lang="en-US" sz="750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Mission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857375" y="3886200"/>
            <a:ext cx="914400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75"/>
              </a:lnSpc>
              <a:buNone/>
            </a:pPr>
            <a:r>
              <a:rPr lang="en-US" sz="890" dirty="0">
                <a:solidFill>
                  <a:srgbClr val="22C55E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✓ Completed</a:t>
            </a:r>
            <a:endParaRPr lang="en-US" sz="890" dirty="0"/>
          </a:p>
        </p:txBody>
      </p:sp>
      <p:sp>
        <p:nvSpPr>
          <p:cNvPr id="23" name="Shape 21"/>
          <p:cNvSpPr/>
          <p:nvPr/>
        </p:nvSpPr>
        <p:spPr>
          <a:xfrm>
            <a:off x="3028950" y="2000250"/>
            <a:ext cx="2667000" cy="2381250"/>
          </a:xfrm>
          <a:prstGeom prst="roundRect">
            <a:avLst>
              <a:gd name="adj" fmla="val 6912"/>
            </a:avLst>
          </a:prstGeom>
          <a:solidFill>
            <a:srgbClr val="16223B"/>
          </a:solidFill>
          <a:ln w="4524">
            <a:solidFill>
              <a:srgbClr val="2A3B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62300" y="2124075"/>
            <a:ext cx="1119188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buNone/>
            </a:pPr>
            <a:r>
              <a:rPr lang="en-US" sz="640" kern="0" spc="13" dirty="0">
                <a:solidFill>
                  <a:srgbClr val="93A4C0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GRID — OPTIMAL POLICY</a:t>
            </a:r>
            <a:endParaRPr lang="en-US" sz="640" dirty="0"/>
          </a:p>
        </p:txBody>
      </p:sp>
      <p:sp>
        <p:nvSpPr>
          <p:cNvPr id="25" name="Shape 23"/>
          <p:cNvSpPr/>
          <p:nvPr/>
        </p:nvSpPr>
        <p:spPr>
          <a:xfrm>
            <a:off x="3419475" y="2400300"/>
            <a:ext cx="171450" cy="171450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26" name="Shape 24"/>
          <p:cNvSpPr/>
          <p:nvPr/>
        </p:nvSpPr>
        <p:spPr>
          <a:xfrm>
            <a:off x="3609975" y="24003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3800475" y="24003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3990975" y="24003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4181475" y="24003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4371975" y="24003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4562475" y="24003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4752975" y="24003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4943475" y="24003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5133975" y="24003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3419475" y="2590800"/>
            <a:ext cx="171450" cy="171450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36" name="Shape 34"/>
          <p:cNvSpPr/>
          <p:nvPr/>
        </p:nvSpPr>
        <p:spPr>
          <a:xfrm>
            <a:off x="3609975" y="25908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3800475" y="25908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3990975" y="25908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4181475" y="2590800"/>
            <a:ext cx="171450" cy="171450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40" name="Shape 38"/>
          <p:cNvSpPr/>
          <p:nvPr/>
        </p:nvSpPr>
        <p:spPr>
          <a:xfrm>
            <a:off x="4371975" y="25908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41" name="Shape 39"/>
          <p:cNvSpPr/>
          <p:nvPr/>
        </p:nvSpPr>
        <p:spPr>
          <a:xfrm>
            <a:off x="4562475" y="25908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42" name="Shape 40"/>
          <p:cNvSpPr/>
          <p:nvPr/>
        </p:nvSpPr>
        <p:spPr>
          <a:xfrm>
            <a:off x="4752975" y="25908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4943475" y="25908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44" name="Shape 42"/>
          <p:cNvSpPr/>
          <p:nvPr/>
        </p:nvSpPr>
        <p:spPr>
          <a:xfrm>
            <a:off x="5133975" y="25908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45" name="Shape 43"/>
          <p:cNvSpPr/>
          <p:nvPr/>
        </p:nvSpPr>
        <p:spPr>
          <a:xfrm>
            <a:off x="3419475" y="2781300"/>
            <a:ext cx="171450" cy="171450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46" name="Shape 44"/>
          <p:cNvSpPr/>
          <p:nvPr/>
        </p:nvSpPr>
        <p:spPr>
          <a:xfrm>
            <a:off x="3609975" y="27813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47" name="Shape 45"/>
          <p:cNvSpPr/>
          <p:nvPr/>
        </p:nvSpPr>
        <p:spPr>
          <a:xfrm>
            <a:off x="3800475" y="2781300"/>
            <a:ext cx="171450" cy="171450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48" name="Shape 46"/>
          <p:cNvSpPr/>
          <p:nvPr/>
        </p:nvSpPr>
        <p:spPr>
          <a:xfrm>
            <a:off x="3990975" y="27813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49" name="Shape 47"/>
          <p:cNvSpPr/>
          <p:nvPr/>
        </p:nvSpPr>
        <p:spPr>
          <a:xfrm>
            <a:off x="4181475" y="27813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50" name="Shape 48"/>
          <p:cNvSpPr/>
          <p:nvPr/>
        </p:nvSpPr>
        <p:spPr>
          <a:xfrm>
            <a:off x="4371975" y="27813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51" name="Shape 49"/>
          <p:cNvSpPr/>
          <p:nvPr/>
        </p:nvSpPr>
        <p:spPr>
          <a:xfrm>
            <a:off x="4562475" y="2781300"/>
            <a:ext cx="171450" cy="171450"/>
          </a:xfrm>
          <a:prstGeom prst="roundRect">
            <a:avLst/>
          </a:prstGeom>
          <a:solidFill>
            <a:srgbClr val="EF4444"/>
          </a:solidFill>
        </p:spPr>
      </p:sp>
      <p:sp>
        <p:nvSpPr>
          <p:cNvPr id="52" name="Shape 50"/>
          <p:cNvSpPr/>
          <p:nvPr/>
        </p:nvSpPr>
        <p:spPr>
          <a:xfrm>
            <a:off x="4752975" y="27813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53" name="Shape 51"/>
          <p:cNvSpPr/>
          <p:nvPr/>
        </p:nvSpPr>
        <p:spPr>
          <a:xfrm>
            <a:off x="4943475" y="27813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54" name="Shape 52"/>
          <p:cNvSpPr/>
          <p:nvPr/>
        </p:nvSpPr>
        <p:spPr>
          <a:xfrm>
            <a:off x="5133975" y="27813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55" name="Shape 53"/>
          <p:cNvSpPr/>
          <p:nvPr/>
        </p:nvSpPr>
        <p:spPr>
          <a:xfrm>
            <a:off x="3419475" y="2971800"/>
            <a:ext cx="171450" cy="171450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56" name="Shape 54"/>
          <p:cNvSpPr/>
          <p:nvPr/>
        </p:nvSpPr>
        <p:spPr>
          <a:xfrm>
            <a:off x="3609975" y="29718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57" name="Shape 55"/>
          <p:cNvSpPr/>
          <p:nvPr/>
        </p:nvSpPr>
        <p:spPr>
          <a:xfrm>
            <a:off x="3800475" y="29718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58" name="Shape 56"/>
          <p:cNvSpPr/>
          <p:nvPr/>
        </p:nvSpPr>
        <p:spPr>
          <a:xfrm>
            <a:off x="3990975" y="29718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59" name="Shape 57"/>
          <p:cNvSpPr/>
          <p:nvPr/>
        </p:nvSpPr>
        <p:spPr>
          <a:xfrm>
            <a:off x="4181475" y="29718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60" name="Shape 58"/>
          <p:cNvSpPr/>
          <p:nvPr/>
        </p:nvSpPr>
        <p:spPr>
          <a:xfrm>
            <a:off x="4371975" y="2971800"/>
            <a:ext cx="171450" cy="171450"/>
          </a:xfrm>
          <a:prstGeom prst="roundRect">
            <a:avLst/>
          </a:prstGeom>
          <a:solidFill>
            <a:srgbClr val="EAB308"/>
          </a:solidFill>
        </p:spPr>
      </p:sp>
      <p:sp>
        <p:nvSpPr>
          <p:cNvPr id="61" name="Shape 59"/>
          <p:cNvSpPr/>
          <p:nvPr/>
        </p:nvSpPr>
        <p:spPr>
          <a:xfrm>
            <a:off x="4562475" y="29718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62" name="Shape 60"/>
          <p:cNvSpPr/>
          <p:nvPr/>
        </p:nvSpPr>
        <p:spPr>
          <a:xfrm>
            <a:off x="4752975" y="29718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63" name="Shape 61"/>
          <p:cNvSpPr/>
          <p:nvPr/>
        </p:nvSpPr>
        <p:spPr>
          <a:xfrm>
            <a:off x="4943475" y="2971800"/>
            <a:ext cx="171450" cy="171450"/>
          </a:xfrm>
          <a:prstGeom prst="roundRect">
            <a:avLst/>
          </a:prstGeom>
          <a:solidFill>
            <a:srgbClr val="EF4444"/>
          </a:solidFill>
        </p:spPr>
      </p:sp>
      <p:sp>
        <p:nvSpPr>
          <p:cNvPr id="64" name="Shape 62"/>
          <p:cNvSpPr/>
          <p:nvPr/>
        </p:nvSpPr>
        <p:spPr>
          <a:xfrm>
            <a:off x="5133975" y="29718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65" name="Shape 63"/>
          <p:cNvSpPr/>
          <p:nvPr/>
        </p:nvSpPr>
        <p:spPr>
          <a:xfrm>
            <a:off x="3419475" y="3162300"/>
            <a:ext cx="171450" cy="171450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66" name="Shape 64"/>
          <p:cNvSpPr/>
          <p:nvPr/>
        </p:nvSpPr>
        <p:spPr>
          <a:xfrm>
            <a:off x="3609975" y="31623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67" name="Shape 65"/>
          <p:cNvSpPr/>
          <p:nvPr/>
        </p:nvSpPr>
        <p:spPr>
          <a:xfrm>
            <a:off x="3800475" y="31623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68" name="Shape 66"/>
          <p:cNvSpPr/>
          <p:nvPr/>
        </p:nvSpPr>
        <p:spPr>
          <a:xfrm>
            <a:off x="3990975" y="31623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69" name="Shape 67"/>
          <p:cNvSpPr/>
          <p:nvPr/>
        </p:nvSpPr>
        <p:spPr>
          <a:xfrm>
            <a:off x="4181475" y="3162300"/>
            <a:ext cx="171450" cy="171450"/>
          </a:xfrm>
          <a:prstGeom prst="roundRect">
            <a:avLst/>
          </a:prstGeom>
          <a:solidFill>
            <a:srgbClr val="EAB308"/>
          </a:solidFill>
        </p:spPr>
      </p:sp>
      <p:sp>
        <p:nvSpPr>
          <p:cNvPr id="70" name="Shape 68"/>
          <p:cNvSpPr/>
          <p:nvPr/>
        </p:nvSpPr>
        <p:spPr>
          <a:xfrm>
            <a:off x="4371975" y="31623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71" name="Shape 69"/>
          <p:cNvSpPr/>
          <p:nvPr/>
        </p:nvSpPr>
        <p:spPr>
          <a:xfrm>
            <a:off x="4562475" y="31623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72" name="Shape 70"/>
          <p:cNvSpPr/>
          <p:nvPr/>
        </p:nvSpPr>
        <p:spPr>
          <a:xfrm>
            <a:off x="4752975" y="3162300"/>
            <a:ext cx="171450" cy="171450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73" name="Shape 71"/>
          <p:cNvSpPr/>
          <p:nvPr/>
        </p:nvSpPr>
        <p:spPr>
          <a:xfrm>
            <a:off x="4943475" y="31623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74" name="Shape 72"/>
          <p:cNvSpPr/>
          <p:nvPr/>
        </p:nvSpPr>
        <p:spPr>
          <a:xfrm>
            <a:off x="5133975" y="31623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75" name="Shape 73"/>
          <p:cNvSpPr/>
          <p:nvPr/>
        </p:nvSpPr>
        <p:spPr>
          <a:xfrm>
            <a:off x="3419475" y="3352800"/>
            <a:ext cx="171450" cy="171450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76" name="Shape 74"/>
          <p:cNvSpPr/>
          <p:nvPr/>
        </p:nvSpPr>
        <p:spPr>
          <a:xfrm>
            <a:off x="3609975" y="33528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77" name="Shape 75"/>
          <p:cNvSpPr/>
          <p:nvPr/>
        </p:nvSpPr>
        <p:spPr>
          <a:xfrm>
            <a:off x="3800475" y="33528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78" name="Shape 76"/>
          <p:cNvSpPr/>
          <p:nvPr/>
        </p:nvSpPr>
        <p:spPr>
          <a:xfrm>
            <a:off x="3990975" y="3352800"/>
            <a:ext cx="171450" cy="171450"/>
          </a:xfrm>
          <a:prstGeom prst="roundRect">
            <a:avLst/>
          </a:prstGeom>
          <a:solidFill>
            <a:srgbClr val="EF4444"/>
          </a:solidFill>
        </p:spPr>
      </p:sp>
      <p:sp>
        <p:nvSpPr>
          <p:cNvPr id="79" name="Shape 77"/>
          <p:cNvSpPr/>
          <p:nvPr/>
        </p:nvSpPr>
        <p:spPr>
          <a:xfrm>
            <a:off x="4181475" y="33528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80" name="Shape 78"/>
          <p:cNvSpPr/>
          <p:nvPr/>
        </p:nvSpPr>
        <p:spPr>
          <a:xfrm>
            <a:off x="4371975" y="33528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81" name="Shape 79"/>
          <p:cNvSpPr/>
          <p:nvPr/>
        </p:nvSpPr>
        <p:spPr>
          <a:xfrm>
            <a:off x="4562475" y="33528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82" name="Shape 80"/>
          <p:cNvSpPr/>
          <p:nvPr/>
        </p:nvSpPr>
        <p:spPr>
          <a:xfrm>
            <a:off x="4752975" y="33528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83" name="Shape 81"/>
          <p:cNvSpPr/>
          <p:nvPr/>
        </p:nvSpPr>
        <p:spPr>
          <a:xfrm>
            <a:off x="4943475" y="3352800"/>
            <a:ext cx="171450" cy="171450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84" name="Shape 82"/>
          <p:cNvSpPr/>
          <p:nvPr/>
        </p:nvSpPr>
        <p:spPr>
          <a:xfrm>
            <a:off x="5133975" y="33528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85" name="Shape 83"/>
          <p:cNvSpPr/>
          <p:nvPr/>
        </p:nvSpPr>
        <p:spPr>
          <a:xfrm>
            <a:off x="3419475" y="3543300"/>
            <a:ext cx="171450" cy="171450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86" name="Shape 84"/>
          <p:cNvSpPr/>
          <p:nvPr/>
        </p:nvSpPr>
        <p:spPr>
          <a:xfrm>
            <a:off x="3609975" y="35433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87" name="Shape 85"/>
          <p:cNvSpPr/>
          <p:nvPr/>
        </p:nvSpPr>
        <p:spPr>
          <a:xfrm>
            <a:off x="3800475" y="3543300"/>
            <a:ext cx="171450" cy="171450"/>
          </a:xfrm>
          <a:prstGeom prst="roundRect">
            <a:avLst/>
          </a:prstGeom>
          <a:solidFill>
            <a:srgbClr val="EAB308"/>
          </a:solidFill>
        </p:spPr>
      </p:sp>
      <p:sp>
        <p:nvSpPr>
          <p:cNvPr id="88" name="Shape 86"/>
          <p:cNvSpPr/>
          <p:nvPr/>
        </p:nvSpPr>
        <p:spPr>
          <a:xfrm>
            <a:off x="3990975" y="35433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89" name="Shape 87"/>
          <p:cNvSpPr/>
          <p:nvPr/>
        </p:nvSpPr>
        <p:spPr>
          <a:xfrm>
            <a:off x="4181475" y="35433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90" name="Shape 88"/>
          <p:cNvSpPr/>
          <p:nvPr/>
        </p:nvSpPr>
        <p:spPr>
          <a:xfrm>
            <a:off x="4371975" y="3543300"/>
            <a:ext cx="171450" cy="171450"/>
          </a:xfrm>
          <a:prstGeom prst="roundRect">
            <a:avLst/>
          </a:prstGeom>
          <a:solidFill>
            <a:srgbClr val="EF4444"/>
          </a:solidFill>
        </p:spPr>
      </p:sp>
      <p:sp>
        <p:nvSpPr>
          <p:cNvPr id="91" name="Shape 89"/>
          <p:cNvSpPr/>
          <p:nvPr/>
        </p:nvSpPr>
        <p:spPr>
          <a:xfrm>
            <a:off x="4562475" y="35433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92" name="Shape 90"/>
          <p:cNvSpPr/>
          <p:nvPr/>
        </p:nvSpPr>
        <p:spPr>
          <a:xfrm>
            <a:off x="4752975" y="35433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93" name="Shape 91"/>
          <p:cNvSpPr/>
          <p:nvPr/>
        </p:nvSpPr>
        <p:spPr>
          <a:xfrm>
            <a:off x="4943475" y="35433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94" name="Shape 92"/>
          <p:cNvSpPr/>
          <p:nvPr/>
        </p:nvSpPr>
        <p:spPr>
          <a:xfrm>
            <a:off x="5133975" y="35433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95" name="Shape 93"/>
          <p:cNvSpPr/>
          <p:nvPr/>
        </p:nvSpPr>
        <p:spPr>
          <a:xfrm>
            <a:off x="3419475" y="3733800"/>
            <a:ext cx="171450" cy="171450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96" name="Shape 94"/>
          <p:cNvSpPr/>
          <p:nvPr/>
        </p:nvSpPr>
        <p:spPr>
          <a:xfrm>
            <a:off x="3609975" y="37338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97" name="Shape 95"/>
          <p:cNvSpPr/>
          <p:nvPr/>
        </p:nvSpPr>
        <p:spPr>
          <a:xfrm>
            <a:off x="3800475" y="37338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98" name="Shape 96"/>
          <p:cNvSpPr/>
          <p:nvPr/>
        </p:nvSpPr>
        <p:spPr>
          <a:xfrm>
            <a:off x="3990975" y="3733800"/>
            <a:ext cx="171450" cy="171450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99" name="Shape 97"/>
          <p:cNvSpPr/>
          <p:nvPr/>
        </p:nvSpPr>
        <p:spPr>
          <a:xfrm>
            <a:off x="4181475" y="37338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100" name="Shape 98"/>
          <p:cNvSpPr/>
          <p:nvPr/>
        </p:nvSpPr>
        <p:spPr>
          <a:xfrm>
            <a:off x="4371975" y="37338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101" name="Shape 99"/>
          <p:cNvSpPr/>
          <p:nvPr/>
        </p:nvSpPr>
        <p:spPr>
          <a:xfrm>
            <a:off x="4562475" y="37338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102" name="Shape 100"/>
          <p:cNvSpPr/>
          <p:nvPr/>
        </p:nvSpPr>
        <p:spPr>
          <a:xfrm>
            <a:off x="4752975" y="37338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103" name="Shape 101"/>
          <p:cNvSpPr/>
          <p:nvPr/>
        </p:nvSpPr>
        <p:spPr>
          <a:xfrm>
            <a:off x="4943475" y="37338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104" name="Shape 102"/>
          <p:cNvSpPr/>
          <p:nvPr/>
        </p:nvSpPr>
        <p:spPr>
          <a:xfrm>
            <a:off x="5133975" y="37338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105" name="Shape 103"/>
          <p:cNvSpPr/>
          <p:nvPr/>
        </p:nvSpPr>
        <p:spPr>
          <a:xfrm>
            <a:off x="3419475" y="3924300"/>
            <a:ext cx="171450" cy="171450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106" name="Shape 104"/>
          <p:cNvSpPr/>
          <p:nvPr/>
        </p:nvSpPr>
        <p:spPr>
          <a:xfrm>
            <a:off x="3609975" y="39243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107" name="Shape 105"/>
          <p:cNvSpPr/>
          <p:nvPr/>
        </p:nvSpPr>
        <p:spPr>
          <a:xfrm>
            <a:off x="3800475" y="39243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108" name="Shape 106"/>
          <p:cNvSpPr/>
          <p:nvPr/>
        </p:nvSpPr>
        <p:spPr>
          <a:xfrm>
            <a:off x="3990975" y="39243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109" name="Shape 107"/>
          <p:cNvSpPr/>
          <p:nvPr/>
        </p:nvSpPr>
        <p:spPr>
          <a:xfrm>
            <a:off x="4181475" y="39243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110" name="Shape 108"/>
          <p:cNvSpPr/>
          <p:nvPr/>
        </p:nvSpPr>
        <p:spPr>
          <a:xfrm>
            <a:off x="4371975" y="39243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111" name="Shape 109"/>
          <p:cNvSpPr/>
          <p:nvPr/>
        </p:nvSpPr>
        <p:spPr>
          <a:xfrm>
            <a:off x="4562475" y="39243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112" name="Shape 110"/>
          <p:cNvSpPr/>
          <p:nvPr/>
        </p:nvSpPr>
        <p:spPr>
          <a:xfrm>
            <a:off x="4752975" y="39243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113" name="Shape 111"/>
          <p:cNvSpPr/>
          <p:nvPr/>
        </p:nvSpPr>
        <p:spPr>
          <a:xfrm>
            <a:off x="4943475" y="39243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114" name="Shape 112"/>
          <p:cNvSpPr/>
          <p:nvPr/>
        </p:nvSpPr>
        <p:spPr>
          <a:xfrm>
            <a:off x="5133975" y="3924300"/>
            <a:ext cx="171450" cy="171450"/>
          </a:xfrm>
          <a:prstGeom prst="roundRect">
            <a:avLst/>
          </a:prstGeom>
          <a:solidFill>
            <a:srgbClr val="1D283E">
              <a:alpha val="80000"/>
            </a:srgbClr>
          </a:solidFill>
        </p:spPr>
      </p:sp>
      <p:sp>
        <p:nvSpPr>
          <p:cNvPr id="115" name="Shape 113"/>
          <p:cNvSpPr/>
          <p:nvPr/>
        </p:nvSpPr>
        <p:spPr>
          <a:xfrm>
            <a:off x="3419475" y="4114800"/>
            <a:ext cx="171450" cy="171450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116" name="Shape 114"/>
          <p:cNvSpPr/>
          <p:nvPr/>
        </p:nvSpPr>
        <p:spPr>
          <a:xfrm>
            <a:off x="3609975" y="4114800"/>
            <a:ext cx="171450" cy="171450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117" name="Shape 115"/>
          <p:cNvSpPr/>
          <p:nvPr/>
        </p:nvSpPr>
        <p:spPr>
          <a:xfrm>
            <a:off x="3800475" y="4114800"/>
            <a:ext cx="171450" cy="171450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118" name="Shape 116"/>
          <p:cNvSpPr/>
          <p:nvPr/>
        </p:nvSpPr>
        <p:spPr>
          <a:xfrm>
            <a:off x="3990975" y="4114800"/>
            <a:ext cx="171450" cy="171450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119" name="Shape 117"/>
          <p:cNvSpPr/>
          <p:nvPr/>
        </p:nvSpPr>
        <p:spPr>
          <a:xfrm>
            <a:off x="4181475" y="4114800"/>
            <a:ext cx="171450" cy="171450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120" name="Shape 118"/>
          <p:cNvSpPr/>
          <p:nvPr/>
        </p:nvSpPr>
        <p:spPr>
          <a:xfrm>
            <a:off x="4371975" y="4114800"/>
            <a:ext cx="171450" cy="171450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121" name="Shape 119"/>
          <p:cNvSpPr/>
          <p:nvPr/>
        </p:nvSpPr>
        <p:spPr>
          <a:xfrm>
            <a:off x="4562475" y="4114800"/>
            <a:ext cx="171450" cy="171450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122" name="Shape 120"/>
          <p:cNvSpPr/>
          <p:nvPr/>
        </p:nvSpPr>
        <p:spPr>
          <a:xfrm>
            <a:off x="4752975" y="4114800"/>
            <a:ext cx="171450" cy="171450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123" name="Shape 121"/>
          <p:cNvSpPr/>
          <p:nvPr/>
        </p:nvSpPr>
        <p:spPr>
          <a:xfrm>
            <a:off x="4943475" y="4114800"/>
            <a:ext cx="171450" cy="171450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124" name="Shape 122"/>
          <p:cNvSpPr/>
          <p:nvPr/>
        </p:nvSpPr>
        <p:spPr>
          <a:xfrm>
            <a:off x="5133975" y="4114800"/>
            <a:ext cx="171450" cy="171450"/>
          </a:xfrm>
          <a:prstGeom prst="roundRect">
            <a:avLst/>
          </a:prstGeom>
          <a:solidFill>
            <a:srgbClr val="22C55E"/>
          </a:solidFill>
        </p:spPr>
      </p:sp>
      <p:sp>
        <p:nvSpPr>
          <p:cNvPr id="125" name="Shape 123"/>
          <p:cNvSpPr/>
          <p:nvPr/>
        </p:nvSpPr>
        <p:spPr>
          <a:xfrm>
            <a:off x="5819775" y="2000250"/>
            <a:ext cx="2667000" cy="2381250"/>
          </a:xfrm>
          <a:prstGeom prst="roundRect">
            <a:avLst>
              <a:gd name="adj" fmla="val 6912"/>
            </a:avLst>
          </a:prstGeom>
          <a:solidFill>
            <a:srgbClr val="16223B"/>
          </a:solidFill>
          <a:ln w="4524">
            <a:solidFill>
              <a:srgbClr val="2A3B5E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953125" y="2124075"/>
            <a:ext cx="1171575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buNone/>
            </a:pPr>
            <a:r>
              <a:rPr lang="en-US" sz="640" kern="0" spc="13" dirty="0">
                <a:solidFill>
                  <a:srgbClr val="93A4C0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VALUE FUNCTION HEATMAP</a:t>
            </a:r>
            <a:endParaRPr lang="en-US" sz="640" dirty="0"/>
          </a:p>
        </p:txBody>
      </p:sp>
      <p:sp>
        <p:nvSpPr>
          <p:cNvPr id="127" name="Shape 125"/>
          <p:cNvSpPr/>
          <p:nvPr/>
        </p:nvSpPr>
        <p:spPr>
          <a:xfrm>
            <a:off x="6210300" y="2400300"/>
            <a:ext cx="171450" cy="171450"/>
          </a:xfrm>
          <a:prstGeom prst="roundRect">
            <a:avLst/>
          </a:prstGeom>
          <a:solidFill>
            <a:srgbClr val="EF4444">
              <a:alpha val="92000"/>
            </a:srgbClr>
          </a:solidFill>
        </p:spPr>
      </p:sp>
      <p:sp>
        <p:nvSpPr>
          <p:cNvPr id="128" name="Shape 126"/>
          <p:cNvSpPr/>
          <p:nvPr/>
        </p:nvSpPr>
        <p:spPr>
          <a:xfrm>
            <a:off x="6400800" y="2400300"/>
            <a:ext cx="171450" cy="171450"/>
          </a:xfrm>
          <a:prstGeom prst="roundRect">
            <a:avLst/>
          </a:prstGeom>
          <a:solidFill>
            <a:srgbClr val="EE503D">
              <a:alpha val="92000"/>
            </a:srgbClr>
          </a:solidFill>
        </p:spPr>
      </p:sp>
      <p:sp>
        <p:nvSpPr>
          <p:cNvPr id="129" name="Shape 127"/>
          <p:cNvSpPr/>
          <p:nvPr/>
        </p:nvSpPr>
        <p:spPr>
          <a:xfrm>
            <a:off x="6591300" y="2400300"/>
            <a:ext cx="171450" cy="171450"/>
          </a:xfrm>
          <a:prstGeom prst="roundRect">
            <a:avLst/>
          </a:prstGeom>
          <a:solidFill>
            <a:srgbClr val="EE5D37">
              <a:alpha val="92000"/>
            </a:srgbClr>
          </a:solidFill>
        </p:spPr>
      </p:sp>
      <p:sp>
        <p:nvSpPr>
          <p:cNvPr id="130" name="Shape 128"/>
          <p:cNvSpPr/>
          <p:nvPr/>
        </p:nvSpPr>
        <p:spPr>
          <a:xfrm>
            <a:off x="6781800" y="2400300"/>
            <a:ext cx="171450" cy="171450"/>
          </a:xfrm>
          <a:prstGeom prst="roundRect">
            <a:avLst/>
          </a:prstGeom>
          <a:solidFill>
            <a:srgbClr val="ED6930">
              <a:alpha val="92000"/>
            </a:srgbClr>
          </a:solidFill>
        </p:spPr>
      </p:sp>
      <p:sp>
        <p:nvSpPr>
          <p:cNvPr id="131" name="Shape 129"/>
          <p:cNvSpPr/>
          <p:nvPr/>
        </p:nvSpPr>
        <p:spPr>
          <a:xfrm>
            <a:off x="6972300" y="2400300"/>
            <a:ext cx="171450" cy="171450"/>
          </a:xfrm>
          <a:prstGeom prst="roundRect">
            <a:avLst/>
          </a:prstGeom>
          <a:solidFill>
            <a:srgbClr val="ED7529">
              <a:alpha val="92000"/>
            </a:srgbClr>
          </a:solidFill>
        </p:spPr>
      </p:sp>
      <p:sp>
        <p:nvSpPr>
          <p:cNvPr id="132" name="Shape 130"/>
          <p:cNvSpPr/>
          <p:nvPr/>
        </p:nvSpPr>
        <p:spPr>
          <a:xfrm>
            <a:off x="7162800" y="2400300"/>
            <a:ext cx="171450" cy="171450"/>
          </a:xfrm>
          <a:prstGeom prst="roundRect">
            <a:avLst/>
          </a:prstGeom>
          <a:solidFill>
            <a:srgbClr val="EC8223">
              <a:alpha val="92000"/>
            </a:srgbClr>
          </a:solidFill>
        </p:spPr>
      </p:sp>
      <p:sp>
        <p:nvSpPr>
          <p:cNvPr id="133" name="Shape 131"/>
          <p:cNvSpPr/>
          <p:nvPr/>
        </p:nvSpPr>
        <p:spPr>
          <a:xfrm>
            <a:off x="7353300" y="2400300"/>
            <a:ext cx="171450" cy="171450"/>
          </a:xfrm>
          <a:prstGeom prst="roundRect">
            <a:avLst/>
          </a:prstGeom>
          <a:solidFill>
            <a:srgbClr val="EC8E1C">
              <a:alpha val="92000"/>
            </a:srgbClr>
          </a:solidFill>
        </p:spPr>
      </p:sp>
      <p:sp>
        <p:nvSpPr>
          <p:cNvPr id="134" name="Shape 132"/>
          <p:cNvSpPr/>
          <p:nvPr/>
        </p:nvSpPr>
        <p:spPr>
          <a:xfrm>
            <a:off x="7543800" y="2400300"/>
            <a:ext cx="171450" cy="171450"/>
          </a:xfrm>
          <a:prstGeom prst="roundRect">
            <a:avLst/>
          </a:prstGeom>
          <a:solidFill>
            <a:srgbClr val="EB9A15">
              <a:alpha val="92000"/>
            </a:srgbClr>
          </a:solidFill>
        </p:spPr>
      </p:sp>
      <p:sp>
        <p:nvSpPr>
          <p:cNvPr id="135" name="Shape 133"/>
          <p:cNvSpPr/>
          <p:nvPr/>
        </p:nvSpPr>
        <p:spPr>
          <a:xfrm>
            <a:off x="7734300" y="2400300"/>
            <a:ext cx="171450" cy="171450"/>
          </a:xfrm>
          <a:prstGeom prst="roundRect">
            <a:avLst/>
          </a:prstGeom>
          <a:solidFill>
            <a:srgbClr val="EBA70F">
              <a:alpha val="92000"/>
            </a:srgbClr>
          </a:solidFill>
        </p:spPr>
      </p:sp>
      <p:sp>
        <p:nvSpPr>
          <p:cNvPr id="136" name="Shape 134"/>
          <p:cNvSpPr/>
          <p:nvPr/>
        </p:nvSpPr>
        <p:spPr>
          <a:xfrm>
            <a:off x="7924800" y="2400300"/>
            <a:ext cx="171450" cy="171450"/>
          </a:xfrm>
          <a:prstGeom prst="roundRect">
            <a:avLst/>
          </a:prstGeom>
          <a:solidFill>
            <a:srgbClr val="EAB308">
              <a:alpha val="92000"/>
            </a:srgbClr>
          </a:solidFill>
        </p:spPr>
      </p:sp>
      <p:sp>
        <p:nvSpPr>
          <p:cNvPr id="137" name="Shape 135"/>
          <p:cNvSpPr/>
          <p:nvPr/>
        </p:nvSpPr>
        <p:spPr>
          <a:xfrm>
            <a:off x="6210300" y="2590800"/>
            <a:ext cx="171450" cy="171450"/>
          </a:xfrm>
          <a:prstGeom prst="roundRect">
            <a:avLst/>
          </a:prstGeom>
          <a:solidFill>
            <a:srgbClr val="EE503D">
              <a:alpha val="92000"/>
            </a:srgbClr>
          </a:solidFill>
        </p:spPr>
      </p:sp>
      <p:sp>
        <p:nvSpPr>
          <p:cNvPr id="138" name="Shape 136"/>
          <p:cNvSpPr/>
          <p:nvPr/>
        </p:nvSpPr>
        <p:spPr>
          <a:xfrm>
            <a:off x="6400800" y="2590800"/>
            <a:ext cx="171450" cy="171450"/>
          </a:xfrm>
          <a:prstGeom prst="roundRect">
            <a:avLst/>
          </a:prstGeom>
          <a:solidFill>
            <a:srgbClr val="EE5D37">
              <a:alpha val="92000"/>
            </a:srgbClr>
          </a:solidFill>
        </p:spPr>
      </p:sp>
      <p:sp>
        <p:nvSpPr>
          <p:cNvPr id="139" name="Shape 137"/>
          <p:cNvSpPr/>
          <p:nvPr/>
        </p:nvSpPr>
        <p:spPr>
          <a:xfrm>
            <a:off x="6591300" y="2590800"/>
            <a:ext cx="171450" cy="171450"/>
          </a:xfrm>
          <a:prstGeom prst="roundRect">
            <a:avLst/>
          </a:prstGeom>
          <a:solidFill>
            <a:srgbClr val="ED6930">
              <a:alpha val="92000"/>
            </a:srgbClr>
          </a:solidFill>
        </p:spPr>
      </p:sp>
      <p:sp>
        <p:nvSpPr>
          <p:cNvPr id="140" name="Shape 138"/>
          <p:cNvSpPr/>
          <p:nvPr/>
        </p:nvSpPr>
        <p:spPr>
          <a:xfrm>
            <a:off x="6781800" y="2590800"/>
            <a:ext cx="171450" cy="171450"/>
          </a:xfrm>
          <a:prstGeom prst="roundRect">
            <a:avLst/>
          </a:prstGeom>
          <a:solidFill>
            <a:srgbClr val="ED7529">
              <a:alpha val="92000"/>
            </a:srgbClr>
          </a:solidFill>
        </p:spPr>
      </p:sp>
      <p:sp>
        <p:nvSpPr>
          <p:cNvPr id="141" name="Shape 139"/>
          <p:cNvSpPr/>
          <p:nvPr/>
        </p:nvSpPr>
        <p:spPr>
          <a:xfrm>
            <a:off x="6972300" y="2590800"/>
            <a:ext cx="171450" cy="171450"/>
          </a:xfrm>
          <a:prstGeom prst="roundRect">
            <a:avLst/>
          </a:prstGeom>
          <a:solidFill>
            <a:srgbClr val="EC8223">
              <a:alpha val="92000"/>
            </a:srgbClr>
          </a:solidFill>
        </p:spPr>
      </p:sp>
      <p:sp>
        <p:nvSpPr>
          <p:cNvPr id="142" name="Shape 140"/>
          <p:cNvSpPr/>
          <p:nvPr/>
        </p:nvSpPr>
        <p:spPr>
          <a:xfrm>
            <a:off x="7162800" y="2590800"/>
            <a:ext cx="171450" cy="171450"/>
          </a:xfrm>
          <a:prstGeom prst="roundRect">
            <a:avLst/>
          </a:prstGeom>
          <a:solidFill>
            <a:srgbClr val="EC8E1C">
              <a:alpha val="92000"/>
            </a:srgbClr>
          </a:solidFill>
        </p:spPr>
      </p:sp>
      <p:sp>
        <p:nvSpPr>
          <p:cNvPr id="143" name="Shape 141"/>
          <p:cNvSpPr/>
          <p:nvPr/>
        </p:nvSpPr>
        <p:spPr>
          <a:xfrm>
            <a:off x="7353300" y="2590800"/>
            <a:ext cx="171450" cy="171450"/>
          </a:xfrm>
          <a:prstGeom prst="roundRect">
            <a:avLst/>
          </a:prstGeom>
          <a:solidFill>
            <a:srgbClr val="EB9A15">
              <a:alpha val="92000"/>
            </a:srgbClr>
          </a:solidFill>
        </p:spPr>
      </p:sp>
      <p:sp>
        <p:nvSpPr>
          <p:cNvPr id="144" name="Shape 142"/>
          <p:cNvSpPr/>
          <p:nvPr/>
        </p:nvSpPr>
        <p:spPr>
          <a:xfrm>
            <a:off x="7543800" y="2590800"/>
            <a:ext cx="171450" cy="171450"/>
          </a:xfrm>
          <a:prstGeom prst="roundRect">
            <a:avLst/>
          </a:prstGeom>
          <a:solidFill>
            <a:srgbClr val="EBA70F">
              <a:alpha val="92000"/>
            </a:srgbClr>
          </a:solidFill>
        </p:spPr>
      </p:sp>
      <p:sp>
        <p:nvSpPr>
          <p:cNvPr id="145" name="Shape 143"/>
          <p:cNvSpPr/>
          <p:nvPr/>
        </p:nvSpPr>
        <p:spPr>
          <a:xfrm>
            <a:off x="7734300" y="2590800"/>
            <a:ext cx="171450" cy="171450"/>
          </a:xfrm>
          <a:prstGeom prst="roundRect">
            <a:avLst/>
          </a:prstGeom>
          <a:solidFill>
            <a:srgbClr val="EAB308">
              <a:alpha val="92000"/>
            </a:srgbClr>
          </a:solidFill>
        </p:spPr>
      </p:sp>
      <p:sp>
        <p:nvSpPr>
          <p:cNvPr id="146" name="Shape 144"/>
          <p:cNvSpPr/>
          <p:nvPr/>
        </p:nvSpPr>
        <p:spPr>
          <a:xfrm>
            <a:off x="7924800" y="2590800"/>
            <a:ext cx="171450" cy="171450"/>
          </a:xfrm>
          <a:prstGeom prst="roundRect">
            <a:avLst/>
          </a:prstGeom>
          <a:solidFill>
            <a:srgbClr val="D4B511">
              <a:alpha val="92000"/>
            </a:srgbClr>
          </a:solidFill>
        </p:spPr>
      </p:sp>
      <p:sp>
        <p:nvSpPr>
          <p:cNvPr id="147" name="Shape 145"/>
          <p:cNvSpPr/>
          <p:nvPr/>
        </p:nvSpPr>
        <p:spPr>
          <a:xfrm>
            <a:off x="6210300" y="2781300"/>
            <a:ext cx="171450" cy="171450"/>
          </a:xfrm>
          <a:prstGeom prst="roundRect">
            <a:avLst/>
          </a:prstGeom>
          <a:solidFill>
            <a:srgbClr val="EE5D37">
              <a:alpha val="92000"/>
            </a:srgbClr>
          </a:solidFill>
        </p:spPr>
      </p:sp>
      <p:sp>
        <p:nvSpPr>
          <p:cNvPr id="148" name="Shape 146"/>
          <p:cNvSpPr/>
          <p:nvPr/>
        </p:nvSpPr>
        <p:spPr>
          <a:xfrm>
            <a:off x="6400800" y="2781300"/>
            <a:ext cx="171450" cy="171450"/>
          </a:xfrm>
          <a:prstGeom prst="roundRect">
            <a:avLst/>
          </a:prstGeom>
          <a:solidFill>
            <a:srgbClr val="ED6930">
              <a:alpha val="92000"/>
            </a:srgbClr>
          </a:solidFill>
        </p:spPr>
      </p:sp>
      <p:sp>
        <p:nvSpPr>
          <p:cNvPr id="149" name="Shape 147"/>
          <p:cNvSpPr/>
          <p:nvPr/>
        </p:nvSpPr>
        <p:spPr>
          <a:xfrm>
            <a:off x="6591300" y="2781300"/>
            <a:ext cx="171450" cy="171450"/>
          </a:xfrm>
          <a:prstGeom prst="roundRect">
            <a:avLst/>
          </a:prstGeom>
          <a:solidFill>
            <a:srgbClr val="ED7529">
              <a:alpha val="92000"/>
            </a:srgbClr>
          </a:solidFill>
        </p:spPr>
      </p:sp>
      <p:sp>
        <p:nvSpPr>
          <p:cNvPr id="150" name="Shape 148"/>
          <p:cNvSpPr/>
          <p:nvPr/>
        </p:nvSpPr>
        <p:spPr>
          <a:xfrm>
            <a:off x="6781800" y="2781300"/>
            <a:ext cx="171450" cy="171450"/>
          </a:xfrm>
          <a:prstGeom prst="roundRect">
            <a:avLst/>
          </a:prstGeom>
          <a:solidFill>
            <a:srgbClr val="EC8223">
              <a:alpha val="92000"/>
            </a:srgbClr>
          </a:solidFill>
        </p:spPr>
      </p:sp>
      <p:sp>
        <p:nvSpPr>
          <p:cNvPr id="151" name="Shape 149"/>
          <p:cNvSpPr/>
          <p:nvPr/>
        </p:nvSpPr>
        <p:spPr>
          <a:xfrm>
            <a:off x="6972300" y="2781300"/>
            <a:ext cx="171450" cy="171450"/>
          </a:xfrm>
          <a:prstGeom prst="roundRect">
            <a:avLst/>
          </a:prstGeom>
          <a:solidFill>
            <a:srgbClr val="EC8E1C">
              <a:alpha val="92000"/>
            </a:srgbClr>
          </a:solidFill>
        </p:spPr>
      </p:sp>
      <p:sp>
        <p:nvSpPr>
          <p:cNvPr id="152" name="Shape 150"/>
          <p:cNvSpPr/>
          <p:nvPr/>
        </p:nvSpPr>
        <p:spPr>
          <a:xfrm>
            <a:off x="7162800" y="2781300"/>
            <a:ext cx="171450" cy="171450"/>
          </a:xfrm>
          <a:prstGeom prst="roundRect">
            <a:avLst/>
          </a:prstGeom>
          <a:solidFill>
            <a:srgbClr val="EB9A15">
              <a:alpha val="92000"/>
            </a:srgbClr>
          </a:solidFill>
        </p:spPr>
      </p:sp>
      <p:sp>
        <p:nvSpPr>
          <p:cNvPr id="153" name="Shape 151"/>
          <p:cNvSpPr/>
          <p:nvPr/>
        </p:nvSpPr>
        <p:spPr>
          <a:xfrm>
            <a:off x="7353300" y="2781300"/>
            <a:ext cx="171450" cy="171450"/>
          </a:xfrm>
          <a:prstGeom prst="roundRect">
            <a:avLst/>
          </a:prstGeom>
          <a:solidFill>
            <a:srgbClr val="EBA70F">
              <a:alpha val="92000"/>
            </a:srgbClr>
          </a:solidFill>
        </p:spPr>
      </p:sp>
      <p:sp>
        <p:nvSpPr>
          <p:cNvPr id="154" name="Shape 152"/>
          <p:cNvSpPr/>
          <p:nvPr/>
        </p:nvSpPr>
        <p:spPr>
          <a:xfrm>
            <a:off x="7543800" y="2781300"/>
            <a:ext cx="171450" cy="171450"/>
          </a:xfrm>
          <a:prstGeom prst="roundRect">
            <a:avLst/>
          </a:prstGeom>
          <a:solidFill>
            <a:srgbClr val="EAB308">
              <a:alpha val="92000"/>
            </a:srgbClr>
          </a:solidFill>
        </p:spPr>
      </p:sp>
      <p:sp>
        <p:nvSpPr>
          <p:cNvPr id="155" name="Shape 153"/>
          <p:cNvSpPr/>
          <p:nvPr/>
        </p:nvSpPr>
        <p:spPr>
          <a:xfrm>
            <a:off x="7734300" y="2781300"/>
            <a:ext cx="171450" cy="171450"/>
          </a:xfrm>
          <a:prstGeom prst="roundRect">
            <a:avLst/>
          </a:prstGeom>
          <a:solidFill>
            <a:srgbClr val="D4B511">
              <a:alpha val="92000"/>
            </a:srgbClr>
          </a:solidFill>
        </p:spPr>
      </p:sp>
      <p:sp>
        <p:nvSpPr>
          <p:cNvPr id="156" name="Shape 154"/>
          <p:cNvSpPr/>
          <p:nvPr/>
        </p:nvSpPr>
        <p:spPr>
          <a:xfrm>
            <a:off x="7924800" y="2781300"/>
            <a:ext cx="171450" cy="171450"/>
          </a:xfrm>
          <a:prstGeom prst="roundRect">
            <a:avLst/>
          </a:prstGeom>
          <a:solidFill>
            <a:srgbClr val="BEB71B">
              <a:alpha val="92000"/>
            </a:srgbClr>
          </a:solidFill>
        </p:spPr>
      </p:sp>
      <p:sp>
        <p:nvSpPr>
          <p:cNvPr id="157" name="Shape 155"/>
          <p:cNvSpPr/>
          <p:nvPr/>
        </p:nvSpPr>
        <p:spPr>
          <a:xfrm>
            <a:off x="6210300" y="2971800"/>
            <a:ext cx="171450" cy="171450"/>
          </a:xfrm>
          <a:prstGeom prst="roundRect">
            <a:avLst/>
          </a:prstGeom>
          <a:solidFill>
            <a:srgbClr val="ED6930">
              <a:alpha val="92000"/>
            </a:srgbClr>
          </a:solidFill>
        </p:spPr>
      </p:sp>
      <p:sp>
        <p:nvSpPr>
          <p:cNvPr id="158" name="Shape 156"/>
          <p:cNvSpPr/>
          <p:nvPr/>
        </p:nvSpPr>
        <p:spPr>
          <a:xfrm>
            <a:off x="6400800" y="2971800"/>
            <a:ext cx="171450" cy="171450"/>
          </a:xfrm>
          <a:prstGeom prst="roundRect">
            <a:avLst/>
          </a:prstGeom>
          <a:solidFill>
            <a:srgbClr val="ED7529">
              <a:alpha val="92000"/>
            </a:srgbClr>
          </a:solidFill>
        </p:spPr>
      </p:sp>
      <p:sp>
        <p:nvSpPr>
          <p:cNvPr id="159" name="Shape 157"/>
          <p:cNvSpPr/>
          <p:nvPr/>
        </p:nvSpPr>
        <p:spPr>
          <a:xfrm>
            <a:off x="6591300" y="2971800"/>
            <a:ext cx="171450" cy="171450"/>
          </a:xfrm>
          <a:prstGeom prst="roundRect">
            <a:avLst/>
          </a:prstGeom>
          <a:solidFill>
            <a:srgbClr val="EC8223">
              <a:alpha val="92000"/>
            </a:srgbClr>
          </a:solidFill>
        </p:spPr>
      </p:sp>
      <p:sp>
        <p:nvSpPr>
          <p:cNvPr id="160" name="Shape 158"/>
          <p:cNvSpPr/>
          <p:nvPr/>
        </p:nvSpPr>
        <p:spPr>
          <a:xfrm>
            <a:off x="6781800" y="2971800"/>
            <a:ext cx="171450" cy="171450"/>
          </a:xfrm>
          <a:prstGeom prst="roundRect">
            <a:avLst/>
          </a:prstGeom>
          <a:solidFill>
            <a:srgbClr val="EC8E1C">
              <a:alpha val="92000"/>
            </a:srgbClr>
          </a:solidFill>
        </p:spPr>
      </p:sp>
      <p:sp>
        <p:nvSpPr>
          <p:cNvPr id="161" name="Shape 159"/>
          <p:cNvSpPr/>
          <p:nvPr/>
        </p:nvSpPr>
        <p:spPr>
          <a:xfrm>
            <a:off x="6972300" y="2971800"/>
            <a:ext cx="171450" cy="171450"/>
          </a:xfrm>
          <a:prstGeom prst="roundRect">
            <a:avLst/>
          </a:prstGeom>
          <a:solidFill>
            <a:srgbClr val="EB9A15">
              <a:alpha val="92000"/>
            </a:srgbClr>
          </a:solidFill>
        </p:spPr>
      </p:sp>
      <p:sp>
        <p:nvSpPr>
          <p:cNvPr id="162" name="Shape 160"/>
          <p:cNvSpPr/>
          <p:nvPr/>
        </p:nvSpPr>
        <p:spPr>
          <a:xfrm>
            <a:off x="7162800" y="2971800"/>
            <a:ext cx="171450" cy="171450"/>
          </a:xfrm>
          <a:prstGeom prst="roundRect">
            <a:avLst/>
          </a:prstGeom>
          <a:solidFill>
            <a:srgbClr val="EBA70F">
              <a:alpha val="92000"/>
            </a:srgbClr>
          </a:solidFill>
        </p:spPr>
      </p:sp>
      <p:sp>
        <p:nvSpPr>
          <p:cNvPr id="163" name="Shape 161"/>
          <p:cNvSpPr/>
          <p:nvPr/>
        </p:nvSpPr>
        <p:spPr>
          <a:xfrm>
            <a:off x="7353300" y="2971800"/>
            <a:ext cx="171450" cy="171450"/>
          </a:xfrm>
          <a:prstGeom prst="roundRect">
            <a:avLst/>
          </a:prstGeom>
          <a:solidFill>
            <a:srgbClr val="EAB308">
              <a:alpha val="92000"/>
            </a:srgbClr>
          </a:solidFill>
        </p:spPr>
      </p:sp>
      <p:sp>
        <p:nvSpPr>
          <p:cNvPr id="164" name="Shape 162"/>
          <p:cNvSpPr/>
          <p:nvPr/>
        </p:nvSpPr>
        <p:spPr>
          <a:xfrm>
            <a:off x="7543800" y="2971800"/>
            <a:ext cx="171450" cy="171450"/>
          </a:xfrm>
          <a:prstGeom prst="roundRect">
            <a:avLst/>
          </a:prstGeom>
          <a:solidFill>
            <a:srgbClr val="D4B511">
              <a:alpha val="92000"/>
            </a:srgbClr>
          </a:solidFill>
        </p:spPr>
      </p:sp>
      <p:sp>
        <p:nvSpPr>
          <p:cNvPr id="165" name="Shape 163"/>
          <p:cNvSpPr/>
          <p:nvPr/>
        </p:nvSpPr>
        <p:spPr>
          <a:xfrm>
            <a:off x="7734300" y="2971800"/>
            <a:ext cx="171450" cy="171450"/>
          </a:xfrm>
          <a:prstGeom prst="roundRect">
            <a:avLst/>
          </a:prstGeom>
          <a:solidFill>
            <a:srgbClr val="BEB71B">
              <a:alpha val="92000"/>
            </a:srgbClr>
          </a:solidFill>
        </p:spPr>
      </p:sp>
      <p:sp>
        <p:nvSpPr>
          <p:cNvPr id="166" name="Shape 164"/>
          <p:cNvSpPr/>
          <p:nvPr/>
        </p:nvSpPr>
        <p:spPr>
          <a:xfrm>
            <a:off x="7924800" y="2971800"/>
            <a:ext cx="171450" cy="171450"/>
          </a:xfrm>
          <a:prstGeom prst="roundRect">
            <a:avLst/>
          </a:prstGeom>
          <a:solidFill>
            <a:srgbClr val="A7B925">
              <a:alpha val="92000"/>
            </a:srgbClr>
          </a:solidFill>
        </p:spPr>
      </p:sp>
      <p:sp>
        <p:nvSpPr>
          <p:cNvPr id="167" name="Shape 165"/>
          <p:cNvSpPr/>
          <p:nvPr/>
        </p:nvSpPr>
        <p:spPr>
          <a:xfrm>
            <a:off x="6210300" y="3162300"/>
            <a:ext cx="171450" cy="171450"/>
          </a:xfrm>
          <a:prstGeom prst="roundRect">
            <a:avLst/>
          </a:prstGeom>
          <a:solidFill>
            <a:srgbClr val="ED7529">
              <a:alpha val="92000"/>
            </a:srgbClr>
          </a:solidFill>
        </p:spPr>
      </p:sp>
      <p:sp>
        <p:nvSpPr>
          <p:cNvPr id="168" name="Shape 166"/>
          <p:cNvSpPr/>
          <p:nvPr/>
        </p:nvSpPr>
        <p:spPr>
          <a:xfrm>
            <a:off x="6400800" y="3162300"/>
            <a:ext cx="171450" cy="171450"/>
          </a:xfrm>
          <a:prstGeom prst="roundRect">
            <a:avLst/>
          </a:prstGeom>
          <a:solidFill>
            <a:srgbClr val="EC8223">
              <a:alpha val="92000"/>
            </a:srgbClr>
          </a:solidFill>
        </p:spPr>
      </p:sp>
      <p:sp>
        <p:nvSpPr>
          <p:cNvPr id="169" name="Shape 167"/>
          <p:cNvSpPr/>
          <p:nvPr/>
        </p:nvSpPr>
        <p:spPr>
          <a:xfrm>
            <a:off x="6591300" y="3162300"/>
            <a:ext cx="171450" cy="171450"/>
          </a:xfrm>
          <a:prstGeom prst="roundRect">
            <a:avLst/>
          </a:prstGeom>
          <a:solidFill>
            <a:srgbClr val="EC8E1C">
              <a:alpha val="92000"/>
            </a:srgbClr>
          </a:solidFill>
        </p:spPr>
      </p:sp>
      <p:sp>
        <p:nvSpPr>
          <p:cNvPr id="170" name="Shape 168"/>
          <p:cNvSpPr/>
          <p:nvPr/>
        </p:nvSpPr>
        <p:spPr>
          <a:xfrm>
            <a:off x="6781800" y="3162300"/>
            <a:ext cx="171450" cy="171450"/>
          </a:xfrm>
          <a:prstGeom prst="roundRect">
            <a:avLst/>
          </a:prstGeom>
          <a:solidFill>
            <a:srgbClr val="EB9A15">
              <a:alpha val="92000"/>
            </a:srgbClr>
          </a:solidFill>
        </p:spPr>
      </p:sp>
      <p:sp>
        <p:nvSpPr>
          <p:cNvPr id="171" name="Shape 169"/>
          <p:cNvSpPr/>
          <p:nvPr/>
        </p:nvSpPr>
        <p:spPr>
          <a:xfrm>
            <a:off x="6972300" y="3162300"/>
            <a:ext cx="171450" cy="171450"/>
          </a:xfrm>
          <a:prstGeom prst="roundRect">
            <a:avLst/>
          </a:prstGeom>
          <a:solidFill>
            <a:srgbClr val="EBA70F">
              <a:alpha val="92000"/>
            </a:srgbClr>
          </a:solidFill>
        </p:spPr>
      </p:sp>
      <p:sp>
        <p:nvSpPr>
          <p:cNvPr id="172" name="Shape 170"/>
          <p:cNvSpPr/>
          <p:nvPr/>
        </p:nvSpPr>
        <p:spPr>
          <a:xfrm>
            <a:off x="7162800" y="3162300"/>
            <a:ext cx="171450" cy="171450"/>
          </a:xfrm>
          <a:prstGeom prst="roundRect">
            <a:avLst/>
          </a:prstGeom>
          <a:solidFill>
            <a:srgbClr val="EAB308">
              <a:alpha val="92000"/>
            </a:srgbClr>
          </a:solidFill>
        </p:spPr>
      </p:sp>
      <p:sp>
        <p:nvSpPr>
          <p:cNvPr id="173" name="Shape 171"/>
          <p:cNvSpPr/>
          <p:nvPr/>
        </p:nvSpPr>
        <p:spPr>
          <a:xfrm>
            <a:off x="7353300" y="3162300"/>
            <a:ext cx="171450" cy="171450"/>
          </a:xfrm>
          <a:prstGeom prst="roundRect">
            <a:avLst/>
          </a:prstGeom>
          <a:solidFill>
            <a:srgbClr val="D4B511">
              <a:alpha val="92000"/>
            </a:srgbClr>
          </a:solidFill>
        </p:spPr>
      </p:sp>
      <p:sp>
        <p:nvSpPr>
          <p:cNvPr id="174" name="Shape 172"/>
          <p:cNvSpPr/>
          <p:nvPr/>
        </p:nvSpPr>
        <p:spPr>
          <a:xfrm>
            <a:off x="7543800" y="3162300"/>
            <a:ext cx="171450" cy="171450"/>
          </a:xfrm>
          <a:prstGeom prst="roundRect">
            <a:avLst/>
          </a:prstGeom>
          <a:solidFill>
            <a:srgbClr val="BEB71B">
              <a:alpha val="92000"/>
            </a:srgbClr>
          </a:solidFill>
        </p:spPr>
      </p:sp>
      <p:sp>
        <p:nvSpPr>
          <p:cNvPr id="175" name="Shape 173"/>
          <p:cNvSpPr/>
          <p:nvPr/>
        </p:nvSpPr>
        <p:spPr>
          <a:xfrm>
            <a:off x="7734300" y="3162300"/>
            <a:ext cx="171450" cy="171450"/>
          </a:xfrm>
          <a:prstGeom prst="roundRect">
            <a:avLst/>
          </a:prstGeom>
          <a:solidFill>
            <a:srgbClr val="A7B925">
              <a:alpha val="92000"/>
            </a:srgbClr>
          </a:solidFill>
        </p:spPr>
      </p:sp>
      <p:sp>
        <p:nvSpPr>
          <p:cNvPr id="176" name="Shape 174"/>
          <p:cNvSpPr/>
          <p:nvPr/>
        </p:nvSpPr>
        <p:spPr>
          <a:xfrm>
            <a:off x="7924800" y="3162300"/>
            <a:ext cx="171450" cy="171450"/>
          </a:xfrm>
          <a:prstGeom prst="roundRect">
            <a:avLst/>
          </a:prstGeom>
          <a:solidFill>
            <a:srgbClr val="91BB2E">
              <a:alpha val="92000"/>
            </a:srgbClr>
          </a:solidFill>
        </p:spPr>
      </p:sp>
      <p:sp>
        <p:nvSpPr>
          <p:cNvPr id="177" name="Shape 175"/>
          <p:cNvSpPr/>
          <p:nvPr/>
        </p:nvSpPr>
        <p:spPr>
          <a:xfrm>
            <a:off x="6210300" y="3352800"/>
            <a:ext cx="171450" cy="171450"/>
          </a:xfrm>
          <a:prstGeom prst="roundRect">
            <a:avLst/>
          </a:prstGeom>
          <a:solidFill>
            <a:srgbClr val="EC8223">
              <a:alpha val="92000"/>
            </a:srgbClr>
          </a:solidFill>
        </p:spPr>
      </p:sp>
      <p:sp>
        <p:nvSpPr>
          <p:cNvPr id="178" name="Shape 176"/>
          <p:cNvSpPr/>
          <p:nvPr/>
        </p:nvSpPr>
        <p:spPr>
          <a:xfrm>
            <a:off x="6400800" y="3352800"/>
            <a:ext cx="171450" cy="171450"/>
          </a:xfrm>
          <a:prstGeom prst="roundRect">
            <a:avLst/>
          </a:prstGeom>
          <a:solidFill>
            <a:srgbClr val="EC8E1C">
              <a:alpha val="92000"/>
            </a:srgbClr>
          </a:solidFill>
        </p:spPr>
      </p:sp>
      <p:sp>
        <p:nvSpPr>
          <p:cNvPr id="179" name="Shape 177"/>
          <p:cNvSpPr/>
          <p:nvPr/>
        </p:nvSpPr>
        <p:spPr>
          <a:xfrm>
            <a:off x="6591300" y="3352800"/>
            <a:ext cx="171450" cy="171450"/>
          </a:xfrm>
          <a:prstGeom prst="roundRect">
            <a:avLst/>
          </a:prstGeom>
          <a:solidFill>
            <a:srgbClr val="EB9A15">
              <a:alpha val="92000"/>
            </a:srgbClr>
          </a:solidFill>
        </p:spPr>
      </p:sp>
      <p:sp>
        <p:nvSpPr>
          <p:cNvPr id="180" name="Shape 178"/>
          <p:cNvSpPr/>
          <p:nvPr/>
        </p:nvSpPr>
        <p:spPr>
          <a:xfrm>
            <a:off x="6781800" y="3352800"/>
            <a:ext cx="171450" cy="171450"/>
          </a:xfrm>
          <a:prstGeom prst="roundRect">
            <a:avLst/>
          </a:prstGeom>
          <a:solidFill>
            <a:srgbClr val="EBA70F">
              <a:alpha val="92000"/>
            </a:srgbClr>
          </a:solidFill>
        </p:spPr>
      </p:sp>
      <p:sp>
        <p:nvSpPr>
          <p:cNvPr id="181" name="Shape 179"/>
          <p:cNvSpPr/>
          <p:nvPr/>
        </p:nvSpPr>
        <p:spPr>
          <a:xfrm>
            <a:off x="6972300" y="3352800"/>
            <a:ext cx="171450" cy="171450"/>
          </a:xfrm>
          <a:prstGeom prst="roundRect">
            <a:avLst/>
          </a:prstGeom>
          <a:solidFill>
            <a:srgbClr val="EAB308">
              <a:alpha val="92000"/>
            </a:srgbClr>
          </a:solidFill>
        </p:spPr>
      </p:sp>
      <p:sp>
        <p:nvSpPr>
          <p:cNvPr id="182" name="Shape 180"/>
          <p:cNvSpPr/>
          <p:nvPr/>
        </p:nvSpPr>
        <p:spPr>
          <a:xfrm>
            <a:off x="7162800" y="3352800"/>
            <a:ext cx="171450" cy="171450"/>
          </a:xfrm>
          <a:prstGeom prst="roundRect">
            <a:avLst/>
          </a:prstGeom>
          <a:solidFill>
            <a:srgbClr val="D4B511">
              <a:alpha val="92000"/>
            </a:srgbClr>
          </a:solidFill>
        </p:spPr>
      </p:sp>
      <p:sp>
        <p:nvSpPr>
          <p:cNvPr id="183" name="Shape 181"/>
          <p:cNvSpPr/>
          <p:nvPr/>
        </p:nvSpPr>
        <p:spPr>
          <a:xfrm>
            <a:off x="7353300" y="3352800"/>
            <a:ext cx="171450" cy="171450"/>
          </a:xfrm>
          <a:prstGeom prst="roundRect">
            <a:avLst/>
          </a:prstGeom>
          <a:solidFill>
            <a:srgbClr val="BEB71B">
              <a:alpha val="92000"/>
            </a:srgbClr>
          </a:solidFill>
        </p:spPr>
      </p:sp>
      <p:sp>
        <p:nvSpPr>
          <p:cNvPr id="184" name="Shape 182"/>
          <p:cNvSpPr/>
          <p:nvPr/>
        </p:nvSpPr>
        <p:spPr>
          <a:xfrm>
            <a:off x="7543800" y="3352800"/>
            <a:ext cx="171450" cy="171450"/>
          </a:xfrm>
          <a:prstGeom prst="roundRect">
            <a:avLst/>
          </a:prstGeom>
          <a:solidFill>
            <a:srgbClr val="A7B925">
              <a:alpha val="92000"/>
            </a:srgbClr>
          </a:solidFill>
        </p:spPr>
      </p:sp>
      <p:sp>
        <p:nvSpPr>
          <p:cNvPr id="185" name="Shape 183"/>
          <p:cNvSpPr/>
          <p:nvPr/>
        </p:nvSpPr>
        <p:spPr>
          <a:xfrm>
            <a:off x="7734300" y="3352800"/>
            <a:ext cx="171450" cy="171450"/>
          </a:xfrm>
          <a:prstGeom prst="roundRect">
            <a:avLst/>
          </a:prstGeom>
          <a:solidFill>
            <a:srgbClr val="91BB2E">
              <a:alpha val="92000"/>
            </a:srgbClr>
          </a:solidFill>
        </p:spPr>
      </p:sp>
      <p:sp>
        <p:nvSpPr>
          <p:cNvPr id="186" name="Shape 184"/>
          <p:cNvSpPr/>
          <p:nvPr/>
        </p:nvSpPr>
        <p:spPr>
          <a:xfrm>
            <a:off x="7924800" y="3352800"/>
            <a:ext cx="171450" cy="171450"/>
          </a:xfrm>
          <a:prstGeom prst="roundRect">
            <a:avLst/>
          </a:prstGeom>
          <a:solidFill>
            <a:srgbClr val="7BBD38">
              <a:alpha val="92000"/>
            </a:srgbClr>
          </a:solidFill>
        </p:spPr>
      </p:sp>
      <p:sp>
        <p:nvSpPr>
          <p:cNvPr id="187" name="Shape 185"/>
          <p:cNvSpPr/>
          <p:nvPr/>
        </p:nvSpPr>
        <p:spPr>
          <a:xfrm>
            <a:off x="6210300" y="3543300"/>
            <a:ext cx="171450" cy="171450"/>
          </a:xfrm>
          <a:prstGeom prst="roundRect">
            <a:avLst/>
          </a:prstGeom>
          <a:solidFill>
            <a:srgbClr val="EC8E1C">
              <a:alpha val="92000"/>
            </a:srgbClr>
          </a:solidFill>
        </p:spPr>
      </p:sp>
      <p:sp>
        <p:nvSpPr>
          <p:cNvPr id="188" name="Shape 186"/>
          <p:cNvSpPr/>
          <p:nvPr/>
        </p:nvSpPr>
        <p:spPr>
          <a:xfrm>
            <a:off x="6400800" y="3543300"/>
            <a:ext cx="171450" cy="171450"/>
          </a:xfrm>
          <a:prstGeom prst="roundRect">
            <a:avLst/>
          </a:prstGeom>
          <a:solidFill>
            <a:srgbClr val="EB9A15">
              <a:alpha val="92000"/>
            </a:srgbClr>
          </a:solidFill>
        </p:spPr>
      </p:sp>
      <p:sp>
        <p:nvSpPr>
          <p:cNvPr id="189" name="Shape 187"/>
          <p:cNvSpPr/>
          <p:nvPr/>
        </p:nvSpPr>
        <p:spPr>
          <a:xfrm>
            <a:off x="6591300" y="3543300"/>
            <a:ext cx="171450" cy="171450"/>
          </a:xfrm>
          <a:prstGeom prst="roundRect">
            <a:avLst/>
          </a:prstGeom>
          <a:solidFill>
            <a:srgbClr val="EBA70F">
              <a:alpha val="92000"/>
            </a:srgbClr>
          </a:solidFill>
        </p:spPr>
      </p:sp>
      <p:sp>
        <p:nvSpPr>
          <p:cNvPr id="190" name="Shape 188"/>
          <p:cNvSpPr/>
          <p:nvPr/>
        </p:nvSpPr>
        <p:spPr>
          <a:xfrm>
            <a:off x="6781800" y="3543300"/>
            <a:ext cx="171450" cy="171450"/>
          </a:xfrm>
          <a:prstGeom prst="roundRect">
            <a:avLst/>
          </a:prstGeom>
          <a:solidFill>
            <a:srgbClr val="EAB308">
              <a:alpha val="92000"/>
            </a:srgbClr>
          </a:solidFill>
        </p:spPr>
      </p:sp>
      <p:sp>
        <p:nvSpPr>
          <p:cNvPr id="191" name="Shape 189"/>
          <p:cNvSpPr/>
          <p:nvPr/>
        </p:nvSpPr>
        <p:spPr>
          <a:xfrm>
            <a:off x="6972300" y="3543300"/>
            <a:ext cx="171450" cy="171450"/>
          </a:xfrm>
          <a:prstGeom prst="roundRect">
            <a:avLst/>
          </a:prstGeom>
          <a:solidFill>
            <a:srgbClr val="D4B511">
              <a:alpha val="92000"/>
            </a:srgbClr>
          </a:solidFill>
        </p:spPr>
      </p:sp>
      <p:sp>
        <p:nvSpPr>
          <p:cNvPr id="192" name="Shape 190"/>
          <p:cNvSpPr/>
          <p:nvPr/>
        </p:nvSpPr>
        <p:spPr>
          <a:xfrm>
            <a:off x="7162800" y="3543300"/>
            <a:ext cx="171450" cy="171450"/>
          </a:xfrm>
          <a:prstGeom prst="roundRect">
            <a:avLst/>
          </a:prstGeom>
          <a:solidFill>
            <a:srgbClr val="BEB71B">
              <a:alpha val="92000"/>
            </a:srgbClr>
          </a:solidFill>
        </p:spPr>
      </p:sp>
      <p:sp>
        <p:nvSpPr>
          <p:cNvPr id="193" name="Shape 191"/>
          <p:cNvSpPr/>
          <p:nvPr/>
        </p:nvSpPr>
        <p:spPr>
          <a:xfrm>
            <a:off x="7353300" y="3543300"/>
            <a:ext cx="171450" cy="171450"/>
          </a:xfrm>
          <a:prstGeom prst="roundRect">
            <a:avLst/>
          </a:prstGeom>
          <a:solidFill>
            <a:srgbClr val="A7B925">
              <a:alpha val="92000"/>
            </a:srgbClr>
          </a:solidFill>
        </p:spPr>
      </p:sp>
      <p:sp>
        <p:nvSpPr>
          <p:cNvPr id="194" name="Shape 192"/>
          <p:cNvSpPr/>
          <p:nvPr/>
        </p:nvSpPr>
        <p:spPr>
          <a:xfrm>
            <a:off x="7543800" y="3543300"/>
            <a:ext cx="171450" cy="171450"/>
          </a:xfrm>
          <a:prstGeom prst="roundRect">
            <a:avLst/>
          </a:prstGeom>
          <a:solidFill>
            <a:srgbClr val="91BB2E">
              <a:alpha val="92000"/>
            </a:srgbClr>
          </a:solidFill>
        </p:spPr>
      </p:sp>
      <p:sp>
        <p:nvSpPr>
          <p:cNvPr id="195" name="Shape 193"/>
          <p:cNvSpPr/>
          <p:nvPr/>
        </p:nvSpPr>
        <p:spPr>
          <a:xfrm>
            <a:off x="7734300" y="3543300"/>
            <a:ext cx="171450" cy="171450"/>
          </a:xfrm>
          <a:prstGeom prst="roundRect">
            <a:avLst/>
          </a:prstGeom>
          <a:solidFill>
            <a:srgbClr val="7BBD38">
              <a:alpha val="92000"/>
            </a:srgbClr>
          </a:solidFill>
        </p:spPr>
      </p:sp>
      <p:sp>
        <p:nvSpPr>
          <p:cNvPr id="196" name="Shape 194"/>
          <p:cNvSpPr/>
          <p:nvPr/>
        </p:nvSpPr>
        <p:spPr>
          <a:xfrm>
            <a:off x="7924800" y="3543300"/>
            <a:ext cx="171450" cy="171450"/>
          </a:xfrm>
          <a:prstGeom prst="roundRect">
            <a:avLst/>
          </a:prstGeom>
          <a:solidFill>
            <a:srgbClr val="65BF41">
              <a:alpha val="92000"/>
            </a:srgbClr>
          </a:solidFill>
        </p:spPr>
      </p:sp>
      <p:sp>
        <p:nvSpPr>
          <p:cNvPr id="197" name="Shape 195"/>
          <p:cNvSpPr/>
          <p:nvPr/>
        </p:nvSpPr>
        <p:spPr>
          <a:xfrm>
            <a:off x="6210300" y="3733800"/>
            <a:ext cx="171450" cy="171450"/>
          </a:xfrm>
          <a:prstGeom prst="roundRect">
            <a:avLst/>
          </a:prstGeom>
          <a:solidFill>
            <a:srgbClr val="EB9A15">
              <a:alpha val="92000"/>
            </a:srgbClr>
          </a:solidFill>
        </p:spPr>
      </p:sp>
      <p:sp>
        <p:nvSpPr>
          <p:cNvPr id="198" name="Shape 196"/>
          <p:cNvSpPr/>
          <p:nvPr/>
        </p:nvSpPr>
        <p:spPr>
          <a:xfrm>
            <a:off x="6400800" y="3733800"/>
            <a:ext cx="171450" cy="171450"/>
          </a:xfrm>
          <a:prstGeom prst="roundRect">
            <a:avLst/>
          </a:prstGeom>
          <a:solidFill>
            <a:srgbClr val="EBA70F">
              <a:alpha val="92000"/>
            </a:srgbClr>
          </a:solidFill>
        </p:spPr>
      </p:sp>
      <p:sp>
        <p:nvSpPr>
          <p:cNvPr id="199" name="Shape 197"/>
          <p:cNvSpPr/>
          <p:nvPr/>
        </p:nvSpPr>
        <p:spPr>
          <a:xfrm>
            <a:off x="6591300" y="3733800"/>
            <a:ext cx="171450" cy="171450"/>
          </a:xfrm>
          <a:prstGeom prst="roundRect">
            <a:avLst/>
          </a:prstGeom>
          <a:solidFill>
            <a:srgbClr val="EAB308">
              <a:alpha val="92000"/>
            </a:srgbClr>
          </a:solidFill>
        </p:spPr>
      </p:sp>
      <p:sp>
        <p:nvSpPr>
          <p:cNvPr id="200" name="Shape 198"/>
          <p:cNvSpPr/>
          <p:nvPr/>
        </p:nvSpPr>
        <p:spPr>
          <a:xfrm>
            <a:off x="6781800" y="3733800"/>
            <a:ext cx="171450" cy="171450"/>
          </a:xfrm>
          <a:prstGeom prst="roundRect">
            <a:avLst/>
          </a:prstGeom>
          <a:solidFill>
            <a:srgbClr val="D4B511">
              <a:alpha val="92000"/>
            </a:srgbClr>
          </a:solidFill>
        </p:spPr>
      </p:sp>
      <p:sp>
        <p:nvSpPr>
          <p:cNvPr id="201" name="Shape 199"/>
          <p:cNvSpPr/>
          <p:nvPr/>
        </p:nvSpPr>
        <p:spPr>
          <a:xfrm>
            <a:off x="6972300" y="3733800"/>
            <a:ext cx="171450" cy="171450"/>
          </a:xfrm>
          <a:prstGeom prst="roundRect">
            <a:avLst/>
          </a:prstGeom>
          <a:solidFill>
            <a:srgbClr val="BEB71B">
              <a:alpha val="92000"/>
            </a:srgbClr>
          </a:solidFill>
        </p:spPr>
      </p:sp>
      <p:sp>
        <p:nvSpPr>
          <p:cNvPr id="202" name="Shape 200"/>
          <p:cNvSpPr/>
          <p:nvPr/>
        </p:nvSpPr>
        <p:spPr>
          <a:xfrm>
            <a:off x="7162800" y="3733800"/>
            <a:ext cx="171450" cy="171450"/>
          </a:xfrm>
          <a:prstGeom prst="roundRect">
            <a:avLst/>
          </a:prstGeom>
          <a:solidFill>
            <a:srgbClr val="A7B925">
              <a:alpha val="92000"/>
            </a:srgbClr>
          </a:solidFill>
        </p:spPr>
      </p:sp>
      <p:sp>
        <p:nvSpPr>
          <p:cNvPr id="203" name="Shape 201"/>
          <p:cNvSpPr/>
          <p:nvPr/>
        </p:nvSpPr>
        <p:spPr>
          <a:xfrm>
            <a:off x="7353300" y="3733800"/>
            <a:ext cx="171450" cy="171450"/>
          </a:xfrm>
          <a:prstGeom prst="roundRect">
            <a:avLst/>
          </a:prstGeom>
          <a:solidFill>
            <a:srgbClr val="91BB2E">
              <a:alpha val="92000"/>
            </a:srgbClr>
          </a:solidFill>
        </p:spPr>
      </p:sp>
      <p:sp>
        <p:nvSpPr>
          <p:cNvPr id="204" name="Shape 202"/>
          <p:cNvSpPr/>
          <p:nvPr/>
        </p:nvSpPr>
        <p:spPr>
          <a:xfrm>
            <a:off x="7543800" y="3733800"/>
            <a:ext cx="171450" cy="171450"/>
          </a:xfrm>
          <a:prstGeom prst="roundRect">
            <a:avLst/>
          </a:prstGeom>
          <a:solidFill>
            <a:srgbClr val="7BBD38">
              <a:alpha val="92000"/>
            </a:srgbClr>
          </a:solidFill>
        </p:spPr>
      </p:sp>
      <p:sp>
        <p:nvSpPr>
          <p:cNvPr id="205" name="Shape 203"/>
          <p:cNvSpPr/>
          <p:nvPr/>
        </p:nvSpPr>
        <p:spPr>
          <a:xfrm>
            <a:off x="7734300" y="3733800"/>
            <a:ext cx="171450" cy="171450"/>
          </a:xfrm>
          <a:prstGeom prst="roundRect">
            <a:avLst/>
          </a:prstGeom>
          <a:solidFill>
            <a:srgbClr val="65BF41">
              <a:alpha val="92000"/>
            </a:srgbClr>
          </a:solidFill>
        </p:spPr>
      </p:sp>
      <p:sp>
        <p:nvSpPr>
          <p:cNvPr id="206" name="Shape 204"/>
          <p:cNvSpPr/>
          <p:nvPr/>
        </p:nvSpPr>
        <p:spPr>
          <a:xfrm>
            <a:off x="7924800" y="3733800"/>
            <a:ext cx="171450" cy="171450"/>
          </a:xfrm>
          <a:prstGeom prst="roundRect">
            <a:avLst/>
          </a:prstGeom>
          <a:solidFill>
            <a:srgbClr val="4EC14B">
              <a:alpha val="92000"/>
            </a:srgbClr>
          </a:solidFill>
        </p:spPr>
      </p:sp>
      <p:sp>
        <p:nvSpPr>
          <p:cNvPr id="207" name="Shape 205"/>
          <p:cNvSpPr/>
          <p:nvPr/>
        </p:nvSpPr>
        <p:spPr>
          <a:xfrm>
            <a:off x="6210300" y="3924300"/>
            <a:ext cx="171450" cy="171450"/>
          </a:xfrm>
          <a:prstGeom prst="roundRect">
            <a:avLst/>
          </a:prstGeom>
          <a:solidFill>
            <a:srgbClr val="EBA70F">
              <a:alpha val="92000"/>
            </a:srgbClr>
          </a:solidFill>
        </p:spPr>
      </p:sp>
      <p:sp>
        <p:nvSpPr>
          <p:cNvPr id="208" name="Shape 206"/>
          <p:cNvSpPr/>
          <p:nvPr/>
        </p:nvSpPr>
        <p:spPr>
          <a:xfrm>
            <a:off x="6400800" y="3924300"/>
            <a:ext cx="171450" cy="171450"/>
          </a:xfrm>
          <a:prstGeom prst="roundRect">
            <a:avLst/>
          </a:prstGeom>
          <a:solidFill>
            <a:srgbClr val="EAB308">
              <a:alpha val="92000"/>
            </a:srgbClr>
          </a:solidFill>
        </p:spPr>
      </p:sp>
      <p:sp>
        <p:nvSpPr>
          <p:cNvPr id="209" name="Shape 207"/>
          <p:cNvSpPr/>
          <p:nvPr/>
        </p:nvSpPr>
        <p:spPr>
          <a:xfrm>
            <a:off x="6591300" y="3924300"/>
            <a:ext cx="171450" cy="171450"/>
          </a:xfrm>
          <a:prstGeom prst="roundRect">
            <a:avLst/>
          </a:prstGeom>
          <a:solidFill>
            <a:srgbClr val="D4B511">
              <a:alpha val="92000"/>
            </a:srgbClr>
          </a:solidFill>
        </p:spPr>
      </p:sp>
      <p:sp>
        <p:nvSpPr>
          <p:cNvPr id="210" name="Shape 208"/>
          <p:cNvSpPr/>
          <p:nvPr/>
        </p:nvSpPr>
        <p:spPr>
          <a:xfrm>
            <a:off x="6781800" y="3924300"/>
            <a:ext cx="171450" cy="171450"/>
          </a:xfrm>
          <a:prstGeom prst="roundRect">
            <a:avLst/>
          </a:prstGeom>
          <a:solidFill>
            <a:srgbClr val="BEB71B">
              <a:alpha val="92000"/>
            </a:srgbClr>
          </a:solidFill>
        </p:spPr>
      </p:sp>
      <p:sp>
        <p:nvSpPr>
          <p:cNvPr id="211" name="Shape 209"/>
          <p:cNvSpPr/>
          <p:nvPr/>
        </p:nvSpPr>
        <p:spPr>
          <a:xfrm>
            <a:off x="6972300" y="3924300"/>
            <a:ext cx="171450" cy="171450"/>
          </a:xfrm>
          <a:prstGeom prst="roundRect">
            <a:avLst/>
          </a:prstGeom>
          <a:solidFill>
            <a:srgbClr val="A7B925">
              <a:alpha val="92000"/>
            </a:srgbClr>
          </a:solidFill>
        </p:spPr>
      </p:sp>
      <p:sp>
        <p:nvSpPr>
          <p:cNvPr id="212" name="Shape 210"/>
          <p:cNvSpPr/>
          <p:nvPr/>
        </p:nvSpPr>
        <p:spPr>
          <a:xfrm>
            <a:off x="7162800" y="3924300"/>
            <a:ext cx="171450" cy="171450"/>
          </a:xfrm>
          <a:prstGeom prst="roundRect">
            <a:avLst/>
          </a:prstGeom>
          <a:solidFill>
            <a:srgbClr val="91BB2E">
              <a:alpha val="92000"/>
            </a:srgbClr>
          </a:solidFill>
        </p:spPr>
      </p:sp>
      <p:sp>
        <p:nvSpPr>
          <p:cNvPr id="213" name="Shape 211"/>
          <p:cNvSpPr/>
          <p:nvPr/>
        </p:nvSpPr>
        <p:spPr>
          <a:xfrm>
            <a:off x="7353300" y="3924300"/>
            <a:ext cx="171450" cy="171450"/>
          </a:xfrm>
          <a:prstGeom prst="roundRect">
            <a:avLst/>
          </a:prstGeom>
          <a:solidFill>
            <a:srgbClr val="7BBD38">
              <a:alpha val="92000"/>
            </a:srgbClr>
          </a:solidFill>
        </p:spPr>
      </p:sp>
      <p:sp>
        <p:nvSpPr>
          <p:cNvPr id="214" name="Shape 212"/>
          <p:cNvSpPr/>
          <p:nvPr/>
        </p:nvSpPr>
        <p:spPr>
          <a:xfrm>
            <a:off x="7543800" y="3924300"/>
            <a:ext cx="171450" cy="171450"/>
          </a:xfrm>
          <a:prstGeom prst="roundRect">
            <a:avLst/>
          </a:prstGeom>
          <a:solidFill>
            <a:srgbClr val="65BF41">
              <a:alpha val="92000"/>
            </a:srgbClr>
          </a:solidFill>
        </p:spPr>
      </p:sp>
      <p:sp>
        <p:nvSpPr>
          <p:cNvPr id="215" name="Shape 213"/>
          <p:cNvSpPr/>
          <p:nvPr/>
        </p:nvSpPr>
        <p:spPr>
          <a:xfrm>
            <a:off x="7734300" y="3924300"/>
            <a:ext cx="171450" cy="171450"/>
          </a:xfrm>
          <a:prstGeom prst="roundRect">
            <a:avLst/>
          </a:prstGeom>
          <a:solidFill>
            <a:srgbClr val="4EC14B">
              <a:alpha val="92000"/>
            </a:srgbClr>
          </a:solidFill>
        </p:spPr>
      </p:sp>
      <p:sp>
        <p:nvSpPr>
          <p:cNvPr id="216" name="Shape 214"/>
          <p:cNvSpPr/>
          <p:nvPr/>
        </p:nvSpPr>
        <p:spPr>
          <a:xfrm>
            <a:off x="7924800" y="3924300"/>
            <a:ext cx="171450" cy="171450"/>
          </a:xfrm>
          <a:prstGeom prst="roundRect">
            <a:avLst/>
          </a:prstGeom>
          <a:solidFill>
            <a:srgbClr val="38C355">
              <a:alpha val="92000"/>
            </a:srgbClr>
          </a:solidFill>
        </p:spPr>
      </p:sp>
      <p:sp>
        <p:nvSpPr>
          <p:cNvPr id="217" name="Shape 215"/>
          <p:cNvSpPr/>
          <p:nvPr/>
        </p:nvSpPr>
        <p:spPr>
          <a:xfrm>
            <a:off x="6210300" y="4114800"/>
            <a:ext cx="171450" cy="171450"/>
          </a:xfrm>
          <a:prstGeom prst="roundRect">
            <a:avLst/>
          </a:prstGeom>
          <a:solidFill>
            <a:srgbClr val="EAB308">
              <a:alpha val="92000"/>
            </a:srgbClr>
          </a:solidFill>
        </p:spPr>
      </p:sp>
      <p:sp>
        <p:nvSpPr>
          <p:cNvPr id="218" name="Shape 216"/>
          <p:cNvSpPr/>
          <p:nvPr/>
        </p:nvSpPr>
        <p:spPr>
          <a:xfrm>
            <a:off x="6400800" y="4114800"/>
            <a:ext cx="171450" cy="171450"/>
          </a:xfrm>
          <a:prstGeom prst="roundRect">
            <a:avLst/>
          </a:prstGeom>
          <a:solidFill>
            <a:srgbClr val="D4B511">
              <a:alpha val="92000"/>
            </a:srgbClr>
          </a:solidFill>
        </p:spPr>
      </p:sp>
      <p:sp>
        <p:nvSpPr>
          <p:cNvPr id="219" name="Shape 217"/>
          <p:cNvSpPr/>
          <p:nvPr/>
        </p:nvSpPr>
        <p:spPr>
          <a:xfrm>
            <a:off x="6591300" y="4114800"/>
            <a:ext cx="171450" cy="171450"/>
          </a:xfrm>
          <a:prstGeom prst="roundRect">
            <a:avLst/>
          </a:prstGeom>
          <a:solidFill>
            <a:srgbClr val="BEB71B">
              <a:alpha val="92000"/>
            </a:srgbClr>
          </a:solidFill>
        </p:spPr>
      </p:sp>
      <p:sp>
        <p:nvSpPr>
          <p:cNvPr id="220" name="Shape 218"/>
          <p:cNvSpPr/>
          <p:nvPr/>
        </p:nvSpPr>
        <p:spPr>
          <a:xfrm>
            <a:off x="6781800" y="4114800"/>
            <a:ext cx="171450" cy="171450"/>
          </a:xfrm>
          <a:prstGeom prst="roundRect">
            <a:avLst/>
          </a:prstGeom>
          <a:solidFill>
            <a:srgbClr val="A7B925">
              <a:alpha val="92000"/>
            </a:srgbClr>
          </a:solidFill>
        </p:spPr>
      </p:sp>
      <p:sp>
        <p:nvSpPr>
          <p:cNvPr id="221" name="Shape 219"/>
          <p:cNvSpPr/>
          <p:nvPr/>
        </p:nvSpPr>
        <p:spPr>
          <a:xfrm>
            <a:off x="6972300" y="4114800"/>
            <a:ext cx="171450" cy="171450"/>
          </a:xfrm>
          <a:prstGeom prst="roundRect">
            <a:avLst/>
          </a:prstGeom>
          <a:solidFill>
            <a:srgbClr val="91BB2E">
              <a:alpha val="92000"/>
            </a:srgbClr>
          </a:solidFill>
        </p:spPr>
      </p:sp>
      <p:sp>
        <p:nvSpPr>
          <p:cNvPr id="222" name="Shape 220"/>
          <p:cNvSpPr/>
          <p:nvPr/>
        </p:nvSpPr>
        <p:spPr>
          <a:xfrm>
            <a:off x="7162800" y="4114800"/>
            <a:ext cx="171450" cy="171450"/>
          </a:xfrm>
          <a:prstGeom prst="roundRect">
            <a:avLst/>
          </a:prstGeom>
          <a:solidFill>
            <a:srgbClr val="7BBD38">
              <a:alpha val="92000"/>
            </a:srgbClr>
          </a:solidFill>
        </p:spPr>
      </p:sp>
      <p:sp>
        <p:nvSpPr>
          <p:cNvPr id="223" name="Shape 221"/>
          <p:cNvSpPr/>
          <p:nvPr/>
        </p:nvSpPr>
        <p:spPr>
          <a:xfrm>
            <a:off x="7353300" y="4114800"/>
            <a:ext cx="171450" cy="171450"/>
          </a:xfrm>
          <a:prstGeom prst="roundRect">
            <a:avLst/>
          </a:prstGeom>
          <a:solidFill>
            <a:srgbClr val="65BF41">
              <a:alpha val="92000"/>
            </a:srgbClr>
          </a:solidFill>
        </p:spPr>
      </p:sp>
      <p:sp>
        <p:nvSpPr>
          <p:cNvPr id="224" name="Shape 222"/>
          <p:cNvSpPr/>
          <p:nvPr/>
        </p:nvSpPr>
        <p:spPr>
          <a:xfrm>
            <a:off x="7543800" y="4114800"/>
            <a:ext cx="171450" cy="171450"/>
          </a:xfrm>
          <a:prstGeom prst="roundRect">
            <a:avLst/>
          </a:prstGeom>
          <a:solidFill>
            <a:srgbClr val="4EC14B">
              <a:alpha val="92000"/>
            </a:srgbClr>
          </a:solidFill>
        </p:spPr>
      </p:sp>
      <p:sp>
        <p:nvSpPr>
          <p:cNvPr id="225" name="Shape 223"/>
          <p:cNvSpPr/>
          <p:nvPr/>
        </p:nvSpPr>
        <p:spPr>
          <a:xfrm>
            <a:off x="7734300" y="4114800"/>
            <a:ext cx="171450" cy="171450"/>
          </a:xfrm>
          <a:prstGeom prst="roundRect">
            <a:avLst/>
          </a:prstGeom>
          <a:solidFill>
            <a:srgbClr val="38C355">
              <a:alpha val="92000"/>
            </a:srgbClr>
          </a:solidFill>
        </p:spPr>
      </p:sp>
      <p:sp>
        <p:nvSpPr>
          <p:cNvPr id="226" name="Shape 224"/>
          <p:cNvSpPr/>
          <p:nvPr/>
        </p:nvSpPr>
        <p:spPr>
          <a:xfrm>
            <a:off x="7924800" y="4114800"/>
            <a:ext cx="171450" cy="171450"/>
          </a:xfrm>
          <a:prstGeom prst="roundRect">
            <a:avLst/>
          </a:prstGeom>
          <a:solidFill>
            <a:srgbClr val="22C55E">
              <a:alpha val="92000"/>
            </a:srgbClr>
          </a:solidFill>
        </p:spPr>
      </p:sp>
      <p:sp>
        <p:nvSpPr>
          <p:cNvPr id="227" name="Shape 225"/>
          <p:cNvSpPr/>
          <p:nvPr/>
        </p:nvSpPr>
        <p:spPr>
          <a:xfrm>
            <a:off x="666750" y="4486275"/>
            <a:ext cx="7820025" cy="381000"/>
          </a:xfrm>
          <a:prstGeom prst="roundRect">
            <a:avLst>
              <a:gd name="adj" fmla="val 33600"/>
            </a:avLst>
          </a:prstGeom>
          <a:solidFill>
            <a:srgbClr val="16223B"/>
          </a:solidFill>
          <a:ln w="4524">
            <a:solidFill>
              <a:srgbClr val="2A3B5E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00100" y="4643438"/>
            <a:ext cx="66675" cy="66675"/>
          </a:xfrm>
          <a:prstGeom prst="ellipse">
            <a:avLst/>
          </a:prstGeom>
          <a:solidFill>
            <a:srgbClr val="F97316"/>
          </a:solidFill>
        </p:spPr>
      </p:sp>
      <p:sp>
        <p:nvSpPr>
          <p:cNvPr id="229" name="Text 227"/>
          <p:cNvSpPr/>
          <p:nvPr/>
        </p:nvSpPr>
        <p:spPr>
          <a:xfrm>
            <a:off x="962025" y="4610100"/>
            <a:ext cx="7334250" cy="1285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85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Animation — the view holds 5 s on the start state, then plays the agent's route fast; exported as an interactive window or an animated GIF.</a:t>
            </a:r>
            <a:endParaRPr lang="en-US" sz="78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38250" y="-1047750"/>
            <a:ext cx="2857500" cy="2857500"/>
          </a:xfrm>
          <a:prstGeom prst="ellipse">
            <a:avLst/>
          </a:prstGeom>
          <a:solidFill>
            <a:srgbClr val="22C55E">
              <a:alpha val="9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953250" y="3048000"/>
            <a:ext cx="3333750" cy="3333750"/>
          </a:xfrm>
          <a:prstGeom prst="ellipse">
            <a:avLst/>
          </a:prstGeom>
          <a:solidFill>
            <a:srgbClr val="38BDF8">
              <a:alpha val="9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666750" y="933450"/>
            <a:ext cx="190500" cy="28575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5" name="Text 3"/>
          <p:cNvSpPr/>
          <p:nvPr/>
        </p:nvSpPr>
        <p:spPr>
          <a:xfrm>
            <a:off x="666750" y="1057275"/>
            <a:ext cx="914400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0"/>
              </a:lnSpc>
              <a:buNone/>
            </a:pPr>
            <a:r>
              <a:rPr lang="en-US" sz="715" kern="0" spc="28" dirty="0">
                <a:solidFill>
                  <a:srgbClr val="38BDF8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11  ·  OUTCOMES</a:t>
            </a:r>
            <a:endParaRPr lang="en-US" sz="715" dirty="0"/>
          </a:p>
        </p:txBody>
      </p:sp>
      <p:sp>
        <p:nvSpPr>
          <p:cNvPr id="6" name="Text 4"/>
          <p:cNvSpPr/>
          <p:nvPr/>
        </p:nvSpPr>
        <p:spPr>
          <a:xfrm>
            <a:off x="628650" y="1276350"/>
            <a:ext cx="1233488" cy="438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75"/>
              </a:lnSpc>
              <a:buNone/>
            </a:pPr>
            <a:r>
              <a:rPr lang="en-US" sz="2565" b="1" dirty="0">
                <a:solidFill>
                  <a:srgbClr val="EEF3FA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Results</a:t>
            </a:r>
            <a:endParaRPr lang="en-US" sz="2565" dirty="0"/>
          </a:p>
        </p:txBody>
      </p:sp>
      <p:sp>
        <p:nvSpPr>
          <p:cNvPr id="7" name="Shape 5"/>
          <p:cNvSpPr/>
          <p:nvPr/>
        </p:nvSpPr>
        <p:spPr>
          <a:xfrm>
            <a:off x="666750" y="2000250"/>
            <a:ext cx="2333625" cy="981075"/>
          </a:xfrm>
          <a:prstGeom prst="roundRect">
            <a:avLst>
              <a:gd name="adj" fmla="val 16777"/>
            </a:avLst>
          </a:prstGeom>
          <a:solidFill>
            <a:srgbClr val="16223B"/>
          </a:solidFill>
          <a:ln w="4524">
            <a:solidFill>
              <a:srgbClr val="2A3B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9625" y="2143125"/>
            <a:ext cx="209550" cy="28575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9" name="Text 7"/>
          <p:cNvSpPr/>
          <p:nvPr/>
        </p:nvSpPr>
        <p:spPr>
          <a:xfrm>
            <a:off x="800100" y="2209800"/>
            <a:ext cx="552450" cy="4000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350" b="1" dirty="0">
                <a:solidFill>
                  <a:srgbClr val="38BDF8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</a:t>
            </a:r>
            <a:endParaRPr lang="en-US" sz="2350" dirty="0"/>
          </a:p>
        </p:txBody>
      </p:sp>
      <p:sp>
        <p:nvSpPr>
          <p:cNvPr id="10" name="Text 8"/>
          <p:cNvSpPr/>
          <p:nvPr/>
        </p:nvSpPr>
        <p:spPr>
          <a:xfrm>
            <a:off x="809625" y="2628900"/>
            <a:ext cx="96678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90" b="1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States evaluated</a:t>
            </a:r>
            <a:endParaRPr lang="en-US" sz="890" dirty="0"/>
          </a:p>
        </p:txBody>
      </p:sp>
      <p:sp>
        <p:nvSpPr>
          <p:cNvPr id="11" name="Text 9"/>
          <p:cNvSpPr/>
          <p:nvPr/>
        </p:nvSpPr>
        <p:spPr>
          <a:xfrm>
            <a:off x="809625" y="2800350"/>
            <a:ext cx="1214438" cy="1095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675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every cell of the 10 × 10 grid</a:t>
            </a:r>
            <a:endParaRPr lang="en-US" sz="675" dirty="0"/>
          </a:p>
        </p:txBody>
      </p:sp>
      <p:sp>
        <p:nvSpPr>
          <p:cNvPr id="12" name="Shape 10"/>
          <p:cNvSpPr/>
          <p:nvPr/>
        </p:nvSpPr>
        <p:spPr>
          <a:xfrm>
            <a:off x="3143250" y="2000250"/>
            <a:ext cx="2333625" cy="981075"/>
          </a:xfrm>
          <a:prstGeom prst="roundRect">
            <a:avLst>
              <a:gd name="adj" fmla="val 16777"/>
            </a:avLst>
          </a:prstGeom>
          <a:solidFill>
            <a:srgbClr val="16223B"/>
          </a:solidFill>
          <a:ln w="4524">
            <a:solidFill>
              <a:srgbClr val="2A3B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86125" y="2143125"/>
            <a:ext cx="209550" cy="28575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14" name="Text 12"/>
          <p:cNvSpPr/>
          <p:nvPr/>
        </p:nvSpPr>
        <p:spPr>
          <a:xfrm>
            <a:off x="3276600" y="2209800"/>
            <a:ext cx="333375" cy="4000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350" b="1" dirty="0">
                <a:solidFill>
                  <a:srgbClr val="F97316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18</a:t>
            </a:r>
            <a:endParaRPr lang="en-US" sz="2350" dirty="0"/>
          </a:p>
        </p:txBody>
      </p:sp>
      <p:sp>
        <p:nvSpPr>
          <p:cNvPr id="15" name="Text 13"/>
          <p:cNvSpPr/>
          <p:nvPr/>
        </p:nvSpPr>
        <p:spPr>
          <a:xfrm>
            <a:off x="3286125" y="2628900"/>
            <a:ext cx="976312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90" b="1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Steps to the goal</a:t>
            </a:r>
            <a:endParaRPr lang="en-US" sz="890" dirty="0"/>
          </a:p>
        </p:txBody>
      </p:sp>
      <p:sp>
        <p:nvSpPr>
          <p:cNvPr id="16" name="Text 14"/>
          <p:cNvSpPr/>
          <p:nvPr/>
        </p:nvSpPr>
        <p:spPr>
          <a:xfrm>
            <a:off x="3286125" y="2800350"/>
            <a:ext cx="981075" cy="1095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675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the shortest safe route</a:t>
            </a:r>
            <a:endParaRPr lang="en-US" sz="675" dirty="0"/>
          </a:p>
        </p:txBody>
      </p:sp>
      <p:sp>
        <p:nvSpPr>
          <p:cNvPr id="17" name="Shape 15"/>
          <p:cNvSpPr/>
          <p:nvPr/>
        </p:nvSpPr>
        <p:spPr>
          <a:xfrm>
            <a:off x="5619750" y="2000250"/>
            <a:ext cx="2333625" cy="981075"/>
          </a:xfrm>
          <a:prstGeom prst="roundRect">
            <a:avLst>
              <a:gd name="adj" fmla="val 16777"/>
            </a:avLst>
          </a:prstGeom>
          <a:solidFill>
            <a:srgbClr val="16223B"/>
          </a:solidFill>
          <a:ln w="4524">
            <a:solidFill>
              <a:srgbClr val="2A3B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62625" y="2143125"/>
            <a:ext cx="209550" cy="28575"/>
          </a:xfrm>
          <a:prstGeom prst="roundRect">
            <a:avLst/>
          </a:prstGeom>
          <a:solidFill>
            <a:srgbClr val="22C55E"/>
          </a:solidFill>
        </p:spPr>
      </p:sp>
      <p:sp>
        <p:nvSpPr>
          <p:cNvPr id="19" name="Text 17"/>
          <p:cNvSpPr/>
          <p:nvPr/>
        </p:nvSpPr>
        <p:spPr>
          <a:xfrm>
            <a:off x="5753100" y="2209800"/>
            <a:ext cx="571500" cy="4000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350" b="1" dirty="0">
                <a:solidFill>
                  <a:srgbClr val="22C55E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+52</a:t>
            </a:r>
            <a:endParaRPr lang="en-US" sz="2350" dirty="0"/>
          </a:p>
        </p:txBody>
      </p:sp>
      <p:sp>
        <p:nvSpPr>
          <p:cNvPr id="20" name="Text 18"/>
          <p:cNvSpPr/>
          <p:nvPr/>
        </p:nvSpPr>
        <p:spPr>
          <a:xfrm>
            <a:off x="5762625" y="2628900"/>
            <a:ext cx="71913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90" b="1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Total reward</a:t>
            </a:r>
            <a:endParaRPr lang="en-US" sz="890" dirty="0"/>
          </a:p>
        </p:txBody>
      </p:sp>
      <p:sp>
        <p:nvSpPr>
          <p:cNvPr id="21" name="Text 19"/>
          <p:cNvSpPr/>
          <p:nvPr/>
        </p:nvSpPr>
        <p:spPr>
          <a:xfrm>
            <a:off x="5762625" y="2800350"/>
            <a:ext cx="1047750" cy="1095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675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100 − 18 steps − 30 lava</a:t>
            </a:r>
            <a:endParaRPr lang="en-US" sz="675" dirty="0"/>
          </a:p>
        </p:txBody>
      </p:sp>
      <p:sp>
        <p:nvSpPr>
          <p:cNvPr id="22" name="Shape 20"/>
          <p:cNvSpPr/>
          <p:nvPr/>
        </p:nvSpPr>
        <p:spPr>
          <a:xfrm>
            <a:off x="666750" y="3152775"/>
            <a:ext cx="1833563" cy="1428750"/>
          </a:xfrm>
          <a:prstGeom prst="roundRect">
            <a:avLst>
              <a:gd name="adj" fmla="val 11520"/>
            </a:avLst>
          </a:prstGeom>
          <a:solidFill>
            <a:srgbClr val="16223B"/>
          </a:solidFill>
          <a:ln w="4524">
            <a:solidFill>
              <a:srgbClr val="2A3B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9625" y="3305175"/>
            <a:ext cx="276225" cy="276225"/>
          </a:xfrm>
          <a:prstGeom prst="roundRect">
            <a:avLst>
              <a:gd name="adj" fmla="val 49655"/>
            </a:avLst>
          </a:prstGeom>
          <a:solidFill>
            <a:srgbClr val="38BDF8">
              <a:alpha val="16000"/>
            </a:srgbClr>
          </a:solidFill>
          <a:ln w="4524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1063" y="3376613"/>
            <a:ext cx="133350" cy="133350"/>
          </a:xfrm>
          <a:prstGeom prst="star5">
            <a:avLst/>
          </a:prstGeom>
          <a:solidFill>
            <a:srgbClr val="38BDF8"/>
          </a:solidFill>
        </p:spPr>
      </p:sp>
      <p:sp>
        <p:nvSpPr>
          <p:cNvPr id="25" name="Text 23"/>
          <p:cNvSpPr/>
          <p:nvPr/>
        </p:nvSpPr>
        <p:spPr>
          <a:xfrm>
            <a:off x="809625" y="3705225"/>
            <a:ext cx="885825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5"/>
              </a:lnSpc>
              <a:buNone/>
            </a:pPr>
            <a:r>
              <a:rPr lang="en-US" sz="960" dirty="0">
                <a:solidFill>
                  <a:srgbClr val="EEF3FA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Optimal Policy</a:t>
            </a:r>
            <a:endParaRPr lang="en-US" sz="960" dirty="0"/>
          </a:p>
        </p:txBody>
      </p:sp>
      <p:sp>
        <p:nvSpPr>
          <p:cNvPr id="26" name="Text 24"/>
          <p:cNvSpPr/>
          <p:nvPr/>
        </p:nvSpPr>
        <p:spPr>
          <a:xfrm>
            <a:off x="809625" y="3914775"/>
            <a:ext cx="1547813" cy="1381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715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The best action for all 100 cells.</a:t>
            </a:r>
            <a:endParaRPr lang="en-US" sz="715" dirty="0"/>
          </a:p>
        </p:txBody>
      </p:sp>
      <p:sp>
        <p:nvSpPr>
          <p:cNvPr id="27" name="Shape 25"/>
          <p:cNvSpPr/>
          <p:nvPr/>
        </p:nvSpPr>
        <p:spPr>
          <a:xfrm>
            <a:off x="2595563" y="3152775"/>
            <a:ext cx="1833563" cy="1428750"/>
          </a:xfrm>
          <a:prstGeom prst="roundRect">
            <a:avLst>
              <a:gd name="adj" fmla="val 11520"/>
            </a:avLst>
          </a:prstGeom>
          <a:solidFill>
            <a:srgbClr val="16223B"/>
          </a:solidFill>
          <a:ln w="4524">
            <a:solidFill>
              <a:srgbClr val="2A3B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38438" y="3305175"/>
            <a:ext cx="276225" cy="276225"/>
          </a:xfrm>
          <a:prstGeom prst="roundRect">
            <a:avLst>
              <a:gd name="adj" fmla="val 49655"/>
            </a:avLst>
          </a:prstGeom>
          <a:solidFill>
            <a:srgbClr val="F97316">
              <a:alpha val="16000"/>
            </a:srgbClr>
          </a:solidFill>
          <a:ln w="4524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14638" y="3381375"/>
            <a:ext cx="52388" cy="52388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30" name="Shape 28"/>
          <p:cNvSpPr/>
          <p:nvPr/>
        </p:nvSpPr>
        <p:spPr>
          <a:xfrm>
            <a:off x="2881313" y="3381375"/>
            <a:ext cx="52388" cy="52388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31" name="Shape 29"/>
          <p:cNvSpPr/>
          <p:nvPr/>
        </p:nvSpPr>
        <p:spPr>
          <a:xfrm>
            <a:off x="2814638" y="3448050"/>
            <a:ext cx="52388" cy="52388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32" name="Shape 30"/>
          <p:cNvSpPr/>
          <p:nvPr/>
        </p:nvSpPr>
        <p:spPr>
          <a:xfrm>
            <a:off x="2881313" y="3448050"/>
            <a:ext cx="52388" cy="52388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33" name="Text 31"/>
          <p:cNvSpPr/>
          <p:nvPr/>
        </p:nvSpPr>
        <p:spPr>
          <a:xfrm>
            <a:off x="2738438" y="3705225"/>
            <a:ext cx="923925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5"/>
              </a:lnSpc>
              <a:buNone/>
            </a:pPr>
            <a:r>
              <a:rPr lang="en-US" sz="960" dirty="0">
                <a:solidFill>
                  <a:srgbClr val="EEF3FA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Value Function</a:t>
            </a:r>
            <a:endParaRPr lang="en-US" sz="960" dirty="0"/>
          </a:p>
        </p:txBody>
      </p:sp>
      <p:sp>
        <p:nvSpPr>
          <p:cNvPr id="34" name="Text 32"/>
          <p:cNvSpPr/>
          <p:nvPr/>
        </p:nvSpPr>
        <p:spPr>
          <a:xfrm>
            <a:off x="2738438" y="3914775"/>
            <a:ext cx="1547813" cy="1381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715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 long-term score for every state.</a:t>
            </a:r>
            <a:endParaRPr lang="en-US" sz="715" dirty="0"/>
          </a:p>
        </p:txBody>
      </p:sp>
      <p:sp>
        <p:nvSpPr>
          <p:cNvPr id="35" name="Shape 33"/>
          <p:cNvSpPr/>
          <p:nvPr/>
        </p:nvSpPr>
        <p:spPr>
          <a:xfrm>
            <a:off x="4524375" y="3152775"/>
            <a:ext cx="1833563" cy="1428750"/>
          </a:xfrm>
          <a:prstGeom prst="roundRect">
            <a:avLst>
              <a:gd name="adj" fmla="val 11520"/>
            </a:avLst>
          </a:prstGeom>
          <a:solidFill>
            <a:srgbClr val="16223B"/>
          </a:solidFill>
          <a:ln w="4524">
            <a:solidFill>
              <a:srgbClr val="2A3B5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7250" y="3305175"/>
            <a:ext cx="276225" cy="276225"/>
          </a:xfrm>
          <a:prstGeom prst="roundRect">
            <a:avLst>
              <a:gd name="adj" fmla="val 49655"/>
            </a:avLst>
          </a:prstGeom>
          <a:solidFill>
            <a:srgbClr val="22C55E">
              <a:alpha val="16000"/>
            </a:srgbClr>
          </a:solidFill>
          <a:ln w="4524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3450" y="3381375"/>
            <a:ext cx="123825" cy="123825"/>
          </a:xfrm>
          <a:prstGeom prst="ellipse">
            <a:avLst/>
          </a:prstGeom>
          <a:noFill/>
          <a:ln w="18097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7250" y="3705225"/>
            <a:ext cx="971550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5"/>
              </a:lnSpc>
              <a:buNone/>
            </a:pPr>
            <a:r>
              <a:rPr lang="en-US" sz="960" dirty="0">
                <a:solidFill>
                  <a:srgbClr val="EEF3FA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Safe Navigation</a:t>
            </a: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4667250" y="3914775"/>
            <a:ext cx="1547813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715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Avoids craters &amp; lava automatically.</a:t>
            </a:r>
            <a:endParaRPr lang="en-US" sz="715" dirty="0"/>
          </a:p>
        </p:txBody>
      </p:sp>
      <p:sp>
        <p:nvSpPr>
          <p:cNvPr id="40" name="Shape 38"/>
          <p:cNvSpPr/>
          <p:nvPr/>
        </p:nvSpPr>
        <p:spPr>
          <a:xfrm>
            <a:off x="6453188" y="3152775"/>
            <a:ext cx="1833563" cy="1428750"/>
          </a:xfrm>
          <a:prstGeom prst="roundRect">
            <a:avLst>
              <a:gd name="adj" fmla="val 11520"/>
            </a:avLst>
          </a:prstGeom>
          <a:solidFill>
            <a:srgbClr val="16223B"/>
          </a:solidFill>
          <a:ln w="4524">
            <a:solidFill>
              <a:srgbClr val="2A3B5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96063" y="3305175"/>
            <a:ext cx="276225" cy="276225"/>
          </a:xfrm>
          <a:prstGeom prst="roundRect">
            <a:avLst>
              <a:gd name="adj" fmla="val 49655"/>
            </a:avLst>
          </a:prstGeom>
          <a:solidFill>
            <a:srgbClr val="EAB308">
              <a:alpha val="16000"/>
            </a:srgbClr>
          </a:solidFill>
          <a:ln w="4524">
            <a:solidFill>
              <a:srgbClr val="EAB308">
                <a:alpha val="5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77025" y="3390900"/>
            <a:ext cx="114300" cy="104775"/>
          </a:xfrm>
          <a:prstGeom prst="triangle">
            <a:avLst/>
          </a:prstGeom>
          <a:solidFill>
            <a:srgbClr val="EAB308"/>
          </a:solidFill>
        </p:spPr>
      </p:sp>
      <p:sp>
        <p:nvSpPr>
          <p:cNvPr id="43" name="Text 41"/>
          <p:cNvSpPr/>
          <p:nvPr/>
        </p:nvSpPr>
        <p:spPr>
          <a:xfrm>
            <a:off x="6596063" y="3705225"/>
            <a:ext cx="871538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5"/>
              </a:lnSpc>
              <a:buNone/>
            </a:pPr>
            <a:r>
              <a:rPr lang="en-US" sz="960" dirty="0">
                <a:solidFill>
                  <a:srgbClr val="EEF3FA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Goal Achieved</a:t>
            </a:r>
            <a:endParaRPr lang="en-US" sz="960" dirty="0"/>
          </a:p>
        </p:txBody>
      </p:sp>
      <p:sp>
        <p:nvSpPr>
          <p:cNvPr id="44" name="Text 42"/>
          <p:cNvSpPr/>
          <p:nvPr/>
        </p:nvSpPr>
        <p:spPr>
          <a:xfrm>
            <a:off x="6596063" y="3914775"/>
            <a:ext cx="1547813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715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Shortest safe path to the +100 goal.</a:t>
            </a:r>
            <a:endParaRPr lang="en-US" sz="71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2952750"/>
            <a:ext cx="3619500" cy="3619500"/>
          </a:xfrm>
          <a:prstGeom prst="ellipse">
            <a:avLst/>
          </a:prstGeom>
          <a:solidFill>
            <a:srgbClr val="F97316">
              <a:alpha val="16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7143750" y="-1238250"/>
            <a:ext cx="3238500" cy="3238500"/>
          </a:xfrm>
          <a:prstGeom prst="ellipse">
            <a:avLst/>
          </a:prstGeom>
          <a:solidFill>
            <a:srgbClr val="EF4444">
              <a:alpha val="12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666750" y="933450"/>
            <a:ext cx="190500" cy="28575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5" name="Text 3"/>
          <p:cNvSpPr/>
          <p:nvPr/>
        </p:nvSpPr>
        <p:spPr>
          <a:xfrm>
            <a:off x="666750" y="1057275"/>
            <a:ext cx="852488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0"/>
              </a:lnSpc>
              <a:buNone/>
            </a:pPr>
            <a:r>
              <a:rPr lang="en-US" sz="715" kern="0" spc="28" dirty="0">
                <a:solidFill>
                  <a:srgbClr val="38BDF8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12  ·  WRAP-UP</a:t>
            </a:r>
            <a:endParaRPr lang="en-US" sz="715" dirty="0"/>
          </a:p>
        </p:txBody>
      </p:sp>
      <p:sp>
        <p:nvSpPr>
          <p:cNvPr id="6" name="Text 4"/>
          <p:cNvSpPr/>
          <p:nvPr/>
        </p:nvSpPr>
        <p:spPr>
          <a:xfrm>
            <a:off x="628650" y="1276350"/>
            <a:ext cx="1838325" cy="438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75"/>
              </a:lnSpc>
              <a:buNone/>
            </a:pPr>
            <a:r>
              <a:rPr lang="en-US" sz="2565" b="1" dirty="0">
                <a:solidFill>
                  <a:srgbClr val="EEF3FA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Conclusion</a:t>
            </a:r>
            <a:endParaRPr lang="en-US" sz="2565" dirty="0"/>
          </a:p>
        </p:txBody>
      </p:sp>
      <p:sp>
        <p:nvSpPr>
          <p:cNvPr id="7" name="Text 5"/>
          <p:cNvSpPr/>
          <p:nvPr/>
        </p:nvSpPr>
        <p:spPr>
          <a:xfrm>
            <a:off x="666750" y="2047875"/>
            <a:ext cx="7143750" cy="676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15"/>
              </a:lnSpc>
              <a:buNone/>
            </a:pPr>
            <a:r>
              <a:rPr lang="en-US" sz="1995" dirty="0">
                <a:solidFill>
                  <a:srgbClr val="EEF3FA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 taught a robot to </a:t>
            </a:r>
            <a:r>
              <a:rPr lang="en-US" sz="1995" dirty="0">
                <a:solidFill>
                  <a:srgbClr val="F97316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think, navigate and survive</a:t>
            </a:r>
            <a:r>
              <a:rPr lang="en-US" sz="1995" dirty="0">
                <a:solidFill>
                  <a:srgbClr val="EEF3FA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on a hostile volcano.</a:t>
            </a:r>
            <a:endParaRPr lang="en-US" sz="1995" dirty="0"/>
          </a:p>
        </p:txBody>
      </p:sp>
      <p:sp>
        <p:nvSpPr>
          <p:cNvPr id="8" name="Shape 6"/>
          <p:cNvSpPr/>
          <p:nvPr/>
        </p:nvSpPr>
        <p:spPr>
          <a:xfrm>
            <a:off x="666750" y="3648075"/>
            <a:ext cx="71438" cy="71438"/>
          </a:xfrm>
          <a:prstGeom prst="ellipse">
            <a:avLst/>
          </a:prstGeom>
          <a:solidFill>
            <a:srgbClr val="38BDF8"/>
          </a:solidFill>
        </p:spPr>
      </p:sp>
      <p:sp>
        <p:nvSpPr>
          <p:cNvPr id="9" name="Text 7"/>
          <p:cNvSpPr/>
          <p:nvPr/>
        </p:nvSpPr>
        <p:spPr>
          <a:xfrm>
            <a:off x="809625" y="3619500"/>
            <a:ext cx="94773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90" b="1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MDP Foundation</a:t>
            </a:r>
            <a:endParaRPr lang="en-US" sz="890" dirty="0"/>
          </a:p>
        </p:txBody>
      </p:sp>
      <p:sp>
        <p:nvSpPr>
          <p:cNvPr id="10" name="Text 8"/>
          <p:cNvSpPr/>
          <p:nvPr/>
        </p:nvSpPr>
        <p:spPr>
          <a:xfrm>
            <a:off x="666750" y="3867150"/>
            <a:ext cx="1714500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715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 real-world problem framed as an MDP.</a:t>
            </a:r>
            <a:endParaRPr lang="en-US" sz="715" dirty="0"/>
          </a:p>
        </p:txBody>
      </p:sp>
      <p:sp>
        <p:nvSpPr>
          <p:cNvPr id="11" name="Shape 9"/>
          <p:cNvSpPr/>
          <p:nvPr/>
        </p:nvSpPr>
        <p:spPr>
          <a:xfrm>
            <a:off x="2595563" y="3648075"/>
            <a:ext cx="71438" cy="71438"/>
          </a:xfrm>
          <a:prstGeom prst="ellipse">
            <a:avLst/>
          </a:prstGeom>
          <a:solidFill>
            <a:srgbClr val="F97316"/>
          </a:solidFill>
        </p:spPr>
      </p:sp>
      <p:sp>
        <p:nvSpPr>
          <p:cNvPr id="12" name="Text 10"/>
          <p:cNvSpPr/>
          <p:nvPr/>
        </p:nvSpPr>
        <p:spPr>
          <a:xfrm>
            <a:off x="2738438" y="3619500"/>
            <a:ext cx="83820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90" b="1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Value Iteration</a:t>
            </a:r>
            <a:endParaRPr lang="en-US" sz="890" dirty="0"/>
          </a:p>
        </p:txBody>
      </p:sp>
      <p:sp>
        <p:nvSpPr>
          <p:cNvPr id="13" name="Text 11"/>
          <p:cNvSpPr/>
          <p:nvPr/>
        </p:nvSpPr>
        <p:spPr>
          <a:xfrm>
            <a:off x="2595563" y="3867150"/>
            <a:ext cx="1714500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715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Repeatedly computes the optimal policy.</a:t>
            </a:r>
            <a:endParaRPr lang="en-US" sz="715" dirty="0"/>
          </a:p>
        </p:txBody>
      </p:sp>
      <p:sp>
        <p:nvSpPr>
          <p:cNvPr id="14" name="Shape 12"/>
          <p:cNvSpPr/>
          <p:nvPr/>
        </p:nvSpPr>
        <p:spPr>
          <a:xfrm>
            <a:off x="4524375" y="3648075"/>
            <a:ext cx="71438" cy="71438"/>
          </a:xfrm>
          <a:prstGeom prst="ellipse">
            <a:avLst/>
          </a:prstGeom>
          <a:solidFill>
            <a:srgbClr val="22C55E"/>
          </a:solidFill>
        </p:spPr>
      </p:sp>
      <p:sp>
        <p:nvSpPr>
          <p:cNvPr id="15" name="Text 13"/>
          <p:cNvSpPr/>
          <p:nvPr/>
        </p:nvSpPr>
        <p:spPr>
          <a:xfrm>
            <a:off x="4667250" y="3619500"/>
            <a:ext cx="66198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90" b="1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Safety First</a:t>
            </a:r>
            <a:endParaRPr lang="en-US" sz="890" dirty="0"/>
          </a:p>
        </p:txBody>
      </p:sp>
      <p:sp>
        <p:nvSpPr>
          <p:cNvPr id="16" name="Text 14"/>
          <p:cNvSpPr/>
          <p:nvPr/>
        </p:nvSpPr>
        <p:spPr>
          <a:xfrm>
            <a:off x="4524375" y="3867150"/>
            <a:ext cx="1714500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715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Reward design avoids catastrophic moves.</a:t>
            </a:r>
            <a:endParaRPr lang="en-US" sz="715" dirty="0"/>
          </a:p>
        </p:txBody>
      </p:sp>
      <p:sp>
        <p:nvSpPr>
          <p:cNvPr id="17" name="Shape 15"/>
          <p:cNvSpPr/>
          <p:nvPr/>
        </p:nvSpPr>
        <p:spPr>
          <a:xfrm>
            <a:off x="6453188" y="3648075"/>
            <a:ext cx="71438" cy="71438"/>
          </a:xfrm>
          <a:prstGeom prst="ellipse">
            <a:avLst/>
          </a:prstGeom>
          <a:solidFill>
            <a:srgbClr val="EAB308"/>
          </a:solidFill>
        </p:spPr>
      </p:sp>
      <p:sp>
        <p:nvSpPr>
          <p:cNvPr id="18" name="Text 16"/>
          <p:cNvSpPr/>
          <p:nvPr/>
        </p:nvSpPr>
        <p:spPr>
          <a:xfrm>
            <a:off x="6596063" y="3619500"/>
            <a:ext cx="121443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90" b="1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Modular &amp; Extensible</a:t>
            </a:r>
            <a:endParaRPr lang="en-US" sz="890" dirty="0"/>
          </a:p>
        </p:txBody>
      </p:sp>
      <p:sp>
        <p:nvSpPr>
          <p:cNvPr id="19" name="Text 17"/>
          <p:cNvSpPr/>
          <p:nvPr/>
        </p:nvSpPr>
        <p:spPr>
          <a:xfrm>
            <a:off x="6453188" y="3867150"/>
            <a:ext cx="1714500" cy="1381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715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Clean, configurable, easy to build on.</a:t>
            </a:r>
            <a:endParaRPr lang="en-US" sz="71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2857500"/>
            <a:ext cx="4095750" cy="4095750"/>
          </a:xfrm>
          <a:prstGeom prst="ellipse">
            <a:avLst/>
          </a:prstGeom>
          <a:solidFill>
            <a:srgbClr val="F97316">
              <a:alpha val="24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667500" y="-952500"/>
            <a:ext cx="3048000" cy="3048000"/>
          </a:xfrm>
          <a:prstGeom prst="ellipse">
            <a:avLst/>
          </a:prstGeom>
          <a:solidFill>
            <a:srgbClr val="38BDF8">
              <a:alpha val="1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6858000" y="714375"/>
            <a:ext cx="2257425" cy="2257425"/>
          </a:xfrm>
          <a:prstGeom prst="rect">
            <a:avLst/>
          </a:prstGeom>
          <a:noFill/>
        </p:spPr>
      </p:sp>
      <p:sp>
        <p:nvSpPr>
          <p:cNvPr id="5" name="Shape 3"/>
          <p:cNvSpPr/>
          <p:nvPr/>
        </p:nvSpPr>
        <p:spPr>
          <a:xfrm>
            <a:off x="6858000" y="714375"/>
            <a:ext cx="257175" cy="257175"/>
          </a:xfrm>
          <a:prstGeom prst="roundRect">
            <a:avLst/>
          </a:prstGeom>
          <a:solidFill>
            <a:srgbClr val="38BDF8">
              <a:alpha val="85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7143750" y="71437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7429500" y="71437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7715250" y="71437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8001000" y="71437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8286750" y="71437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8572500" y="71437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8858250" y="714375"/>
            <a:ext cx="257175" cy="257175"/>
          </a:xfrm>
          <a:prstGeom prst="roundRect">
            <a:avLst/>
          </a:prstGeom>
          <a:solidFill>
            <a:srgbClr val="38BDF8">
              <a:alpha val="85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6858000" y="100012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7143750" y="1000125"/>
            <a:ext cx="257175" cy="257175"/>
          </a:xfrm>
          <a:prstGeom prst="roundRect">
            <a:avLst/>
          </a:prstGeom>
          <a:solidFill>
            <a:srgbClr val="38BDF8">
              <a:alpha val="85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7429500" y="100012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7715250" y="100012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8001000" y="1000125"/>
            <a:ext cx="257175" cy="257175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18" name="Shape 16"/>
          <p:cNvSpPr/>
          <p:nvPr/>
        </p:nvSpPr>
        <p:spPr>
          <a:xfrm>
            <a:off x="8286750" y="100012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8572500" y="1000125"/>
            <a:ext cx="257175" cy="257175"/>
          </a:xfrm>
          <a:prstGeom prst="roundRect">
            <a:avLst/>
          </a:prstGeom>
          <a:solidFill>
            <a:srgbClr val="38BDF8">
              <a:alpha val="85000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8858250" y="100012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6858000" y="128587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22" name="Shape 20"/>
          <p:cNvSpPr/>
          <p:nvPr/>
        </p:nvSpPr>
        <p:spPr>
          <a:xfrm>
            <a:off x="7143750" y="128587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7429500" y="1285875"/>
            <a:ext cx="257175" cy="257175"/>
          </a:xfrm>
          <a:prstGeom prst="roundRect">
            <a:avLst/>
          </a:prstGeom>
          <a:solidFill>
            <a:srgbClr val="38BDF8">
              <a:alpha val="85000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7715250" y="128587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25" name="Shape 23"/>
          <p:cNvSpPr/>
          <p:nvPr/>
        </p:nvSpPr>
        <p:spPr>
          <a:xfrm>
            <a:off x="8001000" y="128587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8286750" y="1285875"/>
            <a:ext cx="257175" cy="257175"/>
          </a:xfrm>
          <a:prstGeom prst="roundRect">
            <a:avLst/>
          </a:prstGeom>
          <a:solidFill>
            <a:srgbClr val="38BDF8">
              <a:alpha val="85000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8572500" y="128587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8858250" y="128587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6858000" y="157162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7143750" y="1571625"/>
            <a:ext cx="257175" cy="257175"/>
          </a:xfrm>
          <a:prstGeom prst="roundRect">
            <a:avLst/>
          </a:prstGeom>
          <a:solidFill>
            <a:srgbClr val="22C55E"/>
          </a:solidFill>
        </p:spPr>
      </p:sp>
      <p:sp>
        <p:nvSpPr>
          <p:cNvPr id="31" name="Shape 29"/>
          <p:cNvSpPr/>
          <p:nvPr/>
        </p:nvSpPr>
        <p:spPr>
          <a:xfrm>
            <a:off x="7429500" y="157162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7715250" y="1571625"/>
            <a:ext cx="257175" cy="257175"/>
          </a:xfrm>
          <a:prstGeom prst="roundRect">
            <a:avLst/>
          </a:prstGeom>
          <a:solidFill>
            <a:srgbClr val="38BDF8">
              <a:alpha val="85000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8001000" y="1571625"/>
            <a:ext cx="257175" cy="257175"/>
          </a:xfrm>
          <a:prstGeom prst="roundRect">
            <a:avLst/>
          </a:prstGeom>
          <a:solidFill>
            <a:srgbClr val="38BDF8">
              <a:alpha val="85000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8286750" y="157162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8572500" y="157162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8858250" y="157162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6858000" y="185737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7143750" y="185737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7429500" y="185737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40" name="Shape 38"/>
          <p:cNvSpPr/>
          <p:nvPr/>
        </p:nvSpPr>
        <p:spPr>
          <a:xfrm>
            <a:off x="7715250" y="1857375"/>
            <a:ext cx="257175" cy="257175"/>
          </a:xfrm>
          <a:prstGeom prst="roundRect">
            <a:avLst/>
          </a:prstGeom>
          <a:solidFill>
            <a:srgbClr val="38BDF8">
              <a:alpha val="85000"/>
            </a:srgbClr>
          </a:solidFill>
        </p:spPr>
      </p:sp>
      <p:sp>
        <p:nvSpPr>
          <p:cNvPr id="41" name="Shape 39"/>
          <p:cNvSpPr/>
          <p:nvPr/>
        </p:nvSpPr>
        <p:spPr>
          <a:xfrm>
            <a:off x="8001000" y="1857375"/>
            <a:ext cx="257175" cy="257175"/>
          </a:xfrm>
          <a:prstGeom prst="roundRect">
            <a:avLst/>
          </a:prstGeom>
          <a:solidFill>
            <a:srgbClr val="38BDF8">
              <a:alpha val="85000"/>
            </a:srgbClr>
          </a:solidFill>
        </p:spPr>
      </p:sp>
      <p:sp>
        <p:nvSpPr>
          <p:cNvPr id="42" name="Shape 40"/>
          <p:cNvSpPr/>
          <p:nvPr/>
        </p:nvSpPr>
        <p:spPr>
          <a:xfrm>
            <a:off x="8286750" y="1857375"/>
            <a:ext cx="257175" cy="257175"/>
          </a:xfrm>
          <a:prstGeom prst="roundRect">
            <a:avLst/>
          </a:prstGeom>
          <a:solidFill>
            <a:srgbClr val="22C55E"/>
          </a:solidFill>
        </p:spPr>
      </p:sp>
      <p:sp>
        <p:nvSpPr>
          <p:cNvPr id="43" name="Shape 41"/>
          <p:cNvSpPr/>
          <p:nvPr/>
        </p:nvSpPr>
        <p:spPr>
          <a:xfrm>
            <a:off x="8572500" y="185737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44" name="Shape 42"/>
          <p:cNvSpPr/>
          <p:nvPr/>
        </p:nvSpPr>
        <p:spPr>
          <a:xfrm>
            <a:off x="8858250" y="185737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45" name="Shape 43"/>
          <p:cNvSpPr/>
          <p:nvPr/>
        </p:nvSpPr>
        <p:spPr>
          <a:xfrm>
            <a:off x="6858000" y="214312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46" name="Shape 44"/>
          <p:cNvSpPr/>
          <p:nvPr/>
        </p:nvSpPr>
        <p:spPr>
          <a:xfrm>
            <a:off x="7143750" y="214312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47" name="Shape 45"/>
          <p:cNvSpPr/>
          <p:nvPr/>
        </p:nvSpPr>
        <p:spPr>
          <a:xfrm>
            <a:off x="7429500" y="2143125"/>
            <a:ext cx="257175" cy="257175"/>
          </a:xfrm>
          <a:prstGeom prst="roundRect">
            <a:avLst/>
          </a:prstGeom>
          <a:solidFill>
            <a:srgbClr val="38BDF8">
              <a:alpha val="85000"/>
            </a:srgbClr>
          </a:solidFill>
        </p:spPr>
      </p:sp>
      <p:sp>
        <p:nvSpPr>
          <p:cNvPr id="48" name="Shape 46"/>
          <p:cNvSpPr/>
          <p:nvPr/>
        </p:nvSpPr>
        <p:spPr>
          <a:xfrm>
            <a:off x="7715250" y="214312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49" name="Shape 47"/>
          <p:cNvSpPr/>
          <p:nvPr/>
        </p:nvSpPr>
        <p:spPr>
          <a:xfrm>
            <a:off x="8001000" y="214312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50" name="Shape 48"/>
          <p:cNvSpPr/>
          <p:nvPr/>
        </p:nvSpPr>
        <p:spPr>
          <a:xfrm>
            <a:off x="8286750" y="2143125"/>
            <a:ext cx="257175" cy="257175"/>
          </a:xfrm>
          <a:prstGeom prst="roundRect">
            <a:avLst/>
          </a:prstGeom>
          <a:solidFill>
            <a:srgbClr val="38BDF8">
              <a:alpha val="85000"/>
            </a:srgbClr>
          </a:solidFill>
        </p:spPr>
      </p:sp>
      <p:sp>
        <p:nvSpPr>
          <p:cNvPr id="51" name="Shape 49"/>
          <p:cNvSpPr/>
          <p:nvPr/>
        </p:nvSpPr>
        <p:spPr>
          <a:xfrm>
            <a:off x="8572500" y="214312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52" name="Shape 50"/>
          <p:cNvSpPr/>
          <p:nvPr/>
        </p:nvSpPr>
        <p:spPr>
          <a:xfrm>
            <a:off x="8858250" y="214312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53" name="Shape 51"/>
          <p:cNvSpPr/>
          <p:nvPr/>
        </p:nvSpPr>
        <p:spPr>
          <a:xfrm>
            <a:off x="6858000" y="242887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54" name="Shape 52"/>
          <p:cNvSpPr/>
          <p:nvPr/>
        </p:nvSpPr>
        <p:spPr>
          <a:xfrm>
            <a:off x="7143750" y="2428875"/>
            <a:ext cx="257175" cy="257175"/>
          </a:xfrm>
          <a:prstGeom prst="roundRect">
            <a:avLst/>
          </a:prstGeom>
          <a:solidFill>
            <a:srgbClr val="38BDF8">
              <a:alpha val="85000"/>
            </a:srgbClr>
          </a:solidFill>
        </p:spPr>
      </p:sp>
      <p:sp>
        <p:nvSpPr>
          <p:cNvPr id="55" name="Shape 53"/>
          <p:cNvSpPr/>
          <p:nvPr/>
        </p:nvSpPr>
        <p:spPr>
          <a:xfrm>
            <a:off x="7429500" y="2428875"/>
            <a:ext cx="257175" cy="257175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56" name="Shape 54"/>
          <p:cNvSpPr/>
          <p:nvPr/>
        </p:nvSpPr>
        <p:spPr>
          <a:xfrm>
            <a:off x="7715250" y="242887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57" name="Shape 55"/>
          <p:cNvSpPr/>
          <p:nvPr/>
        </p:nvSpPr>
        <p:spPr>
          <a:xfrm>
            <a:off x="8001000" y="242887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58" name="Shape 56"/>
          <p:cNvSpPr/>
          <p:nvPr/>
        </p:nvSpPr>
        <p:spPr>
          <a:xfrm>
            <a:off x="8286750" y="242887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59" name="Shape 57"/>
          <p:cNvSpPr/>
          <p:nvPr/>
        </p:nvSpPr>
        <p:spPr>
          <a:xfrm>
            <a:off x="8572500" y="2428875"/>
            <a:ext cx="257175" cy="257175"/>
          </a:xfrm>
          <a:prstGeom prst="roundRect">
            <a:avLst/>
          </a:prstGeom>
          <a:solidFill>
            <a:srgbClr val="38BDF8">
              <a:alpha val="85000"/>
            </a:srgbClr>
          </a:solidFill>
        </p:spPr>
      </p:sp>
      <p:sp>
        <p:nvSpPr>
          <p:cNvPr id="60" name="Shape 58"/>
          <p:cNvSpPr/>
          <p:nvPr/>
        </p:nvSpPr>
        <p:spPr>
          <a:xfrm>
            <a:off x="8858250" y="242887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61" name="Shape 59"/>
          <p:cNvSpPr/>
          <p:nvPr/>
        </p:nvSpPr>
        <p:spPr>
          <a:xfrm>
            <a:off x="6858000" y="2714625"/>
            <a:ext cx="257175" cy="257175"/>
          </a:xfrm>
          <a:prstGeom prst="roundRect">
            <a:avLst/>
          </a:prstGeom>
          <a:solidFill>
            <a:srgbClr val="38BDF8">
              <a:alpha val="85000"/>
            </a:srgbClr>
          </a:solidFill>
        </p:spPr>
      </p:sp>
      <p:sp>
        <p:nvSpPr>
          <p:cNvPr id="62" name="Shape 60"/>
          <p:cNvSpPr/>
          <p:nvPr/>
        </p:nvSpPr>
        <p:spPr>
          <a:xfrm>
            <a:off x="7143750" y="271462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63" name="Shape 61"/>
          <p:cNvSpPr/>
          <p:nvPr/>
        </p:nvSpPr>
        <p:spPr>
          <a:xfrm>
            <a:off x="7429500" y="271462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64" name="Shape 62"/>
          <p:cNvSpPr/>
          <p:nvPr/>
        </p:nvSpPr>
        <p:spPr>
          <a:xfrm>
            <a:off x="7715250" y="271462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65" name="Shape 63"/>
          <p:cNvSpPr/>
          <p:nvPr/>
        </p:nvSpPr>
        <p:spPr>
          <a:xfrm>
            <a:off x="8001000" y="271462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66" name="Shape 64"/>
          <p:cNvSpPr/>
          <p:nvPr/>
        </p:nvSpPr>
        <p:spPr>
          <a:xfrm>
            <a:off x="8286750" y="2714625"/>
            <a:ext cx="257175" cy="257175"/>
          </a:xfrm>
          <a:prstGeom prst="roundRect">
            <a:avLst/>
          </a:prstGeom>
          <a:solidFill>
            <a:srgbClr val="172236">
              <a:alpha val="50000"/>
            </a:srgbClr>
          </a:solidFill>
        </p:spPr>
      </p:sp>
      <p:sp>
        <p:nvSpPr>
          <p:cNvPr id="67" name="Shape 65"/>
          <p:cNvSpPr/>
          <p:nvPr/>
        </p:nvSpPr>
        <p:spPr>
          <a:xfrm>
            <a:off x="8572500" y="2714625"/>
            <a:ext cx="257175" cy="257175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68" name="Shape 66"/>
          <p:cNvSpPr/>
          <p:nvPr/>
        </p:nvSpPr>
        <p:spPr>
          <a:xfrm>
            <a:off x="8858250" y="2714625"/>
            <a:ext cx="257175" cy="257175"/>
          </a:xfrm>
          <a:prstGeom prst="roundRect">
            <a:avLst/>
          </a:prstGeom>
          <a:solidFill>
            <a:srgbClr val="22C55E"/>
          </a:solidFill>
        </p:spPr>
      </p:sp>
      <p:sp>
        <p:nvSpPr>
          <p:cNvPr id="69" name="Shape 67"/>
          <p:cNvSpPr/>
          <p:nvPr/>
        </p:nvSpPr>
        <p:spPr>
          <a:xfrm>
            <a:off x="666750" y="1428750"/>
            <a:ext cx="257175" cy="38100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70" name="Text 68"/>
          <p:cNvSpPr/>
          <p:nvPr/>
        </p:nvSpPr>
        <p:spPr>
          <a:xfrm>
            <a:off x="628650" y="1609725"/>
            <a:ext cx="3552825" cy="9096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820"/>
              </a:lnSpc>
              <a:buNone/>
            </a:pPr>
            <a:r>
              <a:rPr lang="en-US" sz="5345" b="1" dirty="0">
                <a:solidFill>
                  <a:srgbClr val="EEF3FA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5345" dirty="0"/>
          </a:p>
        </p:txBody>
      </p:sp>
      <p:sp>
        <p:nvSpPr>
          <p:cNvPr id="71" name="Text 69"/>
          <p:cNvSpPr/>
          <p:nvPr/>
        </p:nvSpPr>
        <p:spPr>
          <a:xfrm>
            <a:off x="666750" y="2571750"/>
            <a:ext cx="4286250" cy="1857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1140" dirty="0">
                <a:solidFill>
                  <a:srgbClr val="93A4C0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Questions &amp; discussion are welcome.</a:t>
            </a:r>
            <a:endParaRPr lang="en-US" sz="1140" dirty="0"/>
          </a:p>
        </p:txBody>
      </p:sp>
      <p:sp>
        <p:nvSpPr>
          <p:cNvPr id="72" name="Shape 70"/>
          <p:cNvSpPr/>
          <p:nvPr/>
        </p:nvSpPr>
        <p:spPr>
          <a:xfrm>
            <a:off x="666750" y="3333750"/>
            <a:ext cx="171450" cy="23813"/>
          </a:xfrm>
          <a:prstGeom prst="roundRect">
            <a:avLst/>
          </a:prstGeom>
          <a:solidFill>
            <a:srgbClr val="F97316"/>
          </a:solidFill>
        </p:spPr>
      </p:sp>
      <p:sp>
        <p:nvSpPr>
          <p:cNvPr id="73" name="Text 71"/>
          <p:cNvSpPr/>
          <p:nvPr/>
        </p:nvSpPr>
        <p:spPr>
          <a:xfrm>
            <a:off x="666750" y="3448050"/>
            <a:ext cx="176212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90" b="1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Md. Yousuf</a:t>
            </a:r>
            <a:endParaRPr lang="en-US" sz="890" dirty="0"/>
          </a:p>
        </p:txBody>
      </p:sp>
      <p:sp>
        <p:nvSpPr>
          <p:cNvPr id="74" name="Text 72"/>
          <p:cNvSpPr/>
          <p:nvPr/>
        </p:nvSpPr>
        <p:spPr>
          <a:xfrm>
            <a:off x="666750" y="3629025"/>
            <a:ext cx="519113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buNone/>
            </a:pPr>
            <a:r>
              <a:rPr lang="en-US" sz="640" dirty="0">
                <a:solidFill>
                  <a:srgbClr val="93A4C0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2211461642</a:t>
            </a:r>
            <a:endParaRPr lang="en-US" sz="640" dirty="0"/>
          </a:p>
        </p:txBody>
      </p:sp>
      <p:sp>
        <p:nvSpPr>
          <p:cNvPr id="75" name="Text 73"/>
          <p:cNvSpPr/>
          <p:nvPr/>
        </p:nvSpPr>
        <p:spPr>
          <a:xfrm>
            <a:off x="666750" y="3771900"/>
            <a:ext cx="1809750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05" dirty="0">
                <a:solidFill>
                  <a:srgbClr val="38BDF8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md.yousuf01@northsouth.edu</a:t>
            </a:r>
            <a:endParaRPr lang="en-US" sz="605" dirty="0"/>
          </a:p>
        </p:txBody>
      </p:sp>
      <p:sp>
        <p:nvSpPr>
          <p:cNvPr id="76" name="Shape 74"/>
          <p:cNvSpPr/>
          <p:nvPr/>
        </p:nvSpPr>
        <p:spPr>
          <a:xfrm>
            <a:off x="2571750" y="3333750"/>
            <a:ext cx="171450" cy="23813"/>
          </a:xfrm>
          <a:prstGeom prst="roundRect">
            <a:avLst/>
          </a:prstGeom>
          <a:solidFill>
            <a:srgbClr val="38BDF8"/>
          </a:solidFill>
        </p:spPr>
      </p:sp>
      <p:sp>
        <p:nvSpPr>
          <p:cNvPr id="77" name="Text 75"/>
          <p:cNvSpPr/>
          <p:nvPr/>
        </p:nvSpPr>
        <p:spPr>
          <a:xfrm>
            <a:off x="2571750" y="3448050"/>
            <a:ext cx="176212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90" b="1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MD. Rokib Hasan Oli</a:t>
            </a:r>
            <a:endParaRPr lang="en-US" sz="890" dirty="0"/>
          </a:p>
        </p:txBody>
      </p:sp>
      <p:sp>
        <p:nvSpPr>
          <p:cNvPr id="78" name="Text 76"/>
          <p:cNvSpPr/>
          <p:nvPr/>
        </p:nvSpPr>
        <p:spPr>
          <a:xfrm>
            <a:off x="2571750" y="3629025"/>
            <a:ext cx="519113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buNone/>
            </a:pPr>
            <a:r>
              <a:rPr lang="en-US" sz="640" dirty="0">
                <a:solidFill>
                  <a:srgbClr val="93A4C0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2211950642</a:t>
            </a:r>
            <a:endParaRPr lang="en-US" sz="640" dirty="0"/>
          </a:p>
        </p:txBody>
      </p:sp>
      <p:sp>
        <p:nvSpPr>
          <p:cNvPr id="79" name="Text 77"/>
          <p:cNvSpPr/>
          <p:nvPr/>
        </p:nvSpPr>
        <p:spPr>
          <a:xfrm>
            <a:off x="2571750" y="3771900"/>
            <a:ext cx="1809750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05" dirty="0">
                <a:solidFill>
                  <a:srgbClr val="38BDF8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rokib.oli@northsouth.edu</a:t>
            </a:r>
            <a:endParaRPr lang="en-US" sz="605" dirty="0"/>
          </a:p>
        </p:txBody>
      </p:sp>
      <p:sp>
        <p:nvSpPr>
          <p:cNvPr id="80" name="Shape 78"/>
          <p:cNvSpPr/>
          <p:nvPr/>
        </p:nvSpPr>
        <p:spPr>
          <a:xfrm>
            <a:off x="4476750" y="3333750"/>
            <a:ext cx="171450" cy="23813"/>
          </a:xfrm>
          <a:prstGeom prst="roundRect">
            <a:avLst/>
          </a:prstGeom>
          <a:solidFill>
            <a:srgbClr val="22C55E"/>
          </a:solidFill>
        </p:spPr>
      </p:sp>
      <p:sp>
        <p:nvSpPr>
          <p:cNvPr id="81" name="Text 79"/>
          <p:cNvSpPr/>
          <p:nvPr/>
        </p:nvSpPr>
        <p:spPr>
          <a:xfrm>
            <a:off x="4476750" y="3448050"/>
            <a:ext cx="176212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90" b="1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Safayat Ibrahim</a:t>
            </a:r>
            <a:endParaRPr lang="en-US" sz="890" dirty="0"/>
          </a:p>
        </p:txBody>
      </p:sp>
      <p:sp>
        <p:nvSpPr>
          <p:cNvPr id="82" name="Text 80"/>
          <p:cNvSpPr/>
          <p:nvPr/>
        </p:nvSpPr>
        <p:spPr>
          <a:xfrm>
            <a:off x="4476750" y="3629025"/>
            <a:ext cx="519113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buNone/>
            </a:pPr>
            <a:r>
              <a:rPr lang="en-US" sz="640" dirty="0">
                <a:solidFill>
                  <a:srgbClr val="93A4C0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2131174642</a:t>
            </a:r>
            <a:endParaRPr lang="en-US" sz="640" dirty="0"/>
          </a:p>
        </p:txBody>
      </p:sp>
      <p:sp>
        <p:nvSpPr>
          <p:cNvPr id="83" name="Text 81"/>
          <p:cNvSpPr/>
          <p:nvPr/>
        </p:nvSpPr>
        <p:spPr>
          <a:xfrm>
            <a:off x="4476750" y="3771900"/>
            <a:ext cx="1809750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05" dirty="0">
                <a:solidFill>
                  <a:srgbClr val="38BDF8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safayat.ibrahim@northsouth.edu</a:t>
            </a:r>
            <a:endParaRPr lang="en-US" sz="605" dirty="0"/>
          </a:p>
        </p:txBody>
      </p:sp>
      <p:sp>
        <p:nvSpPr>
          <p:cNvPr id="84" name="Shape 82"/>
          <p:cNvSpPr/>
          <p:nvPr/>
        </p:nvSpPr>
        <p:spPr>
          <a:xfrm>
            <a:off x="6381750" y="3333750"/>
            <a:ext cx="171450" cy="23813"/>
          </a:xfrm>
          <a:prstGeom prst="roundRect">
            <a:avLst/>
          </a:prstGeom>
          <a:solidFill>
            <a:srgbClr val="EAB308"/>
          </a:solidFill>
        </p:spPr>
      </p:sp>
      <p:sp>
        <p:nvSpPr>
          <p:cNvPr id="85" name="Text 83"/>
          <p:cNvSpPr/>
          <p:nvPr/>
        </p:nvSpPr>
        <p:spPr>
          <a:xfrm>
            <a:off x="6381750" y="3448050"/>
            <a:ext cx="176212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90" b="1" dirty="0">
                <a:solidFill>
                  <a:srgbClr val="EEF3FA">
                    <a:alpha val="99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Tashfia A. Z. Nizhum</a:t>
            </a:r>
            <a:endParaRPr lang="en-US" sz="890" dirty="0"/>
          </a:p>
        </p:txBody>
      </p:sp>
      <p:sp>
        <p:nvSpPr>
          <p:cNvPr id="86" name="Text 84"/>
          <p:cNvSpPr/>
          <p:nvPr/>
        </p:nvSpPr>
        <p:spPr>
          <a:xfrm>
            <a:off x="6381750" y="3629025"/>
            <a:ext cx="519113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buNone/>
            </a:pPr>
            <a:r>
              <a:rPr lang="en-US" sz="640" dirty="0">
                <a:solidFill>
                  <a:srgbClr val="93A4C0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2131228042</a:t>
            </a:r>
            <a:endParaRPr lang="en-US" sz="640" dirty="0"/>
          </a:p>
        </p:txBody>
      </p:sp>
      <p:sp>
        <p:nvSpPr>
          <p:cNvPr id="87" name="Text 85"/>
          <p:cNvSpPr/>
          <p:nvPr/>
        </p:nvSpPr>
        <p:spPr>
          <a:xfrm>
            <a:off x="6381750" y="3771900"/>
            <a:ext cx="1809750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05" dirty="0">
                <a:solidFill>
                  <a:srgbClr val="38BDF8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tashfia.nizum@northsouth.edu</a:t>
            </a:r>
            <a:endParaRPr lang="en-US" sz="605" dirty="0"/>
          </a:p>
        </p:txBody>
      </p:sp>
      <p:sp>
        <p:nvSpPr>
          <p:cNvPr id="88" name="Shape 86"/>
          <p:cNvSpPr/>
          <p:nvPr/>
        </p:nvSpPr>
        <p:spPr>
          <a:xfrm>
            <a:off x="666750" y="4286250"/>
            <a:ext cx="7810500" cy="4763"/>
          </a:xfrm>
          <a:prstGeom prst="rect">
            <a:avLst/>
          </a:prstGeom>
          <a:solidFill>
            <a:srgbClr val="2A3B5E"/>
          </a:solidFill>
        </p:spPr>
      </p:sp>
      <p:sp>
        <p:nvSpPr>
          <p:cNvPr id="89" name="Text 87"/>
          <p:cNvSpPr/>
          <p:nvPr/>
        </p:nvSpPr>
        <p:spPr>
          <a:xfrm>
            <a:off x="666750" y="4429125"/>
            <a:ext cx="5000625" cy="1190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5"/>
              </a:lnSpc>
              <a:buNone/>
            </a:pPr>
            <a:r>
              <a:rPr lang="en-US" sz="675" kern="0" spc="14" dirty="0">
                <a:solidFill>
                  <a:srgbClr val="93A4C0">
                    <a:alpha val="99000"/>
                  </a:srgbClr>
                </a:solidFill>
                <a:latin typeface="Roboto Mono" panose="00000009000000000000" pitchFamily="34" charset="0"/>
                <a:ea typeface="Roboto Mono" panose="00000009000000000000" pitchFamily="34" charset="-122"/>
                <a:cs typeface="Roboto Mono" panose="00000009000000000000" pitchFamily="34" charset="-120"/>
              </a:rPr>
              <a:t>CSE440 · ARTIFICIAL INTELLIGENCE   ·   NORTH SOUTH UNIVERSITY   ·   CSE440_PROJECT_GROUP5</a:t>
            </a:r>
            <a:endParaRPr lang="en-US" sz="675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04,&quot;left&quot;:52.5,&quot;top&quot;:169.5,&quot;width&quot;:326.25}"/>
</p:tagLst>
</file>

<file path=ppt/tags/tag2.xml><?xml version="1.0" encoding="utf-8"?>
<p:tagLst xmlns:p="http://schemas.openxmlformats.org/presentationml/2006/main">
  <p:tag name="KSO_WM_DIAGRAM_VIRTUALLY_FRAME" val="{&quot;height&quot;:204,&quot;left&quot;:52.5,&quot;top&quot;:169.5,&quot;width&quot;:326.25}"/>
</p:tagLst>
</file>

<file path=ppt/tags/tag3.xml><?xml version="1.0" encoding="utf-8"?>
<p:tagLst xmlns:p="http://schemas.openxmlformats.org/presentationml/2006/main">
  <p:tag name="KSO_WM_DIAGRAM_VIRTUALLY_FRAME" val="{&quot;height&quot;:204,&quot;left&quot;:52.5,&quot;top&quot;:169.5,&quot;width&quot;:326.25}"/>
</p:tagLst>
</file>

<file path=ppt/tags/tag4.xml><?xml version="1.0" encoding="utf-8"?>
<p:tagLst xmlns:p="http://schemas.openxmlformats.org/presentationml/2006/main">
  <p:tag name="KSO_WM_DIAGRAM_VIRTUALLY_FRAME" val="{&quot;height&quot;:204,&quot;left&quot;:52.5,&quot;top&quot;:169.5,&quot;width&quot;:326.25}"/>
</p:tagLst>
</file>

<file path=ppt/tags/tag5.xml><?xml version="1.0" encoding="utf-8"?>
<p:tagLst xmlns:p="http://schemas.openxmlformats.org/presentationml/2006/main">
  <p:tag name="KSO_WM_DIAGRAM_VIRTUALLY_FRAME" val="{&quot;height&quot;:204,&quot;left&quot;:52.5,&quot;top&quot;:169.5,&quot;width&quot;:326.25}"/>
</p:tagLst>
</file>

<file path=ppt/tags/tag6.xml><?xml version="1.0" encoding="utf-8"?>
<p:tagLst xmlns:p="http://schemas.openxmlformats.org/presentationml/2006/main">
  <p:tag name="KSO_WM_DIAGRAM_VIRTUALLY_FRAME" val="{&quot;height&quot;:204,&quot;left&quot;:52.5,&quot;top&quot;:169.5,&quot;width&quot;:326.25}"/>
</p:tagLst>
</file>

<file path=ppt/tags/tag7.xml><?xml version="1.0" encoding="utf-8"?>
<p:tagLst xmlns:p="http://schemas.openxmlformats.org/presentationml/2006/main">
  <p:tag name="KSO_WM_DIAGRAM_VIRTUALLY_FRAME" val="{&quot;height&quot;:204,&quot;left&quot;:52.5,&quot;top&quot;:169.5,&quot;width&quot;:326.25}"/>
</p:tagLst>
</file>

<file path=ppt/tags/tag8.xml><?xml version="1.0" encoding="utf-8"?>
<p:tagLst xmlns:p="http://schemas.openxmlformats.org/presentationml/2006/main">
  <p:tag name="KSO_WM_DIAGRAM_VIRTUALLY_FRAME" val="{&quot;height&quot;:204,&quot;left&quot;:52.5,&quot;top&quot;:169.5,&quot;width&quot;:326.25}"/>
</p:tagLst>
</file>

<file path=ppt/tags/tag9.xml><?xml version="1.0" encoding="utf-8"?>
<p:tagLst xmlns:p="http://schemas.openxmlformats.org/presentationml/2006/main">
  <p:tag name="KSO_WM_DIAGRAM_VIRTUALLY_FRAME" val="{&quot;height&quot;:204,&quot;left&quot;:52.5,&quot;top&quot;:169.5,&quot;width&quot;:326.25}"/>
</p:tagLst>
</file>

<file path=ppt/tags/tag10.xml><?xml version="1.0" encoding="utf-8"?>
<p:tagLst xmlns:p="http://schemas.openxmlformats.org/presentationml/2006/main">
  <p:tag name="KSO_WM_DIAGRAM_VIRTUALLY_FRAME" val="{&quot;height&quot;:204,&quot;left&quot;:52.5,&quot;top&quot;:169.5,&quot;width&quot;:326.25}"/>
</p:tagLst>
</file>

<file path=ppt/tags/tag11.xml><?xml version="1.0" encoding="utf-8"?>
<p:tagLst xmlns:p="http://schemas.openxmlformats.org/presentationml/2006/main">
  <p:tag name="KSO_WM_DIAGRAM_VIRTUALLY_FRAME" val="{&quot;height&quot;:204,&quot;left&quot;:52.5,&quot;top&quot;:169.5,&quot;width&quot;:326.25}"/>
</p:tagLst>
</file>

<file path=ppt/tags/tag12.xml><?xml version="1.0" encoding="utf-8"?>
<p:tagLst xmlns:p="http://schemas.openxmlformats.org/presentationml/2006/main">
  <p:tag name="KSO_WM_DIAGRAM_VIRTUALLY_FRAME" val="{&quot;height&quot;:204,&quot;left&quot;:52.5,&quot;top&quot;:169.5,&quot;width&quot;:326.25}"/>
</p:tagLst>
</file>

<file path=ppt/tags/tag13.xml><?xml version="1.0" encoding="utf-8"?>
<p:tagLst xmlns:p="http://schemas.openxmlformats.org/presentationml/2006/main">
  <p:tag name="KSO_WM_DIAGRAM_VIRTUALLY_FRAME" val="{&quot;height&quot;:204,&quot;left&quot;:52.5,&quot;top&quot;:169.5,&quot;width&quot;:326.25}"/>
</p:tagLst>
</file>

<file path=ppt/tags/tag14.xml><?xml version="1.0" encoding="utf-8"?>
<p:tagLst xmlns:p="http://schemas.openxmlformats.org/presentationml/2006/main">
  <p:tag name="KSO_WM_DIAGRAM_VIRTUALLY_FRAME" val="{&quot;height&quot;:204,&quot;left&quot;:52.5,&quot;top&quot;:169.5,&quot;width&quot;:326.25}"/>
</p:tagLst>
</file>

<file path=ppt/tags/tag15.xml><?xml version="1.0" encoding="utf-8"?>
<p:tagLst xmlns:p="http://schemas.openxmlformats.org/presentationml/2006/main">
  <p:tag name="KSO_WM_DIAGRAM_VIRTUALLY_FRAME" val="{&quot;height&quot;:204,&quot;left&quot;:52.5,&quot;top&quot;:169.5,&quot;width&quot;:326.25}"/>
</p:tagLst>
</file>

<file path=ppt/tags/tag16.xml><?xml version="1.0" encoding="utf-8"?>
<p:tagLst xmlns:p="http://schemas.openxmlformats.org/presentationml/2006/main">
  <p:tag name="KSO_WM_DIAGRAM_VIRTUALLY_FRAME" val="{&quot;height&quot;:204,&quot;left&quot;:52.5,&quot;top&quot;:169.5,&quot;width&quot;:326.25}"/>
</p:tagLst>
</file>

<file path=ppt/tags/tag17.xml><?xml version="1.0" encoding="utf-8"?>
<p:tagLst xmlns:p="http://schemas.openxmlformats.org/presentationml/2006/main">
  <p:tag name="KSO_WM_DIAGRAM_VIRTUALLY_FRAME" val="{&quot;height&quot;:204,&quot;left&quot;:52.5,&quot;top&quot;:169.5,&quot;width&quot;:326.25}"/>
</p:tagLst>
</file>

<file path=ppt/tags/tag18.xml><?xml version="1.0" encoding="utf-8"?>
<p:tagLst xmlns:p="http://schemas.openxmlformats.org/presentationml/2006/main">
  <p:tag name="KSO_WM_DIAGRAM_VIRTUALLY_FRAME" val="{&quot;height&quot;:204,&quot;left&quot;:52.5,&quot;top&quot;:169.5,&quot;width&quot;:326.25}"/>
</p:tagLst>
</file>

<file path=ppt/tags/tag19.xml><?xml version="1.0" encoding="utf-8"?>
<p:tagLst xmlns:p="http://schemas.openxmlformats.org/presentationml/2006/main">
  <p:tag name="KSO_WM_DIAGRAM_VIRTUALLY_FRAME" val="{&quot;height&quot;:204,&quot;left&quot;:52.5,&quot;top&quot;:169.5,&quot;width&quot;:326.25}"/>
</p:tagLst>
</file>

<file path=ppt/tags/tag20.xml><?xml version="1.0" encoding="utf-8"?>
<p:tagLst xmlns:p="http://schemas.openxmlformats.org/presentationml/2006/main">
  <p:tag name="KSO_WM_DIAGRAM_VIRTUALLY_FRAME" val="{&quot;height&quot;:204,&quot;left&quot;:52.5,&quot;top&quot;:169.5,&quot;width&quot;:326.25}"/>
</p:tagLst>
</file>

<file path=ppt/tags/tag21.xml><?xml version="1.0" encoding="utf-8"?>
<p:tagLst xmlns:p="http://schemas.openxmlformats.org/presentationml/2006/main">
  <p:tag name="KSO_WM_DIAGRAM_VIRTUALLY_FRAME" val="{&quot;height&quot;:112.5,&quot;left&quot;:166.95,&quot;top&quot;:214.5,&quot;width&quot;:499.05}"/>
</p:tagLst>
</file>

<file path=ppt/tags/tag22.xml><?xml version="1.0" encoding="utf-8"?>
<p:tagLst xmlns:p="http://schemas.openxmlformats.org/presentationml/2006/main">
  <p:tag name="KSO_WM_DIAGRAM_VIRTUALLY_FRAME" val="{&quot;height&quot;:112.5,&quot;left&quot;:166.95,&quot;top&quot;:214.5,&quot;width&quot;:499.05}"/>
</p:tagLst>
</file>

<file path=ppt/tags/tag23.xml><?xml version="1.0" encoding="utf-8"?>
<p:tagLst xmlns:p="http://schemas.openxmlformats.org/presentationml/2006/main">
  <p:tag name="KSO_WM_DIAGRAM_VIRTUALLY_FRAME" val="{&quot;height&quot;:112.5,&quot;left&quot;:166.95,&quot;top&quot;:214.5,&quot;width&quot;:499.05}"/>
</p:tagLst>
</file>

<file path=ppt/tags/tag24.xml><?xml version="1.0" encoding="utf-8"?>
<p:tagLst xmlns:p="http://schemas.openxmlformats.org/presentationml/2006/main">
  <p:tag name="KSO_WM_DIAGRAM_VIRTUALLY_FRAME" val="{&quot;height&quot;:112.5,&quot;left&quot;:166.95,&quot;top&quot;:214.5,&quot;width&quot;:499.05}"/>
</p:tagLst>
</file>

<file path=ppt/tags/tag25.xml><?xml version="1.0" encoding="utf-8"?>
<p:tagLst xmlns:p="http://schemas.openxmlformats.org/presentationml/2006/main">
  <p:tag name="KSO_WM_DIAGRAM_VIRTUALLY_FRAME" val="{&quot;height&quot;:112.5,&quot;left&quot;:166.95,&quot;top&quot;:214.5,&quot;width&quot;:499.05}"/>
</p:tagLst>
</file>

<file path=ppt/tags/tag26.xml><?xml version="1.0" encoding="utf-8"?>
<p:tagLst xmlns:p="http://schemas.openxmlformats.org/presentationml/2006/main">
  <p:tag name="KSO_WM_DIAGRAM_VIRTUALLY_FRAME" val="{&quot;height&quot;:112.5,&quot;left&quot;:166.95,&quot;top&quot;:214.5,&quot;width&quot;:499.05}"/>
</p:tagLst>
</file>

<file path=ppt/tags/tag27.xml><?xml version="1.0" encoding="utf-8"?>
<p:tagLst xmlns:p="http://schemas.openxmlformats.org/presentationml/2006/main">
  <p:tag name="KSO_WM_DIAGRAM_VIRTUALLY_FRAME" val="{&quot;height&quot;:112.5,&quot;left&quot;:166.95,&quot;top&quot;:214.5,&quot;width&quot;:499.05}"/>
</p:tagLst>
</file>

<file path=ppt/tags/tag28.xml><?xml version="1.0" encoding="utf-8"?>
<p:tagLst xmlns:p="http://schemas.openxmlformats.org/presentationml/2006/main">
  <p:tag name="KSO_WM_DIAGRAM_VIRTUALLY_FRAME" val="{&quot;height&quot;:112.5,&quot;left&quot;:166.95,&quot;top&quot;:214.5,&quot;width&quot;:499.05}"/>
</p:tagLst>
</file>

<file path=ppt/tags/tag29.xml><?xml version="1.0" encoding="utf-8"?>
<p:tagLst xmlns:p="http://schemas.openxmlformats.org/presentationml/2006/main">
  <p:tag name="KSO_WM_DIAGRAM_VIRTUALLY_FRAME" val="{&quot;height&quot;:112.5,&quot;left&quot;:166.95,&quot;top&quot;:214.5,&quot;width&quot;:499.05}"/>
</p:tagLst>
</file>

<file path=ppt/tags/tag30.xml><?xml version="1.0" encoding="utf-8"?>
<p:tagLst xmlns:p="http://schemas.openxmlformats.org/presentationml/2006/main">
  <p:tag name="KSO_WM_DIAGRAM_VIRTUALLY_FRAME" val="{&quot;height&quot;:112.5,&quot;left&quot;:166.95,&quot;top&quot;:214.5,&quot;width&quot;:499.05}"/>
</p:tagLst>
</file>

<file path=ppt/tags/tag31.xml><?xml version="1.0" encoding="utf-8"?>
<p:tagLst xmlns:p="http://schemas.openxmlformats.org/presentationml/2006/main">
  <p:tag name="KSO_WM_DIAGRAM_VIRTUALLY_FRAME" val="{&quot;height&quot;:112.5,&quot;left&quot;:166.95,&quot;top&quot;:214.5,&quot;width&quot;:499.05}"/>
</p:tagLst>
</file>

<file path=ppt/tags/tag32.xml><?xml version="1.0" encoding="utf-8"?>
<p:tagLst xmlns:p="http://schemas.openxmlformats.org/presentationml/2006/main">
  <p:tag name="KSO_WM_DIAGRAM_VIRTUALLY_FRAME" val="{&quot;height&quot;:112.5,&quot;left&quot;:166.95,&quot;top&quot;:214.5,&quot;width&quot;:499.05}"/>
</p:tagLst>
</file>

<file path=ppt/tags/tag33.xml><?xml version="1.0" encoding="utf-8"?>
<p:tagLst xmlns:p="http://schemas.openxmlformats.org/presentationml/2006/main">
  <p:tag name="KSO_WM_DIAGRAM_VIRTUALLY_FRAME" val="{&quot;height&quot;:112.5,&quot;left&quot;:166.95,&quot;top&quot;:214.5,&quot;width&quot;:499.05}"/>
</p:tagLst>
</file>

<file path=ppt/tags/tag34.xml><?xml version="1.0" encoding="utf-8"?>
<p:tagLst xmlns:p="http://schemas.openxmlformats.org/presentationml/2006/main">
  <p:tag name="KSO_WM_DIAGRAM_VIRTUALLY_FRAME" val="{&quot;height&quot;:112.5,&quot;left&quot;:166.95,&quot;top&quot;:214.5,&quot;width&quot;:499.05}"/>
</p:tagLst>
</file>

<file path=ppt/tags/tag35.xml><?xml version="1.0" encoding="utf-8"?>
<p:tagLst xmlns:p="http://schemas.openxmlformats.org/presentationml/2006/main">
  <p:tag name="KSO_WM_DIAGRAM_VIRTUALLY_FRAME" val="{&quot;height&quot;:112.5,&quot;left&quot;:166.95,&quot;top&quot;:214.5,&quot;width&quot;:499.05}"/>
</p:tagLst>
</file>

<file path=ppt/tags/tag36.xml><?xml version="1.0" encoding="utf-8"?>
<p:tagLst xmlns:p="http://schemas.openxmlformats.org/presentationml/2006/main">
  <p:tag name="KSO_WM_DIAGRAM_VIRTUALLY_FRAME" val="{&quot;height&quot;:112.5,&quot;left&quot;:166.95,&quot;top&quot;:214.5,&quot;width&quot;:499.05}"/>
</p:tagLst>
</file>

<file path=ppt/tags/tag37.xml><?xml version="1.0" encoding="utf-8"?>
<p:tagLst xmlns:p="http://schemas.openxmlformats.org/presentationml/2006/main">
  <p:tag name="KSO_WM_DIAGRAM_VIRTUALLY_FRAME" val="{&quot;height&quot;:112.5,&quot;left&quot;:166.95,&quot;top&quot;:214.5,&quot;width&quot;:499.05}"/>
</p:tagLst>
</file>

<file path=ppt/tags/tag38.xml><?xml version="1.0" encoding="utf-8"?>
<p:tagLst xmlns:p="http://schemas.openxmlformats.org/presentationml/2006/main">
  <p:tag name="KSO_WM_DIAGRAM_VIRTUALLY_FRAME" val="{&quot;height&quot;:112.5,&quot;left&quot;:166.95,&quot;top&quot;:214.5,&quot;width&quot;:499.05}"/>
</p:tagLst>
</file>

<file path=ppt/tags/tag39.xml><?xml version="1.0" encoding="utf-8"?>
<p:tagLst xmlns:p="http://schemas.openxmlformats.org/presentationml/2006/main">
  <p:tag name="KSO_WM_DIAGRAM_VIRTUALLY_FRAME" val="{&quot;height&quot;:112.5,&quot;left&quot;:166.95,&quot;top&quot;:214.5,&quot;width&quot;:499.05}"/>
</p:tagLst>
</file>

<file path=ppt/tags/tag40.xml><?xml version="1.0" encoding="utf-8"?>
<p:tagLst xmlns:p="http://schemas.openxmlformats.org/presentationml/2006/main">
  <p:tag name="KSO_WM_DIAGRAM_VIRTUALLY_FRAME" val="{&quot;height&quot;:112.5,&quot;left&quot;:166.95,&quot;top&quot;:214.5,&quot;width&quot;:499.05}"/>
</p:tagLst>
</file>

<file path=ppt/tags/tag41.xml><?xml version="1.0" encoding="utf-8"?>
<p:tagLst xmlns:p="http://schemas.openxmlformats.org/presentationml/2006/main">
  <p:tag name="KSO_WM_DIAGRAM_VIRTUALLY_FRAME" val="{&quot;height&quot;:112.5,&quot;left&quot;:166.95,&quot;top&quot;:214.5,&quot;width&quot;:499.05}"/>
</p:tagLst>
</file>

<file path=ppt/tags/tag42.xml><?xml version="1.0" encoding="utf-8"?>
<p:tagLst xmlns:p="http://schemas.openxmlformats.org/presentationml/2006/main">
  <p:tag name="KSO_WM_DIAGRAM_VIRTUALLY_FRAME" val="{&quot;height&quot;:112.5,&quot;left&quot;:166.95,&quot;top&quot;:214.5,&quot;width&quot;:499.05}"/>
</p:tagLst>
</file>

<file path=ppt/tags/tag43.xml><?xml version="1.0" encoding="utf-8"?>
<p:tagLst xmlns:p="http://schemas.openxmlformats.org/presentationml/2006/main">
  <p:tag name="KSO_WM_DIAGRAM_VIRTUALLY_FRAME" val="{&quot;height&quot;:112.5,&quot;left&quot;:166.95,&quot;top&quot;:214.5,&quot;width&quot;:499.05}"/>
</p:tagLst>
</file>

<file path=ppt/tags/tag44.xml><?xml version="1.0" encoding="utf-8"?>
<p:tagLst xmlns:p="http://schemas.openxmlformats.org/presentationml/2006/main">
  <p:tag name="KSO_WM_DIAGRAM_VIRTUALLY_FRAME" val="{&quot;height&quot;:112.5,&quot;left&quot;:166.95,&quot;top&quot;:214.5,&quot;width&quot;:499.05}"/>
</p:tagLst>
</file>

<file path=ppt/tags/tag45.xml><?xml version="1.0" encoding="utf-8"?>
<p:tagLst xmlns:p="http://schemas.openxmlformats.org/presentationml/2006/main">
  <p:tag name="KSO_WM_DIAGRAM_VIRTUALLY_FRAME" val="{&quot;height&quot;:112.5,&quot;left&quot;:166.95,&quot;top&quot;:214.5,&quot;width&quot;:499.05}"/>
</p:tagLst>
</file>

<file path=ppt/tags/tag46.xml><?xml version="1.0" encoding="utf-8"?>
<p:tagLst xmlns:p="http://schemas.openxmlformats.org/presentationml/2006/main">
  <p:tag name="KSO_WM_DIAGRAM_VIRTUALLY_FRAME" val="{&quot;height&quot;:112.5,&quot;left&quot;:166.95,&quot;top&quot;:214.5,&quot;width&quot;:499.05}"/>
</p:tagLst>
</file>

<file path=ppt/tags/tag47.xml><?xml version="1.0" encoding="utf-8"?>
<p:tagLst xmlns:p="http://schemas.openxmlformats.org/presentationml/2006/main">
  <p:tag name="KSO_WM_DIAGRAM_VIRTUALLY_FRAME" val="{&quot;height&quot;:112.5,&quot;left&quot;:166.95,&quot;top&quot;:214.5,&quot;width&quot;:499.05}"/>
</p:tagLst>
</file>

<file path=ppt/tags/tag48.xml><?xml version="1.0" encoding="utf-8"?>
<p:tagLst xmlns:p="http://schemas.openxmlformats.org/presentationml/2006/main">
  <p:tag name="KSO_WM_DIAGRAM_VIRTUALLY_FRAME" val="{&quot;height&quot;:112.5,&quot;left&quot;:166.95,&quot;top&quot;:214.5,&quot;width&quot;:499.0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6006</Words>
  <Application>WPS Presentation</Application>
  <PresentationFormat>On-screen Show (16:9)</PresentationFormat>
  <Paragraphs>677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</vt:lpstr>
      <vt:lpstr>SimSun</vt:lpstr>
      <vt:lpstr>Wingdings</vt:lpstr>
      <vt:lpstr>Roboto Mono</vt:lpstr>
      <vt:lpstr>Roboto Mono</vt:lpstr>
      <vt:lpstr>Roboto Mono</vt:lpstr>
      <vt:lpstr>Space Grotesk</vt:lpstr>
      <vt:lpstr>Space Grotesk</vt:lpstr>
      <vt:lpstr>Space Grotesk</vt:lpstr>
      <vt:lpstr>Inter</vt:lpstr>
      <vt:lpstr>Inter</vt:lpstr>
      <vt:lpstr>Inter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rokib</cp:lastModifiedBy>
  <cp:revision>5</cp:revision>
  <dcterms:created xsi:type="dcterms:W3CDTF">2026-07-30T16:15:00Z</dcterms:created>
  <dcterms:modified xsi:type="dcterms:W3CDTF">2026-08-27T03:23:30Z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0A28760FAD544374B0AA6699230402DA_13</vt:lpwstr>
  </property>
  <property fmtid="{D5CDD505-2E9C-101B-9397-08002B2CF9AE}" pid="3" name="KSOProductBuildVer">
    <vt:lpwstr>2057-12.2.0.23206</vt:lpwstr>
  </property>
</Properties>
</file>